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9" r:id="rId2"/>
    <p:sldId id="257" r:id="rId3"/>
    <p:sldId id="292" r:id="rId4"/>
    <p:sldId id="258" r:id="rId5"/>
    <p:sldId id="259" r:id="rId6"/>
    <p:sldId id="260" r:id="rId7"/>
    <p:sldId id="261" r:id="rId8"/>
    <p:sldId id="267" r:id="rId9"/>
    <p:sldId id="270" r:id="rId10"/>
    <p:sldId id="269" r:id="rId11"/>
    <p:sldId id="266" r:id="rId12"/>
    <p:sldId id="288" r:id="rId13"/>
    <p:sldId id="289" r:id="rId14"/>
    <p:sldId id="290" r:id="rId15"/>
    <p:sldId id="291" r:id="rId16"/>
    <p:sldId id="275" r:id="rId17"/>
    <p:sldId id="271" r:id="rId18"/>
    <p:sldId id="29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AF8"/>
    <a:srgbClr val="F7F3EF"/>
    <a:srgbClr val="0E7C7B"/>
    <a:srgbClr val="7A1E3E"/>
    <a:srgbClr val="C77D22"/>
    <a:srgbClr val="1B2A4A"/>
    <a:srgbClr val="0E0F38"/>
    <a:srgbClr val="131D33"/>
    <a:srgbClr val="8937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EB440A-D005-4AB2-8BCB-6D9560F0F59E}" v="46" dt="2026-09-16T19:15:31.9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38" autoAdjust="0"/>
    <p:restoredTop sz="94610"/>
  </p:normalViewPr>
  <p:slideViewPr>
    <p:cSldViewPr snapToGrid="0" snapToObjects="1">
      <p:cViewPr varScale="1">
        <p:scale>
          <a:sx n="80" d="100"/>
          <a:sy n="80" d="100"/>
        </p:scale>
        <p:origin x="581" y="58"/>
      </p:cViewPr>
      <p:guideLst/>
    </p:cSldViewPr>
  </p:slideViewPr>
  <p:notesTextViewPr>
    <p:cViewPr>
      <p:scale>
        <a:sx n="1" d="1"/>
        <a:sy n="1" d="1"/>
      </p:scale>
      <p:origin x="0" y="0"/>
    </p:cViewPr>
  </p:notesTextViewPr>
  <p:sorterViewPr>
    <p:cViewPr>
      <p:scale>
        <a:sx n="125" d="100"/>
        <a:sy n="125" d="100"/>
      </p:scale>
      <p:origin x="0" y="-491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959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REILYN: "RC." (pause -- two full seconds) "That's all you're looking at right now... it's Richfield Connect. My name is Reilyn, tech lead -- database, security architecture, and the AI layer. Next to me is Keshav, who built the entire mobile application. And Saiyusha, who built the web dashboard. Three of us. One production system, built and shipped end to end."</a:t>
            </a:r>
          </a:p>
        </p:txBody>
      </p:sp>
      <p:sp>
        <p:nvSpPr>
          <p:cNvPr id="4" name="Slide Number Placeholder 3"/>
          <p:cNvSpPr>
            <a:spLocks noGrp="1"/>
          </p:cNvSpPr>
          <p:nvPr>
            <p:ph type="sldNum" idx="10"/>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REILYN states the three problems, then: "Richfield Connect is our answer: a student builds a verifiable portfolio from day one, an alumnus stays connected for life, a business discovers verified talent, and an administrator governs it with security enforced in the database, not a UI checkbox. Keshav's going to start with the part you'll hold in your hand."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REILYN: "Everything Keshav and Saiyusha just showed you sits on top of one Postgres database, on Supabase... authorization is enforced in the database, not the interface. Anyone can skip the app entirely and call our API directly with a valid session token."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Rather than building a simple app, we built an ecosystem. Our Flutter mobile app and React web dashboard both talk directly to our Supabase backend. [CLICK] We leverage Row-Level Security so the database itself enforces our rules. [CLICK] Finally, we integrated a Python microservice to bring Google Gemini AI directly into the student's career journey.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REILYN, continuing the backend section: RLS lets us write "a business may read a certification only if the student allowed businesses" as a policy on the table itself -- enforced for every client, every query, forever.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REILYN: "Every single write that results from using the AI features -- saving a parsed CV, for instance -- goes back through the exact same authenticated Supabase path, under the exact same policies, as everything else in this system. That's the full stack. Now we're going to stop talking about it and show it to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EE544-B6BA-D24F-4069-7948DF056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512E96-274C-E75D-5833-9AE7C1EFD3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FED87-BB69-5A7A-9293-B0F6EF57AF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9A75B4-391B-F7C7-23A9-52A91C76C72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5488699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010AB-E9AA-4E33-8B51-13D3E2C57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4158B-A7E1-B907-6CEA-793BA83E7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924784-81A9-47ED-CD9E-58119EE76F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7DAA77-68E4-C803-D2B8-AF7CDBDA342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075911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1FFDA-28DB-DD02-6BBD-B6DD52B00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D2D827-D64B-B930-6EF1-2E459F0555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C3663D-4230-1F82-0E7E-A7A3F0BCF3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8C0DAA-9698-249E-A2E8-10E48A0D37D3}"/>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950275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A2BE4-E2BF-8443-C8F3-6A371AA86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4CA5DE-47F5-B6C8-642A-713DF4E9DC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0E4F2E-2A3D-8205-CA16-2DF9B9FE9A06}"/>
              </a:ext>
            </a:extLst>
          </p:cNvPr>
          <p:cNvSpPr>
            <a:spLocks noGrp="1"/>
          </p:cNvSpPr>
          <p:nvPr>
            <p:ph type="body" idx="1"/>
          </p:nvPr>
        </p:nvSpPr>
        <p:spPr/>
        <p:txBody>
          <a:bodyPr/>
          <a:lstStyle/>
          <a:p>
            <a:r>
              <a:t>SAIYUSHA: "Every chart you see here is rendered with recharts, but the numbers come from dedicated Postgres aggregate functions running server-side. The database does the computation once; the browser just draws it."</a:t>
            </a:r>
          </a:p>
        </p:txBody>
      </p:sp>
      <p:sp>
        <p:nvSpPr>
          <p:cNvPr id="4" name="Slide Number Placeholder 3">
            <a:extLst>
              <a:ext uri="{FF2B5EF4-FFF2-40B4-BE49-F238E27FC236}">
                <a16:creationId xmlns:a16="http://schemas.microsoft.com/office/drawing/2014/main" id="{0D9ED693-485E-1009-8EFC-37BE9947177D}"/>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2290493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REILYN: "We found a real credential exposed in our own git history earlier in this project, caught it, removed it, and turned our response into a standing rule about how we stage commits going forward. I'm telling you that not because we're proud it happened, but because catching your own mistake and closing it properly is exactly what real security practice looks like."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BFAF8"/>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1.jpe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24.jpeg"/></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26.jpe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0F38"/>
        </a:solidFill>
        <a:effectLst/>
      </p:bgPr>
    </p:bg>
    <p:spTree>
      <p:nvGrpSpPr>
        <p:cNvPr id="1" name=""/>
        <p:cNvGrpSpPr/>
        <p:nvPr/>
      </p:nvGrpSpPr>
      <p:grpSpPr>
        <a:xfrm>
          <a:off x="0" y="0"/>
          <a:ext cx="0" cy="0"/>
          <a:chOff x="0" y="0"/>
          <a:chExt cx="0" cy="0"/>
        </a:xfrm>
      </p:grpSpPr>
      <p:sp>
        <p:nvSpPr>
          <p:cNvPr id="2" name="Oval 1"/>
          <p:cNvSpPr/>
          <p:nvPr/>
        </p:nvSpPr>
        <p:spPr>
          <a:xfrm>
            <a:off x="-1027240" y="4688732"/>
            <a:ext cx="3809350" cy="3871610"/>
          </a:xfrm>
          <a:prstGeom prst="ellipse">
            <a:avLst/>
          </a:prstGeom>
          <a:solidFill>
            <a:srgbClr val="C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67738" y="-881226"/>
            <a:ext cx="3291840" cy="3291840"/>
          </a:xfrm>
          <a:prstGeom prst="ellipse">
            <a:avLst/>
          </a:prstGeom>
          <a:solidFill>
            <a:schemeClr val="bg1">
              <a:alpha val="4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5333999" y="2776736"/>
            <a:ext cx="4970835" cy="1296647"/>
          </a:xfrm>
          <a:prstGeom prst="rect">
            <a:avLst/>
          </a:prstGeom>
          <a:noFill/>
        </p:spPr>
        <p:txBody>
          <a:bodyPr wrap="square" lIns="0" tIns="0" rIns="0" bIns="0" anchor="ctr">
            <a:noAutofit/>
          </a:bodyPr>
          <a:lstStyle/>
          <a:p>
            <a:r>
              <a:rPr sz="5400" b="1" i="0" spc="400" dirty="0">
                <a:solidFill>
                  <a:schemeClr val="bg1"/>
                </a:solidFill>
                <a:latin typeface="Calibri"/>
              </a:rPr>
              <a:t>RICHFIELD </a:t>
            </a:r>
            <a:endParaRPr lang="en-US" sz="5400" b="1" i="0" spc="400" dirty="0">
              <a:solidFill>
                <a:schemeClr val="bg1"/>
              </a:solidFill>
              <a:latin typeface="Calibri"/>
            </a:endParaRPr>
          </a:p>
          <a:p>
            <a:r>
              <a:rPr sz="5400" b="1" i="0" spc="400" dirty="0">
                <a:solidFill>
                  <a:schemeClr val="bg1"/>
                </a:solidFill>
                <a:latin typeface="Calibri"/>
              </a:rPr>
              <a:t>CONNECT</a:t>
            </a:r>
          </a:p>
        </p:txBody>
      </p:sp>
      <p:pic>
        <p:nvPicPr>
          <p:cNvPr id="7" name="Picture 6">
            <a:extLst>
              <a:ext uri="{FF2B5EF4-FFF2-40B4-BE49-F238E27FC236}">
                <a16:creationId xmlns:a16="http://schemas.microsoft.com/office/drawing/2014/main" id="{3D84E40C-A7EE-24E8-FCB2-5F59C0012779}"/>
              </a:ext>
            </a:extLst>
          </p:cNvPr>
          <p:cNvPicPr>
            <a:picLocks noChangeAspect="1"/>
          </p:cNvPicPr>
          <p:nvPr/>
        </p:nvPicPr>
        <p:blipFill>
          <a:blip r:embed="rId3"/>
          <a:stretch>
            <a:fillRect/>
          </a:stretch>
        </p:blipFill>
        <p:spPr>
          <a:xfrm>
            <a:off x="1887166" y="1990670"/>
            <a:ext cx="3180945" cy="3098356"/>
          </a:xfrm>
          <a:prstGeom prst="rect">
            <a:avLst/>
          </a:prstGeom>
        </p:spPr>
      </p:pic>
      <p:sp>
        <p:nvSpPr>
          <p:cNvPr id="9" name="Text 25">
            <a:extLst>
              <a:ext uri="{FF2B5EF4-FFF2-40B4-BE49-F238E27FC236}">
                <a16:creationId xmlns:a16="http://schemas.microsoft.com/office/drawing/2014/main" id="{EA7F6158-1CD6-49FF-D866-228DD4C4389F}"/>
              </a:ext>
            </a:extLst>
          </p:cNvPr>
          <p:cNvSpPr/>
          <p:nvPr/>
        </p:nvSpPr>
        <p:spPr>
          <a:xfrm>
            <a:off x="5445867" y="6450605"/>
            <a:ext cx="6400800" cy="274320"/>
          </a:xfrm>
          <a:prstGeom prst="rect">
            <a:avLst/>
          </a:prstGeom>
          <a:noFill/>
          <a:ln/>
        </p:spPr>
        <p:txBody>
          <a:bodyPr wrap="square" rtlCol="0" anchor="ctr"/>
          <a:lstStyle/>
          <a:p>
            <a:pPr algn="r"/>
            <a:r>
              <a:rPr lang="en-US" sz="1200" dirty="0">
                <a:solidFill>
                  <a:srgbClr val="6B6B6B"/>
                </a:solidFill>
                <a:latin typeface="Calibri" pitchFamily="34" charset="0"/>
                <a:ea typeface="Calibri" pitchFamily="34" charset="-122"/>
                <a:cs typeface="Calibri" pitchFamily="34" charset="-120"/>
              </a:rPr>
              <a:t>Team Echo 5 · Richfield Connect · Hackathon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Shape 2"/>
          <p:cNvSpPr/>
          <p:nvPr/>
        </p:nvSpPr>
        <p:spPr>
          <a:xfrm>
            <a:off x="548640" y="1600201"/>
            <a:ext cx="3529584" cy="3419665"/>
          </a:xfrm>
          <a:prstGeom prst="roundRect">
            <a:avLst>
              <a:gd name="adj" fmla="val 2254"/>
            </a:avLst>
          </a:prstGeom>
          <a:solidFill>
            <a:srgbClr val="FBFAF8"/>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9" name="Shape 6"/>
          <p:cNvSpPr/>
          <p:nvPr/>
        </p:nvSpPr>
        <p:spPr>
          <a:xfrm>
            <a:off x="4361581" y="1600201"/>
            <a:ext cx="3529584" cy="3419665"/>
          </a:xfrm>
          <a:prstGeom prst="roundRect">
            <a:avLst>
              <a:gd name="adj" fmla="val 2254"/>
            </a:avLst>
          </a:prstGeom>
          <a:solidFill>
            <a:srgbClr val="FBFAF8"/>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14" name="Shape 10"/>
          <p:cNvSpPr/>
          <p:nvPr/>
        </p:nvSpPr>
        <p:spPr>
          <a:xfrm>
            <a:off x="8156448" y="1600201"/>
            <a:ext cx="3529584" cy="3419665"/>
          </a:xfrm>
          <a:prstGeom prst="roundRect">
            <a:avLst>
              <a:gd name="adj" fmla="val 2254"/>
            </a:avLst>
          </a:prstGeom>
          <a:solidFill>
            <a:srgbClr val="FBFAF8"/>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51" name="Shape 3">
            <a:extLst>
              <a:ext uri="{FF2B5EF4-FFF2-40B4-BE49-F238E27FC236}">
                <a16:creationId xmlns:a16="http://schemas.microsoft.com/office/drawing/2014/main" id="{033BDB28-6F5A-02D3-DFE2-8CE727BCAB02}"/>
              </a:ext>
            </a:extLst>
          </p:cNvPr>
          <p:cNvSpPr/>
          <p:nvPr/>
        </p:nvSpPr>
        <p:spPr>
          <a:xfrm>
            <a:off x="697597" y="1752289"/>
            <a:ext cx="566928" cy="566928"/>
          </a:xfrm>
          <a:prstGeom prst="ellipse">
            <a:avLst/>
          </a:prstGeom>
          <a:solidFill>
            <a:srgbClr val="7A1E3E"/>
          </a:solidFill>
          <a:ln/>
        </p:spPr>
        <p:txBody>
          <a:bodyPr/>
          <a:lstStyle/>
          <a:p>
            <a:endParaRPr lang="en-ZA"/>
          </a:p>
        </p:txBody>
      </p:sp>
      <p:sp>
        <p:nvSpPr>
          <p:cNvPr id="53" name="Shape 7">
            <a:extLst>
              <a:ext uri="{FF2B5EF4-FFF2-40B4-BE49-F238E27FC236}">
                <a16:creationId xmlns:a16="http://schemas.microsoft.com/office/drawing/2014/main" id="{D4E88911-91A2-FCB6-4EAD-88C0845D660C}"/>
              </a:ext>
            </a:extLst>
          </p:cNvPr>
          <p:cNvSpPr/>
          <p:nvPr/>
        </p:nvSpPr>
        <p:spPr>
          <a:xfrm>
            <a:off x="4501501" y="1752289"/>
            <a:ext cx="566928" cy="566928"/>
          </a:xfrm>
          <a:prstGeom prst="ellipse">
            <a:avLst/>
          </a:prstGeom>
          <a:solidFill>
            <a:srgbClr val="5B2C83"/>
          </a:solidFill>
          <a:ln/>
        </p:spPr>
        <p:txBody>
          <a:bodyPr/>
          <a:lstStyle/>
          <a:p>
            <a:endParaRPr lang="en-ZA"/>
          </a:p>
        </p:txBody>
      </p:sp>
      <p:sp>
        <p:nvSpPr>
          <p:cNvPr id="55" name="Shape 11">
            <a:extLst>
              <a:ext uri="{FF2B5EF4-FFF2-40B4-BE49-F238E27FC236}">
                <a16:creationId xmlns:a16="http://schemas.microsoft.com/office/drawing/2014/main" id="{5FBD531E-F507-3BD8-68B4-E85659EAEB70}"/>
              </a:ext>
            </a:extLst>
          </p:cNvPr>
          <p:cNvSpPr/>
          <p:nvPr/>
        </p:nvSpPr>
        <p:spPr>
          <a:xfrm>
            <a:off x="8212045" y="1748741"/>
            <a:ext cx="566928" cy="566928"/>
          </a:xfrm>
          <a:prstGeom prst="ellipse">
            <a:avLst/>
          </a:prstGeom>
          <a:solidFill>
            <a:srgbClr val="0E7C7B"/>
          </a:solidFill>
          <a:ln/>
        </p:spPr>
        <p:txBody>
          <a:bodyPr/>
          <a:lstStyle/>
          <a:p>
            <a:endParaRPr lang="en-ZA"/>
          </a:p>
        </p:txBody>
      </p:sp>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50" b="1" kern="0" spc="200" dirty="0">
                <a:solidFill>
                  <a:srgbClr val="7A1E3E"/>
                </a:solidFill>
                <a:latin typeface="Calibri" pitchFamily="34" charset="0"/>
                <a:ea typeface="Calibri" pitchFamily="34" charset="-122"/>
                <a:cs typeface="Calibri" pitchFamily="34" charset="-120"/>
              </a:rPr>
              <a:t>PROBLEM STATEMENT</a:t>
            </a:r>
            <a:endParaRPr lang="en-US" sz="1250" dirty="0"/>
          </a:p>
        </p:txBody>
      </p:sp>
      <p:sp>
        <p:nvSpPr>
          <p:cNvPr id="3" name="Text 1"/>
          <p:cNvSpPr/>
          <p:nvPr/>
        </p:nvSpPr>
        <p:spPr>
          <a:xfrm>
            <a:off x="548640" y="603504"/>
            <a:ext cx="11064240" cy="685800"/>
          </a:xfrm>
          <a:prstGeom prst="rect">
            <a:avLst/>
          </a:prstGeom>
          <a:noFill/>
          <a:ln/>
        </p:spPr>
        <p:txBody>
          <a:bodyPr wrap="square" rtlCol="0" anchor="ctr"/>
          <a:lstStyle/>
          <a:p>
            <a:pPr marL="0" indent="0">
              <a:buNone/>
            </a:pPr>
            <a:r>
              <a:rPr lang="en-US" sz="2700" b="1" dirty="0">
                <a:solidFill>
                  <a:srgbClr val="2B2B2B"/>
                </a:solidFill>
                <a:latin typeface="Cambria" pitchFamily="34" charset="0"/>
                <a:ea typeface="Cambria" pitchFamily="34" charset="-122"/>
                <a:cs typeface="Cambria" pitchFamily="34" charset="-120"/>
              </a:rPr>
              <a:t>Graduate Employability Is A Visibility Problem</a:t>
            </a:r>
            <a:endParaRPr lang="en-US" sz="2700" dirty="0"/>
          </a:p>
        </p:txBody>
      </p:sp>
      <p:pic>
        <p:nvPicPr>
          <p:cNvPr id="6" name="Image 0" descr="/home/claude/deck/icons/bullseye_white.png"/>
          <p:cNvPicPr>
            <a:picLocks noChangeAspect="1"/>
          </p:cNvPicPr>
          <p:nvPr/>
        </p:nvPicPr>
        <p:blipFill>
          <a:blip r:embed="rId3"/>
          <a:stretch>
            <a:fillRect/>
          </a:stretch>
        </p:blipFill>
        <p:spPr>
          <a:xfrm>
            <a:off x="811621" y="1892808"/>
            <a:ext cx="294803" cy="294803"/>
          </a:xfrm>
          <a:prstGeom prst="rect">
            <a:avLst/>
          </a:prstGeom>
          <a:ln>
            <a:noFill/>
          </a:ln>
        </p:spPr>
      </p:pic>
      <p:sp>
        <p:nvSpPr>
          <p:cNvPr id="7" name="Text 4"/>
          <p:cNvSpPr/>
          <p:nvPr/>
        </p:nvSpPr>
        <p:spPr>
          <a:xfrm>
            <a:off x="1279438" y="1835237"/>
            <a:ext cx="2743200" cy="685800"/>
          </a:xfrm>
          <a:prstGeom prst="rect">
            <a:avLst/>
          </a:prstGeom>
          <a:noFill/>
          <a:ln/>
        </p:spPr>
        <p:txBody>
          <a:bodyPr wrap="square" rtlCol="0" anchor="ctr"/>
          <a:lstStyle/>
          <a:p>
            <a:pPr marL="0" indent="0">
              <a:lnSpc>
                <a:spcPct val="105000"/>
              </a:lnSpc>
              <a:buNone/>
            </a:pPr>
            <a:r>
              <a:rPr lang="en-US" sz="1600" dirty="0">
                <a:latin typeface="Cambria" pitchFamily="34" charset="0"/>
                <a:ea typeface="Cambria" pitchFamily="34" charset="-122"/>
                <a:cs typeface="Cambria" pitchFamily="34" charset="-120"/>
              </a:rPr>
              <a:t>Students struggle to build a professional presence before graduating</a:t>
            </a:r>
            <a:endParaRPr lang="en-US" sz="1600" dirty="0"/>
          </a:p>
        </p:txBody>
      </p:sp>
      <p:sp>
        <p:nvSpPr>
          <p:cNvPr id="8" name="Text 5"/>
          <p:cNvSpPr/>
          <p:nvPr/>
        </p:nvSpPr>
        <p:spPr>
          <a:xfrm>
            <a:off x="792480" y="3097705"/>
            <a:ext cx="3072384" cy="1345963"/>
          </a:xfrm>
          <a:prstGeom prst="rect">
            <a:avLst/>
          </a:prstGeom>
          <a:noFill/>
          <a:ln/>
        </p:spPr>
        <p:txBody>
          <a:bodyPr wrap="square" rtlCol="0" anchor="ctr"/>
          <a:lstStyle/>
          <a:p>
            <a:pPr marL="285750" indent="-285750">
              <a:lnSpc>
                <a:spcPct val="125000"/>
              </a:lnSpc>
              <a:buFont typeface="Arial" panose="020B0604020202020204" pitchFamily="34" charset="0"/>
              <a:buChar char="•"/>
            </a:pPr>
            <a:r>
              <a:rPr lang="en-US" sz="1600" dirty="0">
                <a:latin typeface="Calibri" pitchFamily="34" charset="0"/>
                <a:ea typeface="Calibri" pitchFamily="34" charset="-122"/>
                <a:cs typeface="Calibri" pitchFamily="34" charset="-120"/>
              </a:rPr>
              <a:t>Student struggle to build the digital portfolios, networks, and proven skills employers now expect.</a:t>
            </a:r>
            <a:endParaRPr lang="en-US" sz="1600" dirty="0"/>
          </a:p>
        </p:txBody>
      </p:sp>
      <p:pic>
        <p:nvPicPr>
          <p:cNvPr id="11" name="Image 1" descr="/home/claude/deck/icons/network_white.png"/>
          <p:cNvPicPr>
            <a:picLocks noChangeAspect="1"/>
          </p:cNvPicPr>
          <p:nvPr/>
        </p:nvPicPr>
        <p:blipFill>
          <a:blip r:embed="rId4"/>
          <a:stretch>
            <a:fillRect/>
          </a:stretch>
        </p:blipFill>
        <p:spPr>
          <a:xfrm>
            <a:off x="4615525" y="1892807"/>
            <a:ext cx="294803" cy="294803"/>
          </a:xfrm>
          <a:prstGeom prst="rect">
            <a:avLst/>
          </a:prstGeom>
          <a:ln>
            <a:noFill/>
          </a:ln>
        </p:spPr>
      </p:pic>
      <p:sp>
        <p:nvSpPr>
          <p:cNvPr id="12" name="Text 8"/>
          <p:cNvSpPr/>
          <p:nvPr/>
        </p:nvSpPr>
        <p:spPr>
          <a:xfrm>
            <a:off x="5042743" y="1813980"/>
            <a:ext cx="2647468" cy="685800"/>
          </a:xfrm>
          <a:prstGeom prst="rect">
            <a:avLst/>
          </a:prstGeom>
          <a:noFill/>
          <a:ln/>
        </p:spPr>
        <p:txBody>
          <a:bodyPr wrap="square" rtlCol="0" anchor="ctr"/>
          <a:lstStyle/>
          <a:p>
            <a:pPr marL="0" indent="0">
              <a:lnSpc>
                <a:spcPct val="105000"/>
              </a:lnSpc>
              <a:buNone/>
            </a:pPr>
            <a:r>
              <a:rPr lang="en-US" sz="1600" dirty="0">
                <a:latin typeface="Cambria" pitchFamily="34" charset="0"/>
                <a:ea typeface="Cambria" pitchFamily="34" charset="-122"/>
              </a:rPr>
              <a:t>Alumni and current students are disconnected from each other</a:t>
            </a:r>
            <a:endParaRPr lang="en-US" sz="1600" dirty="0"/>
          </a:p>
        </p:txBody>
      </p:sp>
      <p:pic>
        <p:nvPicPr>
          <p:cNvPr id="16" name="Image 2" descr="/home/claude/deck/icons/search_white.png"/>
          <p:cNvPicPr>
            <a:picLocks noChangeAspect="1"/>
          </p:cNvPicPr>
          <p:nvPr/>
        </p:nvPicPr>
        <p:blipFill>
          <a:blip r:embed="rId5"/>
          <a:stretch>
            <a:fillRect/>
          </a:stretch>
        </p:blipFill>
        <p:spPr>
          <a:xfrm>
            <a:off x="8328664" y="1873936"/>
            <a:ext cx="294803" cy="294803"/>
          </a:xfrm>
          <a:prstGeom prst="rect">
            <a:avLst/>
          </a:prstGeom>
        </p:spPr>
      </p:pic>
      <p:sp>
        <p:nvSpPr>
          <p:cNvPr id="17" name="Text 12"/>
          <p:cNvSpPr/>
          <p:nvPr/>
        </p:nvSpPr>
        <p:spPr>
          <a:xfrm>
            <a:off x="8846647" y="1699174"/>
            <a:ext cx="2647468" cy="1037255"/>
          </a:xfrm>
          <a:prstGeom prst="rect">
            <a:avLst/>
          </a:prstGeom>
          <a:noFill/>
          <a:ln/>
        </p:spPr>
        <p:txBody>
          <a:bodyPr wrap="square" rtlCol="0" anchor="ctr"/>
          <a:lstStyle/>
          <a:p>
            <a:pPr marL="0" indent="0">
              <a:lnSpc>
                <a:spcPct val="105000"/>
              </a:lnSpc>
              <a:buNone/>
            </a:pPr>
            <a:r>
              <a:rPr lang="en-US" sz="1600" dirty="0">
                <a:latin typeface="Cambria" pitchFamily="34" charset="0"/>
                <a:ea typeface="Cambria" pitchFamily="34" charset="-122"/>
              </a:rPr>
              <a:t>Businesses struggle to discover and engage with Richfield-specific talent</a:t>
            </a:r>
            <a:endParaRPr lang="en-US" sz="1600" dirty="0"/>
          </a:p>
        </p:txBody>
      </p:sp>
      <p:sp>
        <p:nvSpPr>
          <p:cNvPr id="18" name="Text 13"/>
          <p:cNvSpPr/>
          <p:nvPr/>
        </p:nvSpPr>
        <p:spPr>
          <a:xfrm>
            <a:off x="8400288" y="2578609"/>
            <a:ext cx="3072384" cy="2091782"/>
          </a:xfrm>
          <a:prstGeom prst="rect">
            <a:avLst/>
          </a:prstGeom>
          <a:noFill/>
          <a:ln/>
        </p:spPr>
        <p:txBody>
          <a:bodyPr wrap="square" rtlCol="0" anchor="ctr"/>
          <a:lstStyle/>
          <a:p>
            <a:pPr marL="0" indent="0">
              <a:lnSpc>
                <a:spcPct val="125000"/>
              </a:lnSpc>
              <a:buNone/>
            </a:pPr>
            <a:endParaRPr lang="en-US" sz="1400" dirty="0">
              <a:solidFill>
                <a:schemeClr val="bg1"/>
              </a:solidFill>
            </a:endParaRPr>
          </a:p>
        </p:txBody>
      </p:sp>
      <p:sp>
        <p:nvSpPr>
          <p:cNvPr id="21" name="Text 16"/>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Richfield Connect · Hackathon 2026</a:t>
            </a:r>
            <a:endParaRPr lang="en-US" sz="900" dirty="0"/>
          </a:p>
        </p:txBody>
      </p:sp>
      <p:sp>
        <p:nvSpPr>
          <p:cNvPr id="32" name="Text 9">
            <a:extLst>
              <a:ext uri="{FF2B5EF4-FFF2-40B4-BE49-F238E27FC236}">
                <a16:creationId xmlns:a16="http://schemas.microsoft.com/office/drawing/2014/main" id="{A8F7B898-D56D-EAC8-A0C4-EB97AF30FAA1}"/>
              </a:ext>
            </a:extLst>
          </p:cNvPr>
          <p:cNvSpPr/>
          <p:nvPr/>
        </p:nvSpPr>
        <p:spPr>
          <a:xfrm>
            <a:off x="4587347" y="3097706"/>
            <a:ext cx="3072384" cy="1243957"/>
          </a:xfrm>
          <a:prstGeom prst="rect">
            <a:avLst/>
          </a:prstGeom>
          <a:noFill/>
          <a:ln/>
        </p:spPr>
        <p:txBody>
          <a:bodyPr wrap="square" rtlCol="0" anchor="ctr"/>
          <a:lstStyle/>
          <a:p>
            <a:pPr marL="285750" indent="-285750">
              <a:lnSpc>
                <a:spcPct val="125000"/>
              </a:lnSpc>
              <a:buFont typeface="Arial" panose="020B0604020202020204" pitchFamily="34" charset="0"/>
              <a:buChar char="•"/>
            </a:pPr>
            <a:r>
              <a:rPr lang="en-US" sz="1600" dirty="0">
                <a:latin typeface="Calibri" pitchFamily="34" charset="0"/>
                <a:ea typeface="Calibri" pitchFamily="34" charset="-122"/>
                <a:cs typeface="Calibri" pitchFamily="34" charset="-120"/>
              </a:rPr>
              <a:t>Alumni lack a structured way to mentor and share experiences – resulting in lost learning and networking opportunities</a:t>
            </a:r>
            <a:endParaRPr lang="en-US" sz="1600" dirty="0"/>
          </a:p>
        </p:txBody>
      </p:sp>
      <p:sp>
        <p:nvSpPr>
          <p:cNvPr id="13" name="Text 9"/>
          <p:cNvSpPr/>
          <p:nvPr/>
        </p:nvSpPr>
        <p:spPr>
          <a:xfrm>
            <a:off x="8421731" y="3097705"/>
            <a:ext cx="3072384" cy="1345963"/>
          </a:xfrm>
          <a:prstGeom prst="rect">
            <a:avLst/>
          </a:prstGeom>
          <a:noFill/>
          <a:ln/>
        </p:spPr>
        <p:txBody>
          <a:bodyPr wrap="square" rtlCol="0" anchor="ctr"/>
          <a:lstStyle/>
          <a:p>
            <a:pPr marL="285750" indent="-285750">
              <a:lnSpc>
                <a:spcPct val="125000"/>
              </a:lnSpc>
              <a:buFont typeface="Arial" panose="020B0604020202020204" pitchFamily="34" charset="0"/>
              <a:buChar char="•"/>
            </a:pPr>
            <a:r>
              <a:rPr lang="en-US" sz="1600" dirty="0">
                <a:latin typeface="Calibri" pitchFamily="34" charset="0"/>
                <a:ea typeface="Calibri" pitchFamily="34" charset="-122"/>
                <a:cs typeface="Calibri" pitchFamily="34" charset="-120"/>
              </a:rPr>
              <a:t>Employers lack an efficient way to find verified talent, post relevant opportunities, and track applicants</a:t>
            </a:r>
            <a:endParaRPr lang="en-US" sz="1600" dirty="0"/>
          </a:p>
        </p:txBody>
      </p:sp>
      <p:cxnSp>
        <p:nvCxnSpPr>
          <p:cNvPr id="34" name="Straight Connector 33">
            <a:extLst>
              <a:ext uri="{FF2B5EF4-FFF2-40B4-BE49-F238E27FC236}">
                <a16:creationId xmlns:a16="http://schemas.microsoft.com/office/drawing/2014/main" id="{176F2A14-8CC0-9606-7A41-54D3013EDE25}"/>
              </a:ext>
            </a:extLst>
          </p:cNvPr>
          <p:cNvCxnSpPr>
            <a:cxnSpLocks/>
          </p:cNvCxnSpPr>
          <p:nvPr/>
        </p:nvCxnSpPr>
        <p:spPr>
          <a:xfrm>
            <a:off x="792480" y="2794000"/>
            <a:ext cx="30977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AD88F89-94E8-7DB0-B00C-AD3790497626}"/>
              </a:ext>
            </a:extLst>
          </p:cNvPr>
          <p:cNvCxnSpPr/>
          <p:nvPr/>
        </p:nvCxnSpPr>
        <p:spPr>
          <a:xfrm>
            <a:off x="4587347" y="2794000"/>
            <a:ext cx="30723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634F773-5433-99B6-4BFA-83718C56EB9F}"/>
              </a:ext>
            </a:extLst>
          </p:cNvPr>
          <p:cNvCxnSpPr/>
          <p:nvPr/>
        </p:nvCxnSpPr>
        <p:spPr>
          <a:xfrm>
            <a:off x="8421731" y="2794000"/>
            <a:ext cx="30723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Shape 14">
            <a:extLst>
              <a:ext uri="{FF2B5EF4-FFF2-40B4-BE49-F238E27FC236}">
                <a16:creationId xmlns:a16="http://schemas.microsoft.com/office/drawing/2014/main" id="{57D03DEC-17A3-55F8-7769-6C0960BB0B2D}"/>
              </a:ext>
            </a:extLst>
          </p:cNvPr>
          <p:cNvSpPr/>
          <p:nvPr/>
        </p:nvSpPr>
        <p:spPr>
          <a:xfrm>
            <a:off x="605681" y="5318449"/>
            <a:ext cx="11091672" cy="1051560"/>
          </a:xfrm>
          <a:prstGeom prst="roundRect">
            <a:avLst>
              <a:gd name="adj" fmla="val 6957"/>
            </a:avLst>
          </a:prstGeom>
          <a:solidFill>
            <a:srgbClr val="1B2A4A"/>
          </a:solidFill>
          <a:ln/>
        </p:spPr>
        <p:txBody>
          <a:bodyPr/>
          <a:lstStyle/>
          <a:p>
            <a:endParaRPr lang="en-ZA"/>
          </a:p>
        </p:txBody>
      </p:sp>
      <p:sp>
        <p:nvSpPr>
          <p:cNvPr id="45" name="Text 15">
            <a:extLst>
              <a:ext uri="{FF2B5EF4-FFF2-40B4-BE49-F238E27FC236}">
                <a16:creationId xmlns:a16="http://schemas.microsoft.com/office/drawing/2014/main" id="{8FCE852C-E3D8-2CE5-072F-28CBC900F2C2}"/>
              </a:ext>
            </a:extLst>
          </p:cNvPr>
          <p:cNvSpPr/>
          <p:nvPr/>
        </p:nvSpPr>
        <p:spPr>
          <a:xfrm>
            <a:off x="925721" y="5318449"/>
            <a:ext cx="10515600" cy="960120"/>
          </a:xfrm>
          <a:prstGeom prst="rect">
            <a:avLst/>
          </a:prstGeom>
          <a:noFill/>
          <a:ln/>
        </p:spPr>
        <p:txBody>
          <a:bodyPr wrap="square" rtlCol="0" anchor="ctr"/>
          <a:lstStyle/>
          <a:p>
            <a:pPr marL="0" indent="0">
              <a:lnSpc>
                <a:spcPct val="120000"/>
              </a:lnSpc>
              <a:buNone/>
            </a:pPr>
            <a:r>
              <a:rPr lang="en-US" sz="1600" dirty="0">
                <a:solidFill>
                  <a:srgbClr val="FFFFFF"/>
                </a:solidFill>
                <a:latin typeface="Calibri" pitchFamily="34" charset="0"/>
                <a:ea typeface="Calibri" pitchFamily="34" charset="-122"/>
                <a:cs typeface="Calibri" pitchFamily="34" charset="-120"/>
              </a:rPr>
              <a:t>In a nutshell- Students, alumni, and employers lack a connected platform to build skills, maintain  networks, display all of their accomplishments, and efficiently connect job seekers with career opportunities.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50" b="1" kern="0" spc="200" dirty="0">
                <a:solidFill>
                  <a:srgbClr val="7A1E3E"/>
                </a:solidFill>
                <a:latin typeface="Calibri" pitchFamily="34" charset="0"/>
                <a:ea typeface="Calibri" pitchFamily="34" charset="-122"/>
                <a:cs typeface="Calibri" pitchFamily="34" charset="-120"/>
              </a:rPr>
              <a:t>OUR TEAM</a:t>
            </a:r>
            <a:endParaRPr lang="en-US" sz="1250" dirty="0"/>
          </a:p>
        </p:txBody>
      </p:sp>
      <p:sp>
        <p:nvSpPr>
          <p:cNvPr id="3" name="Text 1"/>
          <p:cNvSpPr/>
          <p:nvPr/>
        </p:nvSpPr>
        <p:spPr>
          <a:xfrm>
            <a:off x="548640" y="603504"/>
            <a:ext cx="11064240" cy="685800"/>
          </a:xfrm>
          <a:prstGeom prst="rect">
            <a:avLst/>
          </a:prstGeom>
          <a:noFill/>
          <a:ln/>
        </p:spPr>
        <p:txBody>
          <a:bodyPr wrap="square" rtlCol="0" anchor="ctr"/>
          <a:lstStyle/>
          <a:p>
            <a:pPr marL="0" indent="0">
              <a:buNone/>
            </a:pPr>
            <a:r>
              <a:rPr lang="en-US" sz="2700" b="1" dirty="0">
                <a:solidFill>
                  <a:srgbClr val="2B2B2B"/>
                </a:solidFill>
                <a:latin typeface="Cambria" pitchFamily="34" charset="0"/>
                <a:ea typeface="Cambria" pitchFamily="34" charset="-122"/>
              </a:rPr>
              <a:t>Meet Team Echo Five</a:t>
            </a:r>
            <a:endParaRPr lang="en-US" sz="2700" dirty="0"/>
          </a:p>
        </p:txBody>
      </p:sp>
      <p:sp>
        <p:nvSpPr>
          <p:cNvPr id="101" name="Card 0"/>
          <p:cNvSpPr/>
          <p:nvPr/>
        </p:nvSpPr>
        <p:spPr>
          <a:xfrm>
            <a:off x="359975" y="1572768"/>
            <a:ext cx="2184682" cy="3600000"/>
          </a:xfrm>
          <a:prstGeom prst="roundRect">
            <a:avLst>
              <a:gd name="adj" fmla="val 3800"/>
            </a:avLst>
          </a:prstGeom>
          <a:solidFill>
            <a:srgbClr val="FFFFFF"/>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102" name="Accent 0"/>
          <p:cNvSpPr/>
          <p:nvPr/>
        </p:nvSpPr>
        <p:spPr>
          <a:xfrm>
            <a:off x="359975" y="1572768"/>
            <a:ext cx="2184682" cy="109728"/>
          </a:xfrm>
          <a:prstGeom prst="roundRect">
            <a:avLst/>
          </a:prstGeom>
          <a:solidFill>
            <a:srgbClr val="7A1E3E"/>
          </a:solidFill>
          <a:ln/>
        </p:spPr>
        <p:txBody>
          <a:bodyPr/>
          <a:lstStyle/>
          <a:p>
            <a:endParaRPr lang="en-ZA"/>
          </a:p>
        </p:txBody>
      </p:sp>
      <p:sp>
        <p:nvSpPr>
          <p:cNvPr id="103" name="Ring 0"/>
          <p:cNvSpPr/>
          <p:nvPr/>
        </p:nvSpPr>
        <p:spPr>
          <a:xfrm>
            <a:off x="659316" y="1874768"/>
            <a:ext cx="1586000" cy="1586000"/>
          </a:xfrm>
          <a:prstGeom prst="ellipse">
            <a:avLst/>
          </a:prstGeom>
          <a:solidFill>
            <a:srgbClr val="7A1E3E"/>
          </a:solidFill>
          <a:ln/>
        </p:spPr>
        <p:txBody>
          <a:bodyPr/>
          <a:lstStyle/>
          <a:p>
            <a:endParaRPr lang="en-ZA"/>
          </a:p>
        </p:txBody>
      </p:sp>
      <p:pic>
        <p:nvPicPr>
          <p:cNvPr id="104" name="Photo 0" descr="Diya"/>
          <p:cNvPicPr>
            <a:picLocks noChangeAspect="1"/>
          </p:cNvPicPr>
          <p:nvPr/>
        </p:nvPicPr>
        <p:blipFill>
          <a:blip r:embed="rId2"/>
          <a:stretch>
            <a:fillRect/>
          </a:stretch>
        </p:blipFill>
        <p:spPr>
          <a:xfrm>
            <a:off x="677316" y="1892768"/>
            <a:ext cx="1550000" cy="1550000"/>
          </a:xfrm>
          <a:prstGeom prst="ellipse">
            <a:avLst/>
          </a:prstGeom>
        </p:spPr>
      </p:pic>
      <p:sp>
        <p:nvSpPr>
          <p:cNvPr id="105" name="Name 0"/>
          <p:cNvSpPr/>
          <p:nvPr/>
        </p:nvSpPr>
        <p:spPr>
          <a:xfrm>
            <a:off x="359975" y="3602768"/>
            <a:ext cx="2184682" cy="400000"/>
          </a:xfrm>
          <a:prstGeom prst="rect">
            <a:avLst/>
          </a:prstGeom>
          <a:noFill/>
          <a:ln/>
        </p:spPr>
        <p:txBody>
          <a:bodyPr wrap="square" rtlCol="0" anchor="ctr"/>
          <a:lstStyle/>
          <a:p>
            <a:pPr marL="0" indent="0" algn="ctr">
              <a:buNone/>
            </a:pPr>
            <a:r>
              <a:rPr lang="en-US" sz="1700" b="1" dirty="0">
                <a:solidFill>
                  <a:srgbClr val="2B2B2B"/>
                </a:solidFill>
                <a:latin typeface="Cambria" pitchFamily="34" charset="0"/>
                <a:ea typeface="Cambria" pitchFamily="34" charset="-122"/>
                <a:cs typeface="Cambria" pitchFamily="34" charset="-120"/>
              </a:rPr>
              <a:t>Diya</a:t>
            </a:r>
          </a:p>
        </p:txBody>
      </p:sp>
      <p:sp>
        <p:nvSpPr>
          <p:cNvPr id="106" name="Role 0"/>
          <p:cNvSpPr/>
          <p:nvPr/>
        </p:nvSpPr>
        <p:spPr>
          <a:xfrm>
            <a:off x="479975" y="4022768"/>
            <a:ext cx="1944682" cy="950000"/>
          </a:xfrm>
          <a:prstGeom prst="rect">
            <a:avLst/>
          </a:prstGeom>
          <a:noFill/>
          <a:ln/>
        </p:spPr>
        <p:txBody>
          <a:bodyPr wrap="square" rtlCol="0" anchor="t"/>
          <a:lstStyle/>
          <a:p>
            <a:pPr marL="0" indent="0" algn="ctr">
              <a:lnSpc>
                <a:spcPct val="115000"/>
              </a:lnSpc>
              <a:buNone/>
            </a:pPr>
            <a:r>
              <a:rPr lang="en-US" sz="1150" i="1" dirty="0">
                <a:solidFill>
                  <a:srgbClr val="6B6B6B"/>
                </a:solidFill>
                <a:latin typeface="Segoe UI"/>
              </a:rPr>
              <a:t>Architecture design, documentation &amp; analytics dashboards</a:t>
            </a:r>
          </a:p>
        </p:txBody>
      </p:sp>
      <p:sp>
        <p:nvSpPr>
          <p:cNvPr id="107" name="Card 1"/>
          <p:cNvSpPr/>
          <p:nvPr/>
        </p:nvSpPr>
        <p:spPr>
          <a:xfrm>
            <a:off x="2681817" y="1572768"/>
            <a:ext cx="2184682" cy="3600000"/>
          </a:xfrm>
          <a:prstGeom prst="roundRect">
            <a:avLst>
              <a:gd name="adj" fmla="val 3800"/>
            </a:avLst>
          </a:prstGeom>
          <a:solidFill>
            <a:srgbClr val="FFFFFF"/>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108" name="Accent 1"/>
          <p:cNvSpPr/>
          <p:nvPr/>
        </p:nvSpPr>
        <p:spPr>
          <a:xfrm>
            <a:off x="2681817" y="1572768"/>
            <a:ext cx="2184682" cy="109728"/>
          </a:xfrm>
          <a:prstGeom prst="roundRect">
            <a:avLst/>
          </a:prstGeom>
          <a:solidFill>
            <a:srgbClr val="0E7C7B"/>
          </a:solidFill>
          <a:ln/>
        </p:spPr>
        <p:txBody>
          <a:bodyPr/>
          <a:lstStyle/>
          <a:p>
            <a:endParaRPr lang="en-ZA"/>
          </a:p>
        </p:txBody>
      </p:sp>
      <p:sp>
        <p:nvSpPr>
          <p:cNvPr id="109" name="Ring 1"/>
          <p:cNvSpPr/>
          <p:nvPr/>
        </p:nvSpPr>
        <p:spPr>
          <a:xfrm>
            <a:off x="2981158" y="1874768"/>
            <a:ext cx="1586000" cy="1586000"/>
          </a:xfrm>
          <a:prstGeom prst="ellipse">
            <a:avLst/>
          </a:prstGeom>
          <a:solidFill>
            <a:srgbClr val="0E7C7B"/>
          </a:solidFill>
          <a:ln/>
        </p:spPr>
        <p:txBody>
          <a:bodyPr/>
          <a:lstStyle/>
          <a:p>
            <a:endParaRPr lang="en-ZA"/>
          </a:p>
        </p:txBody>
      </p:sp>
      <p:pic>
        <p:nvPicPr>
          <p:cNvPr id="110" name="Photo 1" descr="Sashen"/>
          <p:cNvPicPr>
            <a:picLocks noChangeAspect="1"/>
          </p:cNvPicPr>
          <p:nvPr/>
        </p:nvPicPr>
        <p:blipFill>
          <a:blip r:embed="rId3"/>
          <a:stretch>
            <a:fillRect/>
          </a:stretch>
        </p:blipFill>
        <p:spPr>
          <a:xfrm>
            <a:off x="2999158" y="1892768"/>
            <a:ext cx="1550000" cy="1550000"/>
          </a:xfrm>
          <a:prstGeom prst="ellipse">
            <a:avLst/>
          </a:prstGeom>
        </p:spPr>
      </p:pic>
      <p:sp>
        <p:nvSpPr>
          <p:cNvPr id="111" name="Name 1"/>
          <p:cNvSpPr/>
          <p:nvPr/>
        </p:nvSpPr>
        <p:spPr>
          <a:xfrm>
            <a:off x="2681817" y="3602768"/>
            <a:ext cx="2184682" cy="400000"/>
          </a:xfrm>
          <a:prstGeom prst="rect">
            <a:avLst/>
          </a:prstGeom>
          <a:noFill/>
          <a:ln/>
        </p:spPr>
        <p:txBody>
          <a:bodyPr wrap="square" rtlCol="0" anchor="ctr"/>
          <a:lstStyle/>
          <a:p>
            <a:pPr marL="0" indent="0" algn="ctr">
              <a:buNone/>
            </a:pPr>
            <a:r>
              <a:rPr lang="en-US" sz="1700" b="1" dirty="0">
                <a:solidFill>
                  <a:srgbClr val="2B2B2B"/>
                </a:solidFill>
                <a:latin typeface="Cambria" pitchFamily="34" charset="0"/>
                <a:ea typeface="Cambria" pitchFamily="34" charset="-122"/>
                <a:cs typeface="Cambria" pitchFamily="34" charset="-120"/>
              </a:rPr>
              <a:t>Sashen</a:t>
            </a:r>
          </a:p>
        </p:txBody>
      </p:sp>
      <p:sp>
        <p:nvSpPr>
          <p:cNvPr id="112" name="Role 1"/>
          <p:cNvSpPr/>
          <p:nvPr/>
        </p:nvSpPr>
        <p:spPr>
          <a:xfrm>
            <a:off x="2801817" y="4022768"/>
            <a:ext cx="1944682" cy="950000"/>
          </a:xfrm>
          <a:prstGeom prst="rect">
            <a:avLst/>
          </a:prstGeom>
          <a:noFill/>
          <a:ln/>
        </p:spPr>
        <p:txBody>
          <a:bodyPr wrap="square" rtlCol="0" anchor="t"/>
          <a:lstStyle/>
          <a:p>
            <a:pPr marL="0" indent="0" algn="ctr">
              <a:lnSpc>
                <a:spcPct val="115000"/>
              </a:lnSpc>
              <a:buNone/>
            </a:pPr>
            <a:r>
              <a:rPr lang="en-US" sz="1150" i="1" dirty="0">
                <a:solidFill>
                  <a:srgbClr val="6B6B6B"/>
                </a:solidFill>
                <a:latin typeface="Segoe UI"/>
              </a:rPr>
              <a:t>Frontend (iOS), app </a:t>
            </a:r>
          </a:p>
          <a:p>
            <a:pPr marL="0" indent="0" algn="ctr">
              <a:lnSpc>
                <a:spcPct val="115000"/>
              </a:lnSpc>
              <a:buNone/>
            </a:pPr>
            <a:r>
              <a:rPr lang="en-US" sz="1150" i="1" dirty="0">
                <a:solidFill>
                  <a:srgbClr val="6B6B6B"/>
                </a:solidFill>
                <a:latin typeface="Segoe UI"/>
              </a:rPr>
              <a:t>UI/UX &amp; testing</a:t>
            </a:r>
          </a:p>
        </p:txBody>
      </p:sp>
      <p:sp>
        <p:nvSpPr>
          <p:cNvPr id="113" name="Card 2"/>
          <p:cNvSpPr/>
          <p:nvPr/>
        </p:nvSpPr>
        <p:spPr>
          <a:xfrm>
            <a:off x="5003659" y="1572768"/>
            <a:ext cx="2184682" cy="3600000"/>
          </a:xfrm>
          <a:prstGeom prst="roundRect">
            <a:avLst>
              <a:gd name="adj" fmla="val 3800"/>
            </a:avLst>
          </a:prstGeom>
          <a:solidFill>
            <a:srgbClr val="FFFFFF"/>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114" name="Accent 2"/>
          <p:cNvSpPr/>
          <p:nvPr/>
        </p:nvSpPr>
        <p:spPr>
          <a:xfrm>
            <a:off x="5003659" y="1572768"/>
            <a:ext cx="2184682" cy="109728"/>
          </a:xfrm>
          <a:prstGeom prst="roundRect">
            <a:avLst/>
          </a:prstGeom>
          <a:solidFill>
            <a:srgbClr val="C77D22"/>
          </a:solidFill>
          <a:ln/>
        </p:spPr>
        <p:txBody>
          <a:bodyPr/>
          <a:lstStyle/>
          <a:p>
            <a:endParaRPr lang="en-ZA"/>
          </a:p>
        </p:txBody>
      </p:sp>
      <p:sp>
        <p:nvSpPr>
          <p:cNvPr id="115" name="Ring 2"/>
          <p:cNvSpPr/>
          <p:nvPr/>
        </p:nvSpPr>
        <p:spPr>
          <a:xfrm>
            <a:off x="5303000" y="1874768"/>
            <a:ext cx="1586000" cy="1586000"/>
          </a:xfrm>
          <a:prstGeom prst="ellipse">
            <a:avLst/>
          </a:prstGeom>
          <a:solidFill>
            <a:srgbClr val="C77D22"/>
          </a:solidFill>
          <a:ln/>
        </p:spPr>
        <p:txBody>
          <a:bodyPr/>
          <a:lstStyle/>
          <a:p>
            <a:endParaRPr lang="en-ZA"/>
          </a:p>
        </p:txBody>
      </p:sp>
      <p:pic>
        <p:nvPicPr>
          <p:cNvPr id="116" name="Photo 2" descr="Reilyn"/>
          <p:cNvPicPr>
            <a:picLocks noChangeAspect="1"/>
          </p:cNvPicPr>
          <p:nvPr/>
        </p:nvPicPr>
        <p:blipFill>
          <a:blip r:embed="rId4"/>
          <a:stretch>
            <a:fillRect/>
          </a:stretch>
        </p:blipFill>
        <p:spPr>
          <a:xfrm>
            <a:off x="5321000" y="1892768"/>
            <a:ext cx="1550000" cy="1550000"/>
          </a:xfrm>
          <a:prstGeom prst="ellipse">
            <a:avLst/>
          </a:prstGeom>
        </p:spPr>
      </p:pic>
      <p:sp>
        <p:nvSpPr>
          <p:cNvPr id="117" name="Name 2"/>
          <p:cNvSpPr/>
          <p:nvPr/>
        </p:nvSpPr>
        <p:spPr>
          <a:xfrm>
            <a:off x="5003659" y="3602768"/>
            <a:ext cx="2184682" cy="400000"/>
          </a:xfrm>
          <a:prstGeom prst="rect">
            <a:avLst/>
          </a:prstGeom>
          <a:noFill/>
          <a:ln/>
        </p:spPr>
        <p:txBody>
          <a:bodyPr wrap="square" rtlCol="0" anchor="ctr"/>
          <a:lstStyle/>
          <a:p>
            <a:pPr marL="0" indent="0" algn="ctr">
              <a:buNone/>
            </a:pPr>
            <a:r>
              <a:rPr lang="en-US" sz="1700" b="1" dirty="0">
                <a:solidFill>
                  <a:srgbClr val="2B2B2B"/>
                </a:solidFill>
                <a:latin typeface="Cambria" pitchFamily="34" charset="0"/>
                <a:ea typeface="Cambria" pitchFamily="34" charset="-122"/>
                <a:cs typeface="Cambria" pitchFamily="34" charset="-120"/>
              </a:rPr>
              <a:t>Reilyn</a:t>
            </a:r>
          </a:p>
        </p:txBody>
      </p:sp>
      <p:sp>
        <p:nvSpPr>
          <p:cNvPr id="118" name="Role 2"/>
          <p:cNvSpPr/>
          <p:nvPr/>
        </p:nvSpPr>
        <p:spPr>
          <a:xfrm>
            <a:off x="5123659" y="4022768"/>
            <a:ext cx="1944682" cy="950000"/>
          </a:xfrm>
          <a:prstGeom prst="rect">
            <a:avLst/>
          </a:prstGeom>
          <a:noFill/>
          <a:ln/>
        </p:spPr>
        <p:txBody>
          <a:bodyPr wrap="square" rtlCol="0" anchor="t"/>
          <a:lstStyle/>
          <a:p>
            <a:pPr marL="0" indent="0" algn="ctr">
              <a:lnSpc>
                <a:spcPct val="115000"/>
              </a:lnSpc>
              <a:buNone/>
            </a:pPr>
            <a:r>
              <a:rPr lang="en-US" sz="1150" i="1" dirty="0">
                <a:solidFill>
                  <a:srgbClr val="6B6B6B"/>
                </a:solidFill>
                <a:latin typeface="Segoe UI"/>
              </a:rPr>
              <a:t>Backend, database, integration &amp; Firebase Cloud Messaging</a:t>
            </a:r>
          </a:p>
        </p:txBody>
      </p:sp>
      <p:sp>
        <p:nvSpPr>
          <p:cNvPr id="119" name="Card 3"/>
          <p:cNvSpPr/>
          <p:nvPr/>
        </p:nvSpPr>
        <p:spPr>
          <a:xfrm>
            <a:off x="7325501" y="1572768"/>
            <a:ext cx="2184682" cy="3600000"/>
          </a:xfrm>
          <a:prstGeom prst="roundRect">
            <a:avLst>
              <a:gd name="adj" fmla="val 3800"/>
            </a:avLst>
          </a:prstGeom>
          <a:solidFill>
            <a:srgbClr val="FFFFFF"/>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120" name="Accent 3"/>
          <p:cNvSpPr/>
          <p:nvPr/>
        </p:nvSpPr>
        <p:spPr>
          <a:xfrm>
            <a:off x="7325501" y="1572768"/>
            <a:ext cx="2184682" cy="109728"/>
          </a:xfrm>
          <a:prstGeom prst="roundRect">
            <a:avLst/>
          </a:prstGeom>
          <a:solidFill>
            <a:srgbClr val="5B2C83"/>
          </a:solidFill>
          <a:ln/>
        </p:spPr>
        <p:txBody>
          <a:bodyPr/>
          <a:lstStyle/>
          <a:p>
            <a:endParaRPr lang="en-ZA"/>
          </a:p>
        </p:txBody>
      </p:sp>
      <p:sp>
        <p:nvSpPr>
          <p:cNvPr id="121" name="Ring 3"/>
          <p:cNvSpPr/>
          <p:nvPr/>
        </p:nvSpPr>
        <p:spPr>
          <a:xfrm>
            <a:off x="7624842" y="1874768"/>
            <a:ext cx="1586000" cy="1586000"/>
          </a:xfrm>
          <a:prstGeom prst="ellipse">
            <a:avLst/>
          </a:prstGeom>
          <a:solidFill>
            <a:srgbClr val="5B2C83"/>
          </a:solidFill>
          <a:ln/>
        </p:spPr>
        <p:txBody>
          <a:bodyPr/>
          <a:lstStyle/>
          <a:p>
            <a:endParaRPr lang="en-ZA"/>
          </a:p>
        </p:txBody>
      </p:sp>
      <p:pic>
        <p:nvPicPr>
          <p:cNvPr id="122" name="Photo 3" descr="Keshav"/>
          <p:cNvPicPr>
            <a:picLocks noChangeAspect="1"/>
          </p:cNvPicPr>
          <p:nvPr/>
        </p:nvPicPr>
        <p:blipFill>
          <a:blip r:embed="rId5"/>
          <a:stretch>
            <a:fillRect/>
          </a:stretch>
        </p:blipFill>
        <p:spPr>
          <a:xfrm>
            <a:off x="7642842" y="1892768"/>
            <a:ext cx="1550000" cy="1550000"/>
          </a:xfrm>
          <a:prstGeom prst="ellipse">
            <a:avLst/>
          </a:prstGeom>
        </p:spPr>
      </p:pic>
      <p:sp>
        <p:nvSpPr>
          <p:cNvPr id="123" name="Name 3"/>
          <p:cNvSpPr/>
          <p:nvPr/>
        </p:nvSpPr>
        <p:spPr>
          <a:xfrm>
            <a:off x="7325501" y="3602768"/>
            <a:ext cx="2184682" cy="400000"/>
          </a:xfrm>
          <a:prstGeom prst="rect">
            <a:avLst/>
          </a:prstGeom>
          <a:noFill/>
          <a:ln/>
        </p:spPr>
        <p:txBody>
          <a:bodyPr wrap="square" rtlCol="0" anchor="ctr"/>
          <a:lstStyle/>
          <a:p>
            <a:pPr marL="0" indent="0" algn="ctr">
              <a:buNone/>
            </a:pPr>
            <a:r>
              <a:rPr lang="en-US" sz="1700" b="1" dirty="0">
                <a:solidFill>
                  <a:srgbClr val="2B2B2B"/>
                </a:solidFill>
                <a:latin typeface="Cambria" pitchFamily="34" charset="0"/>
                <a:ea typeface="Cambria" pitchFamily="34" charset="-122"/>
                <a:cs typeface="Cambria" pitchFamily="34" charset="-120"/>
              </a:rPr>
              <a:t>Keshav</a:t>
            </a:r>
          </a:p>
        </p:txBody>
      </p:sp>
      <p:sp>
        <p:nvSpPr>
          <p:cNvPr id="124" name="Role 3"/>
          <p:cNvSpPr/>
          <p:nvPr/>
        </p:nvSpPr>
        <p:spPr>
          <a:xfrm>
            <a:off x="7445501" y="4022768"/>
            <a:ext cx="1944682" cy="950000"/>
          </a:xfrm>
          <a:prstGeom prst="rect">
            <a:avLst/>
          </a:prstGeom>
          <a:noFill/>
          <a:ln/>
        </p:spPr>
        <p:txBody>
          <a:bodyPr wrap="square" rtlCol="0" anchor="t"/>
          <a:lstStyle/>
          <a:p>
            <a:pPr marL="0" indent="0" algn="ctr">
              <a:lnSpc>
                <a:spcPct val="115000"/>
              </a:lnSpc>
              <a:buNone/>
            </a:pPr>
            <a:r>
              <a:rPr lang="en-US" sz="1150" i="1" dirty="0">
                <a:solidFill>
                  <a:srgbClr val="6B6B6B"/>
                </a:solidFill>
                <a:latin typeface="Segoe UI"/>
              </a:rPr>
              <a:t>Frontend (Android), app UI/UX &amp; testing</a:t>
            </a:r>
          </a:p>
        </p:txBody>
      </p:sp>
      <p:sp>
        <p:nvSpPr>
          <p:cNvPr id="125" name="Card 4"/>
          <p:cNvSpPr/>
          <p:nvPr/>
        </p:nvSpPr>
        <p:spPr>
          <a:xfrm>
            <a:off x="9647343" y="1572768"/>
            <a:ext cx="2184682" cy="3600000"/>
          </a:xfrm>
          <a:prstGeom prst="roundRect">
            <a:avLst>
              <a:gd name="adj" fmla="val 3800"/>
            </a:avLst>
          </a:prstGeom>
          <a:solidFill>
            <a:srgbClr val="FFFFFF"/>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126" name="Accent 4"/>
          <p:cNvSpPr/>
          <p:nvPr/>
        </p:nvSpPr>
        <p:spPr>
          <a:xfrm>
            <a:off x="9647343" y="1572768"/>
            <a:ext cx="2184682" cy="109728"/>
          </a:xfrm>
          <a:prstGeom prst="roundRect">
            <a:avLst/>
          </a:prstGeom>
          <a:solidFill>
            <a:srgbClr val="1B2A4A"/>
          </a:solidFill>
          <a:ln/>
        </p:spPr>
        <p:txBody>
          <a:bodyPr/>
          <a:lstStyle/>
          <a:p>
            <a:endParaRPr lang="en-ZA"/>
          </a:p>
        </p:txBody>
      </p:sp>
      <p:sp>
        <p:nvSpPr>
          <p:cNvPr id="127" name="Ring 4"/>
          <p:cNvSpPr/>
          <p:nvPr/>
        </p:nvSpPr>
        <p:spPr>
          <a:xfrm>
            <a:off x="9946684" y="1874768"/>
            <a:ext cx="1586000" cy="1586000"/>
          </a:xfrm>
          <a:prstGeom prst="ellipse">
            <a:avLst/>
          </a:prstGeom>
          <a:solidFill>
            <a:srgbClr val="1B2A4A"/>
          </a:solidFill>
          <a:ln/>
        </p:spPr>
        <p:txBody>
          <a:bodyPr/>
          <a:lstStyle/>
          <a:p>
            <a:endParaRPr lang="en-ZA"/>
          </a:p>
        </p:txBody>
      </p:sp>
      <p:pic>
        <p:nvPicPr>
          <p:cNvPr id="128" name="Photo 4" descr="Saiyusha"/>
          <p:cNvPicPr>
            <a:picLocks noChangeAspect="1"/>
          </p:cNvPicPr>
          <p:nvPr/>
        </p:nvPicPr>
        <p:blipFill>
          <a:blip r:embed="rId6"/>
          <a:stretch>
            <a:fillRect/>
          </a:stretch>
        </p:blipFill>
        <p:spPr>
          <a:xfrm>
            <a:off x="9964684" y="1892768"/>
            <a:ext cx="1550000" cy="1550000"/>
          </a:xfrm>
          <a:prstGeom prst="ellipse">
            <a:avLst/>
          </a:prstGeom>
        </p:spPr>
      </p:pic>
      <p:sp>
        <p:nvSpPr>
          <p:cNvPr id="129" name="Name 4"/>
          <p:cNvSpPr/>
          <p:nvPr/>
        </p:nvSpPr>
        <p:spPr>
          <a:xfrm>
            <a:off x="9647343" y="3602768"/>
            <a:ext cx="2184682" cy="400000"/>
          </a:xfrm>
          <a:prstGeom prst="rect">
            <a:avLst/>
          </a:prstGeom>
          <a:noFill/>
          <a:ln/>
        </p:spPr>
        <p:txBody>
          <a:bodyPr wrap="square" rtlCol="0" anchor="ctr"/>
          <a:lstStyle/>
          <a:p>
            <a:pPr marL="0" indent="0" algn="ctr">
              <a:buNone/>
            </a:pPr>
            <a:r>
              <a:rPr lang="en-US" sz="1700" b="1" dirty="0">
                <a:solidFill>
                  <a:srgbClr val="2B2B2B"/>
                </a:solidFill>
                <a:latin typeface="Cambria" pitchFamily="34" charset="0"/>
                <a:ea typeface="Cambria" pitchFamily="34" charset="-122"/>
                <a:cs typeface="Cambria" pitchFamily="34" charset="-120"/>
              </a:rPr>
              <a:t>Saiyusha</a:t>
            </a:r>
          </a:p>
        </p:txBody>
      </p:sp>
      <p:sp>
        <p:nvSpPr>
          <p:cNvPr id="130" name="Role 4"/>
          <p:cNvSpPr/>
          <p:nvPr/>
        </p:nvSpPr>
        <p:spPr>
          <a:xfrm>
            <a:off x="9767343" y="4022768"/>
            <a:ext cx="1944682" cy="950000"/>
          </a:xfrm>
          <a:prstGeom prst="rect">
            <a:avLst/>
          </a:prstGeom>
          <a:noFill/>
          <a:ln/>
        </p:spPr>
        <p:txBody>
          <a:bodyPr wrap="square" rtlCol="0" anchor="t"/>
          <a:lstStyle/>
          <a:p>
            <a:pPr marL="0" indent="0" algn="ctr">
              <a:lnSpc>
                <a:spcPct val="115000"/>
              </a:lnSpc>
              <a:buNone/>
            </a:pPr>
            <a:r>
              <a:rPr lang="en-US" sz="1150" i="1" dirty="0">
                <a:solidFill>
                  <a:srgbClr val="6B6B6B"/>
                </a:solidFill>
                <a:latin typeface="Segoe UI"/>
              </a:rPr>
              <a:t>Admin web, Vercel deployment &amp; React UI/UX</a:t>
            </a:r>
          </a:p>
        </p:txBody>
      </p:sp>
      <p:sp>
        <p:nvSpPr>
          <p:cNvPr id="99" name="Footer"/>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Richfield Connect · Hackathon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50" b="1" kern="0" spc="200" dirty="0">
                <a:solidFill>
                  <a:srgbClr val="7A1E3E"/>
                </a:solidFill>
                <a:latin typeface="Calibri" pitchFamily="34" charset="0"/>
                <a:ea typeface="Calibri" pitchFamily="34" charset="-122"/>
                <a:cs typeface="Calibri" pitchFamily="34" charset="-120"/>
              </a:rPr>
              <a:t>SOLUTION OVERVIEW</a:t>
            </a:r>
            <a:endParaRPr lang="en-US" sz="1250" dirty="0"/>
          </a:p>
        </p:txBody>
      </p:sp>
      <p:sp>
        <p:nvSpPr>
          <p:cNvPr id="3" name="Text 1"/>
          <p:cNvSpPr/>
          <p:nvPr/>
        </p:nvSpPr>
        <p:spPr>
          <a:xfrm>
            <a:off x="548640" y="603504"/>
            <a:ext cx="11064240" cy="685800"/>
          </a:xfrm>
          <a:prstGeom prst="rect">
            <a:avLst/>
          </a:prstGeom>
          <a:noFill/>
          <a:ln/>
        </p:spPr>
        <p:txBody>
          <a:bodyPr wrap="square" rtlCol="0" anchor="ctr"/>
          <a:lstStyle/>
          <a:p>
            <a:pPr marL="0" indent="0">
              <a:buNone/>
            </a:pPr>
            <a:r>
              <a:rPr lang="en-US" sz="2700" b="1" dirty="0">
                <a:solidFill>
                  <a:srgbClr val="2B2B2B"/>
                </a:solidFill>
                <a:latin typeface="Cambria" pitchFamily="34" charset="0"/>
                <a:ea typeface="Cambria" pitchFamily="34" charset="-122"/>
                <a:cs typeface="Cambria" pitchFamily="34" charset="-120"/>
              </a:rPr>
              <a:t>Our Solution: One Ecosystem, Four Working Parts</a:t>
            </a:r>
            <a:endParaRPr lang="en-US" sz="2700" dirty="0"/>
          </a:p>
        </p:txBody>
      </p:sp>
      <p:sp>
        <p:nvSpPr>
          <p:cNvPr id="4" name="Shape 2"/>
          <p:cNvSpPr/>
          <p:nvPr/>
        </p:nvSpPr>
        <p:spPr>
          <a:xfrm>
            <a:off x="245534" y="2899349"/>
            <a:ext cx="3030956" cy="3035170"/>
          </a:xfrm>
          <a:prstGeom prst="roundRect">
            <a:avLst>
              <a:gd name="adj" fmla="val 3333"/>
            </a:avLst>
          </a:prstGeom>
          <a:solidFill>
            <a:srgbClr val="FBFAF8"/>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5" name="Shape 3"/>
          <p:cNvSpPr/>
          <p:nvPr/>
        </p:nvSpPr>
        <p:spPr>
          <a:xfrm>
            <a:off x="1301385" y="3241733"/>
            <a:ext cx="752513" cy="809379"/>
          </a:xfrm>
          <a:prstGeom prst="ellipse">
            <a:avLst/>
          </a:prstGeom>
          <a:solidFill>
            <a:srgbClr val="7A1E3E"/>
          </a:solidFill>
          <a:ln/>
        </p:spPr>
        <p:txBody>
          <a:bodyPr/>
          <a:lstStyle/>
          <a:p>
            <a:endParaRPr lang="en-ZA"/>
          </a:p>
        </p:txBody>
      </p:sp>
      <p:pic>
        <p:nvPicPr>
          <p:cNvPr id="6" name="Image 0" descr="/home/claude/deck/icons/mobile_white.png"/>
          <p:cNvPicPr>
            <a:picLocks noChangeAspect="1"/>
          </p:cNvPicPr>
          <p:nvPr/>
        </p:nvPicPr>
        <p:blipFill>
          <a:blip r:embed="rId3"/>
          <a:stretch>
            <a:fillRect/>
          </a:stretch>
        </p:blipFill>
        <p:spPr>
          <a:xfrm>
            <a:off x="1459394" y="3472228"/>
            <a:ext cx="420876" cy="420876"/>
          </a:xfrm>
          <a:prstGeom prst="rect">
            <a:avLst/>
          </a:prstGeom>
        </p:spPr>
      </p:pic>
      <p:sp>
        <p:nvSpPr>
          <p:cNvPr id="7" name="Text 4"/>
          <p:cNvSpPr/>
          <p:nvPr/>
        </p:nvSpPr>
        <p:spPr>
          <a:xfrm>
            <a:off x="469281" y="4072917"/>
            <a:ext cx="2654699" cy="618275"/>
          </a:xfrm>
          <a:prstGeom prst="rect">
            <a:avLst/>
          </a:prstGeom>
          <a:noFill/>
          <a:ln/>
        </p:spPr>
        <p:txBody>
          <a:bodyPr wrap="square" rtlCol="0" anchor="ctr"/>
          <a:lstStyle/>
          <a:p>
            <a:pPr marL="0" indent="0" algn="ctr">
              <a:buNone/>
            </a:pPr>
            <a:r>
              <a:rPr lang="en-US" sz="1400" b="1" dirty="0">
                <a:solidFill>
                  <a:srgbClr val="2B2B2B"/>
                </a:solidFill>
                <a:latin typeface="Cambria" pitchFamily="34" charset="0"/>
                <a:ea typeface="Cambria" pitchFamily="34" charset="-122"/>
                <a:cs typeface="Cambria" pitchFamily="34" charset="-120"/>
              </a:rPr>
              <a:t>Flutter Mobile App</a:t>
            </a:r>
            <a:endParaRPr lang="en-US" sz="1400" dirty="0"/>
          </a:p>
        </p:txBody>
      </p:sp>
      <p:sp>
        <p:nvSpPr>
          <p:cNvPr id="8" name="Text 5"/>
          <p:cNvSpPr/>
          <p:nvPr/>
        </p:nvSpPr>
        <p:spPr>
          <a:xfrm>
            <a:off x="487569" y="4473654"/>
            <a:ext cx="2612893" cy="1067930"/>
          </a:xfrm>
          <a:prstGeom prst="rect">
            <a:avLst/>
          </a:prstGeom>
          <a:noFill/>
          <a:ln/>
        </p:spPr>
        <p:txBody>
          <a:bodyPr wrap="square" rtlCol="0" anchor="ctr"/>
          <a:lstStyle/>
          <a:p>
            <a:pPr marL="0" indent="0" algn="ctr">
              <a:lnSpc>
                <a:spcPct val="115000"/>
              </a:lnSpc>
              <a:buNone/>
            </a:pPr>
            <a:r>
              <a:rPr lang="en-US" sz="1400" b="1" dirty="0">
                <a:solidFill>
                  <a:srgbClr val="6B6B6B"/>
                </a:solidFill>
                <a:latin typeface="Calibri" pitchFamily="34" charset="0"/>
                <a:ea typeface="Calibri" pitchFamily="34" charset="-122"/>
                <a:cs typeface="Calibri" pitchFamily="34" charset="-120"/>
              </a:rPr>
              <a:t>The primary product &amp; demo surface — feed, portfolio, jobs, messaging, AI assistant, dashboards.</a:t>
            </a:r>
            <a:endParaRPr lang="en-US" sz="1400" b="1" dirty="0"/>
          </a:p>
        </p:txBody>
      </p:sp>
      <p:sp>
        <p:nvSpPr>
          <p:cNvPr id="9" name="Shape 6"/>
          <p:cNvSpPr/>
          <p:nvPr/>
        </p:nvSpPr>
        <p:spPr>
          <a:xfrm>
            <a:off x="3116750" y="2899349"/>
            <a:ext cx="3030956" cy="3035170"/>
          </a:xfrm>
          <a:prstGeom prst="roundRect">
            <a:avLst>
              <a:gd name="adj" fmla="val 3333"/>
            </a:avLst>
          </a:prstGeom>
          <a:solidFill>
            <a:srgbClr val="FBFAF8"/>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10" name="Shape 7"/>
          <p:cNvSpPr/>
          <p:nvPr/>
        </p:nvSpPr>
        <p:spPr>
          <a:xfrm>
            <a:off x="4172601" y="3241733"/>
            <a:ext cx="752513" cy="809379"/>
          </a:xfrm>
          <a:prstGeom prst="ellipse">
            <a:avLst/>
          </a:prstGeom>
          <a:solidFill>
            <a:srgbClr val="5B2C83"/>
          </a:solidFill>
          <a:ln/>
        </p:spPr>
        <p:txBody>
          <a:bodyPr/>
          <a:lstStyle/>
          <a:p>
            <a:endParaRPr lang="en-ZA"/>
          </a:p>
        </p:txBody>
      </p:sp>
      <p:pic>
        <p:nvPicPr>
          <p:cNvPr id="11" name="Image 1" descr="/home/claude/deck/icons/desktop_white.png"/>
          <p:cNvPicPr>
            <a:picLocks noChangeAspect="1"/>
          </p:cNvPicPr>
          <p:nvPr/>
        </p:nvPicPr>
        <p:blipFill>
          <a:blip r:embed="rId4"/>
          <a:stretch>
            <a:fillRect/>
          </a:stretch>
        </p:blipFill>
        <p:spPr>
          <a:xfrm>
            <a:off x="4330610" y="3472228"/>
            <a:ext cx="420876" cy="420876"/>
          </a:xfrm>
          <a:prstGeom prst="rect">
            <a:avLst/>
          </a:prstGeom>
        </p:spPr>
      </p:pic>
      <p:sp>
        <p:nvSpPr>
          <p:cNvPr id="12" name="Text 8"/>
          <p:cNvSpPr/>
          <p:nvPr/>
        </p:nvSpPr>
        <p:spPr>
          <a:xfrm>
            <a:off x="3340497" y="4072917"/>
            <a:ext cx="2654699" cy="618275"/>
          </a:xfrm>
          <a:prstGeom prst="rect">
            <a:avLst/>
          </a:prstGeom>
          <a:noFill/>
          <a:ln/>
        </p:spPr>
        <p:txBody>
          <a:bodyPr wrap="square" rtlCol="0" anchor="ctr"/>
          <a:lstStyle/>
          <a:p>
            <a:pPr marL="0" indent="0" algn="ctr">
              <a:buNone/>
            </a:pPr>
            <a:r>
              <a:rPr lang="en-US" sz="1400" b="1" dirty="0">
                <a:solidFill>
                  <a:srgbClr val="2B2B2B"/>
                </a:solidFill>
                <a:latin typeface="Cambria" pitchFamily="34" charset="0"/>
                <a:ea typeface="Cambria" pitchFamily="34" charset="-122"/>
                <a:cs typeface="Cambria" pitchFamily="34" charset="-120"/>
              </a:rPr>
              <a:t>Web Admin Console</a:t>
            </a:r>
            <a:endParaRPr lang="en-US" sz="1400" dirty="0"/>
          </a:p>
        </p:txBody>
      </p:sp>
      <p:sp>
        <p:nvSpPr>
          <p:cNvPr id="13" name="Text 9"/>
          <p:cNvSpPr/>
          <p:nvPr/>
        </p:nvSpPr>
        <p:spPr>
          <a:xfrm>
            <a:off x="3358785" y="4473654"/>
            <a:ext cx="2612893" cy="1067930"/>
          </a:xfrm>
          <a:prstGeom prst="rect">
            <a:avLst/>
          </a:prstGeom>
          <a:noFill/>
          <a:ln/>
        </p:spPr>
        <p:txBody>
          <a:bodyPr wrap="square" rtlCol="0" anchor="ctr"/>
          <a:lstStyle/>
          <a:p>
            <a:pPr marL="0" indent="0" algn="ctr">
              <a:lnSpc>
                <a:spcPct val="115000"/>
              </a:lnSpc>
              <a:buNone/>
            </a:pPr>
            <a:r>
              <a:rPr lang="en-US" sz="1400" b="1" dirty="0">
                <a:solidFill>
                  <a:srgbClr val="6B6B6B"/>
                </a:solidFill>
                <a:latin typeface="Calibri" pitchFamily="34" charset="0"/>
                <a:ea typeface="Calibri" pitchFamily="34" charset="-122"/>
                <a:cs typeface="Calibri" pitchFamily="34" charset="-120"/>
              </a:rPr>
              <a:t>An administrator-only console for moderation, approvals, events and analytics.</a:t>
            </a:r>
            <a:endParaRPr lang="en-US" sz="1400" b="1" dirty="0"/>
          </a:p>
        </p:txBody>
      </p:sp>
      <p:sp>
        <p:nvSpPr>
          <p:cNvPr id="14" name="Shape 10"/>
          <p:cNvSpPr/>
          <p:nvPr/>
        </p:nvSpPr>
        <p:spPr>
          <a:xfrm>
            <a:off x="5987966" y="2899349"/>
            <a:ext cx="3030956" cy="3035170"/>
          </a:xfrm>
          <a:prstGeom prst="roundRect">
            <a:avLst>
              <a:gd name="adj" fmla="val 3333"/>
            </a:avLst>
          </a:prstGeom>
          <a:solidFill>
            <a:srgbClr val="FBFAF8"/>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15" name="Shape 11"/>
          <p:cNvSpPr/>
          <p:nvPr/>
        </p:nvSpPr>
        <p:spPr>
          <a:xfrm>
            <a:off x="7015030" y="3241733"/>
            <a:ext cx="752513" cy="809379"/>
          </a:xfrm>
          <a:prstGeom prst="ellipse">
            <a:avLst/>
          </a:prstGeom>
          <a:solidFill>
            <a:srgbClr val="1B2A4A"/>
          </a:solidFill>
          <a:ln/>
        </p:spPr>
        <p:txBody>
          <a:bodyPr/>
          <a:lstStyle/>
          <a:p>
            <a:endParaRPr lang="en-ZA"/>
          </a:p>
        </p:txBody>
      </p:sp>
      <p:pic>
        <p:nvPicPr>
          <p:cNvPr id="16" name="Image 2" descr="/home/claude/deck/icons/database_white.png"/>
          <p:cNvPicPr>
            <a:picLocks noChangeAspect="1"/>
          </p:cNvPicPr>
          <p:nvPr/>
        </p:nvPicPr>
        <p:blipFill>
          <a:blip r:embed="rId5"/>
          <a:stretch>
            <a:fillRect/>
          </a:stretch>
        </p:blipFill>
        <p:spPr>
          <a:xfrm>
            <a:off x="7173039" y="3472228"/>
            <a:ext cx="420876" cy="420876"/>
          </a:xfrm>
          <a:prstGeom prst="rect">
            <a:avLst/>
          </a:prstGeom>
        </p:spPr>
      </p:pic>
      <p:sp>
        <p:nvSpPr>
          <p:cNvPr id="17" name="Text 12"/>
          <p:cNvSpPr/>
          <p:nvPr/>
        </p:nvSpPr>
        <p:spPr>
          <a:xfrm>
            <a:off x="6182926" y="4072917"/>
            <a:ext cx="2654699" cy="618275"/>
          </a:xfrm>
          <a:prstGeom prst="rect">
            <a:avLst/>
          </a:prstGeom>
          <a:noFill/>
          <a:ln/>
        </p:spPr>
        <p:txBody>
          <a:bodyPr wrap="square" rtlCol="0" anchor="ctr"/>
          <a:lstStyle/>
          <a:p>
            <a:pPr marL="0" indent="0" algn="ctr">
              <a:buNone/>
            </a:pPr>
            <a:r>
              <a:rPr lang="en-US" sz="1400" b="1" dirty="0">
                <a:solidFill>
                  <a:srgbClr val="2B2B2B"/>
                </a:solidFill>
                <a:latin typeface="Cambria" pitchFamily="34" charset="0"/>
                <a:ea typeface="Cambria" pitchFamily="34" charset="-122"/>
                <a:cs typeface="Cambria" pitchFamily="34" charset="-120"/>
              </a:rPr>
              <a:t>Supabase Backend</a:t>
            </a:r>
            <a:endParaRPr lang="en-US" sz="1400" dirty="0"/>
          </a:p>
        </p:txBody>
      </p:sp>
      <p:sp>
        <p:nvSpPr>
          <p:cNvPr id="18" name="Text 13"/>
          <p:cNvSpPr/>
          <p:nvPr/>
        </p:nvSpPr>
        <p:spPr>
          <a:xfrm>
            <a:off x="6201214" y="4473654"/>
            <a:ext cx="2612893" cy="1067930"/>
          </a:xfrm>
          <a:prstGeom prst="rect">
            <a:avLst/>
          </a:prstGeom>
          <a:noFill/>
          <a:ln/>
        </p:spPr>
        <p:txBody>
          <a:bodyPr wrap="square" rtlCol="0" anchor="ctr"/>
          <a:lstStyle/>
          <a:p>
            <a:pPr marL="0" indent="0" algn="ctr">
              <a:lnSpc>
                <a:spcPct val="115000"/>
              </a:lnSpc>
              <a:buNone/>
            </a:pPr>
            <a:r>
              <a:rPr lang="en-US" sz="1400" b="1" dirty="0">
                <a:solidFill>
                  <a:srgbClr val="6B6B6B"/>
                </a:solidFill>
                <a:latin typeface="Calibri" pitchFamily="34" charset="0"/>
                <a:ea typeface="Calibri" pitchFamily="34" charset="-122"/>
                <a:cs typeface="Calibri" pitchFamily="34" charset="-120"/>
              </a:rPr>
              <a:t>Postgres + RLS is the system of record and the API — auth, storage, realtime, edge functions.</a:t>
            </a:r>
            <a:endParaRPr lang="en-US" sz="1400" b="1" dirty="0"/>
          </a:p>
        </p:txBody>
      </p:sp>
      <p:sp>
        <p:nvSpPr>
          <p:cNvPr id="19" name="Shape 14"/>
          <p:cNvSpPr/>
          <p:nvPr/>
        </p:nvSpPr>
        <p:spPr>
          <a:xfrm>
            <a:off x="8859182" y="2899349"/>
            <a:ext cx="3030956" cy="3035170"/>
          </a:xfrm>
          <a:prstGeom prst="roundRect">
            <a:avLst>
              <a:gd name="adj" fmla="val 3333"/>
            </a:avLst>
          </a:prstGeom>
          <a:solidFill>
            <a:srgbClr val="FBFAF8"/>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20" name="Shape 15"/>
          <p:cNvSpPr/>
          <p:nvPr/>
        </p:nvSpPr>
        <p:spPr>
          <a:xfrm>
            <a:off x="9886246" y="3241733"/>
            <a:ext cx="752513" cy="809379"/>
          </a:xfrm>
          <a:prstGeom prst="ellipse">
            <a:avLst/>
          </a:prstGeom>
          <a:solidFill>
            <a:srgbClr val="0E7C7B"/>
          </a:solidFill>
          <a:ln/>
        </p:spPr>
        <p:txBody>
          <a:bodyPr/>
          <a:lstStyle/>
          <a:p>
            <a:endParaRPr lang="en-ZA"/>
          </a:p>
        </p:txBody>
      </p:sp>
      <p:pic>
        <p:nvPicPr>
          <p:cNvPr id="21" name="Image 3" descr="/home/claude/deck/icons/robot_white.png"/>
          <p:cNvPicPr>
            <a:picLocks noChangeAspect="1"/>
          </p:cNvPicPr>
          <p:nvPr/>
        </p:nvPicPr>
        <p:blipFill>
          <a:blip r:embed="rId6"/>
          <a:stretch>
            <a:fillRect/>
          </a:stretch>
        </p:blipFill>
        <p:spPr>
          <a:xfrm>
            <a:off x="10044255" y="3472228"/>
            <a:ext cx="420876" cy="420876"/>
          </a:xfrm>
          <a:prstGeom prst="rect">
            <a:avLst/>
          </a:prstGeom>
        </p:spPr>
      </p:pic>
      <p:sp>
        <p:nvSpPr>
          <p:cNvPr id="22" name="Text 16"/>
          <p:cNvSpPr/>
          <p:nvPr/>
        </p:nvSpPr>
        <p:spPr>
          <a:xfrm>
            <a:off x="9054142" y="4072917"/>
            <a:ext cx="2654699" cy="618275"/>
          </a:xfrm>
          <a:prstGeom prst="rect">
            <a:avLst/>
          </a:prstGeom>
          <a:noFill/>
          <a:ln/>
        </p:spPr>
        <p:txBody>
          <a:bodyPr wrap="square" rtlCol="0" anchor="ctr"/>
          <a:lstStyle/>
          <a:p>
            <a:pPr marL="0" indent="0" algn="ctr">
              <a:buNone/>
            </a:pPr>
            <a:r>
              <a:rPr lang="en-US" sz="1400" b="1" dirty="0">
                <a:solidFill>
                  <a:srgbClr val="2B2B2B"/>
                </a:solidFill>
                <a:latin typeface="Cambria" pitchFamily="34" charset="0"/>
                <a:ea typeface="Cambria" pitchFamily="34" charset="-122"/>
                <a:cs typeface="Cambria" pitchFamily="34" charset="-120"/>
              </a:rPr>
              <a:t>AI Microservice</a:t>
            </a:r>
            <a:endParaRPr lang="en-US" sz="1400" dirty="0"/>
          </a:p>
        </p:txBody>
      </p:sp>
      <p:sp>
        <p:nvSpPr>
          <p:cNvPr id="23" name="Text 17"/>
          <p:cNvSpPr/>
          <p:nvPr/>
        </p:nvSpPr>
        <p:spPr>
          <a:xfrm>
            <a:off x="9072430" y="4473654"/>
            <a:ext cx="2612893" cy="1067930"/>
          </a:xfrm>
          <a:prstGeom prst="rect">
            <a:avLst/>
          </a:prstGeom>
          <a:noFill/>
          <a:ln/>
        </p:spPr>
        <p:txBody>
          <a:bodyPr wrap="square" rtlCol="0" anchor="ctr"/>
          <a:lstStyle/>
          <a:p>
            <a:pPr marL="0" indent="0" algn="ctr">
              <a:lnSpc>
                <a:spcPct val="115000"/>
              </a:lnSpc>
              <a:buNone/>
            </a:pPr>
            <a:r>
              <a:rPr lang="en-US" sz="1400" b="1" dirty="0">
                <a:solidFill>
                  <a:srgbClr val="6B6B6B"/>
                </a:solidFill>
                <a:latin typeface="Calibri" pitchFamily="34" charset="0"/>
                <a:ea typeface="Calibri" pitchFamily="34" charset="-122"/>
                <a:cs typeface="Calibri" pitchFamily="34" charset="-120"/>
              </a:rPr>
              <a:t>A Python/Flask service fronting Google Gemini for CV parsing and the Career AI assistant.</a:t>
            </a:r>
            <a:endParaRPr lang="en-US" sz="1400" b="1" dirty="0"/>
          </a:p>
        </p:txBody>
      </p:sp>
      <p:sp>
        <p:nvSpPr>
          <p:cNvPr id="33" name="Text 25"/>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Richfield Connect · Hackathon 2026</a:t>
            </a:r>
            <a:endParaRPr lang="en-US" sz="900" dirty="0"/>
          </a:p>
        </p:txBody>
      </p:sp>
      <p:sp>
        <p:nvSpPr>
          <p:cNvPr id="43" name="Shape 14">
            <a:extLst>
              <a:ext uri="{FF2B5EF4-FFF2-40B4-BE49-F238E27FC236}">
                <a16:creationId xmlns:a16="http://schemas.microsoft.com/office/drawing/2014/main" id="{6F1012CC-DA0A-DE1E-BD60-2D9FBD10E29C}"/>
              </a:ext>
            </a:extLst>
          </p:cNvPr>
          <p:cNvSpPr/>
          <p:nvPr/>
        </p:nvSpPr>
        <p:spPr>
          <a:xfrm>
            <a:off x="521208" y="1389507"/>
            <a:ext cx="11091672" cy="1051560"/>
          </a:xfrm>
          <a:prstGeom prst="roundRect">
            <a:avLst>
              <a:gd name="adj" fmla="val 6957"/>
            </a:avLst>
          </a:prstGeom>
          <a:solidFill>
            <a:srgbClr val="1B2A4A"/>
          </a:solidFill>
          <a:ln/>
        </p:spPr>
        <p:txBody>
          <a:bodyPr/>
          <a:lstStyle/>
          <a:p>
            <a:endParaRPr lang="en-ZA"/>
          </a:p>
        </p:txBody>
      </p:sp>
      <p:sp>
        <p:nvSpPr>
          <p:cNvPr id="45" name="Text 15">
            <a:extLst>
              <a:ext uri="{FF2B5EF4-FFF2-40B4-BE49-F238E27FC236}">
                <a16:creationId xmlns:a16="http://schemas.microsoft.com/office/drawing/2014/main" id="{01C817C3-FC1D-29EB-A003-74D06FF05BDF}"/>
              </a:ext>
            </a:extLst>
          </p:cNvPr>
          <p:cNvSpPr/>
          <p:nvPr/>
        </p:nvSpPr>
        <p:spPr>
          <a:xfrm>
            <a:off x="841248" y="1389507"/>
            <a:ext cx="10515600" cy="960120"/>
          </a:xfrm>
          <a:prstGeom prst="rect">
            <a:avLst/>
          </a:prstGeom>
          <a:noFill/>
          <a:ln/>
        </p:spPr>
        <p:txBody>
          <a:bodyPr wrap="square" rtlCol="0" anchor="ctr"/>
          <a:lstStyle/>
          <a:p>
            <a:pPr marL="0" indent="0">
              <a:lnSpc>
                <a:spcPct val="120000"/>
              </a:lnSpc>
              <a:buNone/>
            </a:pPr>
            <a:r>
              <a:rPr lang="en-US" sz="1600" dirty="0">
                <a:solidFill>
                  <a:srgbClr val="FFFFFF"/>
                </a:solidFill>
                <a:latin typeface="Calibri" pitchFamily="34" charset="0"/>
                <a:ea typeface="Calibri" pitchFamily="34" charset="-122"/>
                <a:cs typeface="Calibri" pitchFamily="34" charset="-120"/>
              </a:rPr>
              <a:t>Richfield Connect — a mobile-first platform where students build a portfolio from day one, alumni stay engaged for life, businesses discover verified Richfield talent, and administrators govern the whole ecosystem with real backend security.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50" b="1" kern="0" spc="200" dirty="0">
                <a:solidFill>
                  <a:srgbClr val="7A1E3E"/>
                </a:solidFill>
                <a:latin typeface="Calibri" pitchFamily="34" charset="0"/>
                <a:ea typeface="Calibri" pitchFamily="34" charset="-122"/>
                <a:cs typeface="Calibri" pitchFamily="34" charset="-120"/>
              </a:rPr>
              <a:t>USER TYPE BREAKDOWN</a:t>
            </a:r>
            <a:endParaRPr lang="en-US" sz="1250" dirty="0"/>
          </a:p>
        </p:txBody>
      </p:sp>
      <p:sp>
        <p:nvSpPr>
          <p:cNvPr id="3" name="Text 1"/>
          <p:cNvSpPr/>
          <p:nvPr/>
        </p:nvSpPr>
        <p:spPr>
          <a:xfrm>
            <a:off x="548640" y="603504"/>
            <a:ext cx="11064240" cy="685800"/>
          </a:xfrm>
          <a:prstGeom prst="rect">
            <a:avLst/>
          </a:prstGeom>
          <a:noFill/>
          <a:ln/>
        </p:spPr>
        <p:txBody>
          <a:bodyPr wrap="square" rtlCol="0" anchor="ctr"/>
          <a:lstStyle/>
          <a:p>
            <a:pPr marL="0" indent="0">
              <a:buNone/>
            </a:pPr>
            <a:r>
              <a:rPr lang="en-US" sz="2700" b="1" dirty="0">
                <a:solidFill>
                  <a:srgbClr val="2B2B2B"/>
                </a:solidFill>
                <a:latin typeface="Cambria" pitchFamily="34" charset="0"/>
                <a:ea typeface="Cambria" pitchFamily="34" charset="-122"/>
              </a:rPr>
              <a:t>Four Roles – Four Access Levels</a:t>
            </a:r>
            <a:endParaRPr lang="en-US" sz="2700" dirty="0"/>
          </a:p>
        </p:txBody>
      </p:sp>
      <p:sp>
        <p:nvSpPr>
          <p:cNvPr id="4" name="Shape 2"/>
          <p:cNvSpPr/>
          <p:nvPr/>
        </p:nvSpPr>
        <p:spPr>
          <a:xfrm>
            <a:off x="359975" y="1572768"/>
            <a:ext cx="2724912" cy="4288536"/>
          </a:xfrm>
          <a:prstGeom prst="roundRect">
            <a:avLst>
              <a:gd name="adj" fmla="val 3020"/>
            </a:avLst>
          </a:prstGeom>
          <a:solidFill>
            <a:srgbClr val="FFFFFF"/>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5" name="Shape 3"/>
          <p:cNvSpPr/>
          <p:nvPr/>
        </p:nvSpPr>
        <p:spPr>
          <a:xfrm>
            <a:off x="359975" y="1572768"/>
            <a:ext cx="2724912" cy="109728"/>
          </a:xfrm>
          <a:prstGeom prst="roundRect">
            <a:avLst/>
          </a:prstGeom>
          <a:solidFill>
            <a:srgbClr val="7A1E3E"/>
          </a:solidFill>
          <a:ln/>
        </p:spPr>
        <p:txBody>
          <a:bodyPr/>
          <a:lstStyle/>
          <a:p>
            <a:endParaRPr lang="en-ZA"/>
          </a:p>
        </p:txBody>
      </p:sp>
      <p:sp>
        <p:nvSpPr>
          <p:cNvPr id="6" name="Shape 4"/>
          <p:cNvSpPr/>
          <p:nvPr/>
        </p:nvSpPr>
        <p:spPr>
          <a:xfrm>
            <a:off x="478847" y="1865376"/>
            <a:ext cx="566928" cy="566928"/>
          </a:xfrm>
          <a:prstGeom prst="ellipse">
            <a:avLst/>
          </a:prstGeom>
          <a:solidFill>
            <a:srgbClr val="7A1E3E"/>
          </a:solidFill>
          <a:ln/>
        </p:spPr>
        <p:txBody>
          <a:bodyPr/>
          <a:lstStyle/>
          <a:p>
            <a:endParaRPr lang="en-ZA"/>
          </a:p>
        </p:txBody>
      </p:sp>
      <p:pic>
        <p:nvPicPr>
          <p:cNvPr id="7" name="Image 0" descr="/home/claude/deck/icons/gradcap_white.png"/>
          <p:cNvPicPr>
            <a:picLocks noChangeAspect="1"/>
          </p:cNvPicPr>
          <p:nvPr/>
        </p:nvPicPr>
        <p:blipFill>
          <a:blip r:embed="rId3"/>
          <a:stretch>
            <a:fillRect/>
          </a:stretch>
        </p:blipFill>
        <p:spPr>
          <a:xfrm>
            <a:off x="614910" y="2001439"/>
            <a:ext cx="294803" cy="294803"/>
          </a:xfrm>
          <a:prstGeom prst="rect">
            <a:avLst/>
          </a:prstGeom>
        </p:spPr>
      </p:pic>
      <p:sp>
        <p:nvSpPr>
          <p:cNvPr id="8" name="Text 5"/>
          <p:cNvSpPr/>
          <p:nvPr/>
        </p:nvSpPr>
        <p:spPr>
          <a:xfrm>
            <a:off x="460559" y="2688336"/>
            <a:ext cx="2359152" cy="786384"/>
          </a:xfrm>
          <a:prstGeom prst="rect">
            <a:avLst/>
          </a:prstGeom>
          <a:noFill/>
          <a:ln/>
        </p:spPr>
        <p:txBody>
          <a:bodyPr wrap="square" rtlCol="0" anchor="ctr"/>
          <a:lstStyle/>
          <a:p>
            <a:pPr marL="0" indent="0">
              <a:buNone/>
            </a:pPr>
            <a:r>
              <a:rPr lang="en-US" b="1" dirty="0">
                <a:solidFill>
                  <a:srgbClr val="2B2B2B"/>
                </a:solidFill>
                <a:latin typeface="Cambria" pitchFamily="34" charset="0"/>
                <a:ea typeface="Cambria" pitchFamily="34" charset="-122"/>
                <a:cs typeface="Cambria" pitchFamily="34" charset="-120"/>
              </a:rPr>
              <a:t>Student –</a:t>
            </a:r>
          </a:p>
          <a:p>
            <a:r>
              <a:rPr lang="en-ZA" sz="1600" i="1" dirty="0">
                <a:solidFill>
                  <a:srgbClr val="9CA3AF"/>
                </a:solidFill>
                <a:latin typeface="Segoe UI"/>
              </a:rPr>
              <a:t>Currently enrolled</a:t>
            </a:r>
          </a:p>
          <a:p>
            <a:pPr marL="0" indent="0">
              <a:buNone/>
            </a:pPr>
            <a:endParaRPr lang="en-US" b="1" dirty="0">
              <a:solidFill>
                <a:srgbClr val="2B2B2B"/>
              </a:solidFill>
              <a:latin typeface="Cambria" pitchFamily="34" charset="0"/>
              <a:ea typeface="Cambria" pitchFamily="34" charset="-122"/>
              <a:cs typeface="Cambria" pitchFamily="34" charset="-120"/>
            </a:endParaRPr>
          </a:p>
        </p:txBody>
      </p:sp>
      <p:sp>
        <p:nvSpPr>
          <p:cNvPr id="9" name="Text 6"/>
          <p:cNvSpPr/>
          <p:nvPr/>
        </p:nvSpPr>
        <p:spPr>
          <a:xfrm>
            <a:off x="460559" y="3429000"/>
            <a:ext cx="2322576" cy="978408"/>
          </a:xfrm>
          <a:prstGeom prst="rect">
            <a:avLst/>
          </a:prstGeom>
          <a:noFill/>
          <a:ln/>
        </p:spPr>
        <p:txBody>
          <a:bodyPr wrap="square" rtlCol="0" anchor="ctr"/>
          <a:lstStyle/>
          <a:p>
            <a:pPr marL="0" indent="0">
              <a:lnSpc>
                <a:spcPct val="122000"/>
              </a:lnSpc>
              <a:buNone/>
            </a:pPr>
            <a:r>
              <a:rPr lang="en-US" sz="1400" b="1" dirty="0">
                <a:solidFill>
                  <a:srgbClr val="6B6B6B"/>
                </a:solidFill>
                <a:latin typeface="Calibri" pitchFamily="34" charset="0"/>
                <a:ea typeface="Calibri" pitchFamily="34" charset="-122"/>
                <a:cs typeface="Calibri" pitchFamily="34" charset="-120"/>
              </a:rPr>
              <a:t>Authorized by-</a:t>
            </a:r>
          </a:p>
          <a:p>
            <a:pPr marL="0" indent="0">
              <a:lnSpc>
                <a:spcPct val="122000"/>
              </a:lnSpc>
              <a:buNone/>
            </a:pPr>
            <a:r>
              <a:rPr lang="en-US" sz="1400" dirty="0">
                <a:solidFill>
                  <a:srgbClr val="6B6B6B"/>
                </a:solidFill>
                <a:latin typeface="Calibri" pitchFamily="34" charset="0"/>
                <a:ea typeface="Calibri" pitchFamily="34" charset="-122"/>
                <a:cs typeface="Calibri" pitchFamily="34" charset="-120"/>
              </a:rPr>
              <a:t>A Richfield institutional email</a:t>
            </a:r>
            <a:endParaRPr lang="en-US" sz="1400" dirty="0"/>
          </a:p>
        </p:txBody>
      </p:sp>
      <p:sp>
        <p:nvSpPr>
          <p:cNvPr id="10" name="Shape 7"/>
          <p:cNvSpPr/>
          <p:nvPr/>
        </p:nvSpPr>
        <p:spPr>
          <a:xfrm>
            <a:off x="3185471" y="1617565"/>
            <a:ext cx="2724912" cy="4288536"/>
          </a:xfrm>
          <a:prstGeom prst="roundRect">
            <a:avLst>
              <a:gd name="adj" fmla="val 3020"/>
            </a:avLst>
          </a:prstGeom>
          <a:solidFill>
            <a:srgbClr val="FFFFFF"/>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11" name="Shape 8"/>
          <p:cNvSpPr/>
          <p:nvPr/>
        </p:nvSpPr>
        <p:spPr>
          <a:xfrm>
            <a:off x="3185471" y="1572768"/>
            <a:ext cx="2724912" cy="109728"/>
          </a:xfrm>
          <a:prstGeom prst="roundRect">
            <a:avLst/>
          </a:prstGeom>
          <a:solidFill>
            <a:srgbClr val="0E7C7B"/>
          </a:solidFill>
          <a:ln/>
        </p:spPr>
        <p:txBody>
          <a:bodyPr/>
          <a:lstStyle/>
          <a:p>
            <a:endParaRPr lang="en-ZA"/>
          </a:p>
        </p:txBody>
      </p:sp>
      <p:sp>
        <p:nvSpPr>
          <p:cNvPr id="12" name="Shape 9"/>
          <p:cNvSpPr/>
          <p:nvPr/>
        </p:nvSpPr>
        <p:spPr>
          <a:xfrm>
            <a:off x="3404927" y="1865376"/>
            <a:ext cx="566928" cy="566928"/>
          </a:xfrm>
          <a:prstGeom prst="ellipse">
            <a:avLst/>
          </a:prstGeom>
          <a:solidFill>
            <a:srgbClr val="0E7C7B"/>
          </a:solidFill>
          <a:ln/>
        </p:spPr>
        <p:txBody>
          <a:bodyPr/>
          <a:lstStyle/>
          <a:p>
            <a:endParaRPr lang="en-ZA"/>
          </a:p>
        </p:txBody>
      </p:sp>
      <p:pic>
        <p:nvPicPr>
          <p:cNvPr id="13" name="Image 1" descr="/home/claude/deck/icons/tie_white.png"/>
          <p:cNvPicPr>
            <a:picLocks noChangeAspect="1"/>
          </p:cNvPicPr>
          <p:nvPr/>
        </p:nvPicPr>
        <p:blipFill>
          <a:blip r:embed="rId4"/>
          <a:stretch>
            <a:fillRect/>
          </a:stretch>
        </p:blipFill>
        <p:spPr>
          <a:xfrm>
            <a:off x="3540990" y="2001439"/>
            <a:ext cx="294803" cy="294803"/>
          </a:xfrm>
          <a:prstGeom prst="rect">
            <a:avLst/>
          </a:prstGeom>
        </p:spPr>
      </p:pic>
      <p:sp>
        <p:nvSpPr>
          <p:cNvPr id="14" name="Text 10"/>
          <p:cNvSpPr/>
          <p:nvPr/>
        </p:nvSpPr>
        <p:spPr>
          <a:xfrm>
            <a:off x="3386639" y="2578608"/>
            <a:ext cx="2359152" cy="786384"/>
          </a:xfrm>
          <a:prstGeom prst="rect">
            <a:avLst/>
          </a:prstGeom>
          <a:noFill/>
          <a:ln/>
        </p:spPr>
        <p:txBody>
          <a:bodyPr wrap="square" rtlCol="0" anchor="ctr"/>
          <a:lstStyle/>
          <a:p>
            <a:pPr marL="0" indent="0">
              <a:buNone/>
            </a:pPr>
            <a:r>
              <a:rPr lang="en-US" b="1" dirty="0">
                <a:solidFill>
                  <a:srgbClr val="2B2B2B"/>
                </a:solidFill>
                <a:latin typeface="Cambria" pitchFamily="34" charset="0"/>
                <a:ea typeface="Cambria" pitchFamily="34" charset="-122"/>
                <a:cs typeface="Cambria" pitchFamily="34" charset="-120"/>
              </a:rPr>
              <a:t>Alumni – </a:t>
            </a:r>
          </a:p>
          <a:p>
            <a:r>
              <a:rPr lang="en-ZA" sz="1600" i="1" dirty="0">
                <a:solidFill>
                  <a:srgbClr val="9CA3AF"/>
                </a:solidFill>
                <a:latin typeface="Segoe UI"/>
              </a:rPr>
              <a:t>Richfield graduate</a:t>
            </a:r>
          </a:p>
        </p:txBody>
      </p:sp>
      <p:sp>
        <p:nvSpPr>
          <p:cNvPr id="15" name="Text 11"/>
          <p:cNvSpPr/>
          <p:nvPr/>
        </p:nvSpPr>
        <p:spPr>
          <a:xfrm>
            <a:off x="3386639" y="3474720"/>
            <a:ext cx="2322576" cy="956471"/>
          </a:xfrm>
          <a:prstGeom prst="rect">
            <a:avLst/>
          </a:prstGeom>
          <a:noFill/>
          <a:ln/>
        </p:spPr>
        <p:txBody>
          <a:bodyPr wrap="square" rtlCol="0" anchor="ctr"/>
          <a:lstStyle/>
          <a:p>
            <a:pPr marL="0" indent="0">
              <a:lnSpc>
                <a:spcPct val="122000"/>
              </a:lnSpc>
              <a:buNone/>
            </a:pPr>
            <a:r>
              <a:rPr lang="en-US" sz="1400" b="1" dirty="0">
                <a:solidFill>
                  <a:srgbClr val="6B6B6B"/>
                </a:solidFill>
                <a:latin typeface="Calibri" pitchFamily="34" charset="0"/>
                <a:ea typeface="Calibri" pitchFamily="34" charset="-122"/>
                <a:cs typeface="Calibri" pitchFamily="34" charset="-120"/>
              </a:rPr>
              <a:t>Authorized by</a:t>
            </a:r>
            <a:r>
              <a:rPr lang="en-US" sz="1400" dirty="0">
                <a:solidFill>
                  <a:srgbClr val="6B6B6B"/>
                </a:solidFill>
                <a:latin typeface="Calibri" pitchFamily="34" charset="0"/>
                <a:ea typeface="Calibri" pitchFamily="34" charset="-122"/>
                <a:cs typeface="Calibri" pitchFamily="34" charset="-120"/>
              </a:rPr>
              <a:t>-</a:t>
            </a:r>
          </a:p>
          <a:p>
            <a:pPr marL="0" indent="0">
              <a:lnSpc>
                <a:spcPct val="122000"/>
              </a:lnSpc>
              <a:buNone/>
            </a:pPr>
            <a:r>
              <a:rPr lang="en-US" sz="1400" dirty="0" err="1">
                <a:solidFill>
                  <a:srgbClr val="6B6B6B"/>
                </a:solidFill>
                <a:latin typeface="Calibri" pitchFamily="34" charset="0"/>
                <a:ea typeface="Calibri" pitchFamily="34" charset="-122"/>
                <a:cs typeface="Calibri" pitchFamily="34" charset="-120"/>
              </a:rPr>
              <a:t>TrackID</a:t>
            </a:r>
            <a:r>
              <a:rPr lang="en-US" sz="1400" dirty="0">
                <a:solidFill>
                  <a:srgbClr val="6B6B6B"/>
                </a:solidFill>
                <a:latin typeface="Calibri" pitchFamily="34" charset="0"/>
                <a:ea typeface="Calibri" pitchFamily="34" charset="-122"/>
                <a:cs typeface="Calibri" pitchFamily="34" charset="-120"/>
              </a:rPr>
              <a:t> on actual degree/certificate and being approved</a:t>
            </a:r>
          </a:p>
        </p:txBody>
      </p:sp>
      <p:sp>
        <p:nvSpPr>
          <p:cNvPr id="16" name="Shape 12"/>
          <p:cNvSpPr/>
          <p:nvPr/>
        </p:nvSpPr>
        <p:spPr>
          <a:xfrm>
            <a:off x="6111551" y="1617565"/>
            <a:ext cx="2724912" cy="4288536"/>
          </a:xfrm>
          <a:prstGeom prst="roundRect">
            <a:avLst>
              <a:gd name="adj" fmla="val 3020"/>
            </a:avLst>
          </a:prstGeom>
          <a:solidFill>
            <a:srgbClr val="FFFFFF"/>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17" name="Shape 13"/>
          <p:cNvSpPr/>
          <p:nvPr/>
        </p:nvSpPr>
        <p:spPr>
          <a:xfrm>
            <a:off x="6111551" y="1572768"/>
            <a:ext cx="2724912" cy="109728"/>
          </a:xfrm>
          <a:prstGeom prst="roundRect">
            <a:avLst/>
          </a:prstGeom>
          <a:solidFill>
            <a:srgbClr val="C77D22"/>
          </a:solidFill>
          <a:ln/>
        </p:spPr>
        <p:txBody>
          <a:bodyPr/>
          <a:lstStyle/>
          <a:p>
            <a:endParaRPr lang="en-ZA"/>
          </a:p>
        </p:txBody>
      </p:sp>
      <p:sp>
        <p:nvSpPr>
          <p:cNvPr id="18" name="Shape 14"/>
          <p:cNvSpPr/>
          <p:nvPr/>
        </p:nvSpPr>
        <p:spPr>
          <a:xfrm>
            <a:off x="6331007" y="1865376"/>
            <a:ext cx="566928" cy="566928"/>
          </a:xfrm>
          <a:prstGeom prst="ellipse">
            <a:avLst/>
          </a:prstGeom>
          <a:solidFill>
            <a:srgbClr val="C77D22"/>
          </a:solidFill>
          <a:ln/>
        </p:spPr>
        <p:txBody>
          <a:bodyPr/>
          <a:lstStyle/>
          <a:p>
            <a:endParaRPr lang="en-ZA"/>
          </a:p>
        </p:txBody>
      </p:sp>
      <p:pic>
        <p:nvPicPr>
          <p:cNvPr id="19" name="Image 2" descr="/home/claude/deck/icons/briefcase_white.png"/>
          <p:cNvPicPr>
            <a:picLocks noChangeAspect="1"/>
          </p:cNvPicPr>
          <p:nvPr/>
        </p:nvPicPr>
        <p:blipFill>
          <a:blip r:embed="rId5"/>
          <a:stretch>
            <a:fillRect/>
          </a:stretch>
        </p:blipFill>
        <p:spPr>
          <a:xfrm>
            <a:off x="6467070" y="2001439"/>
            <a:ext cx="294803" cy="294803"/>
          </a:xfrm>
          <a:prstGeom prst="rect">
            <a:avLst/>
          </a:prstGeom>
        </p:spPr>
      </p:pic>
      <p:sp>
        <p:nvSpPr>
          <p:cNvPr id="20" name="Text 15"/>
          <p:cNvSpPr/>
          <p:nvPr/>
        </p:nvSpPr>
        <p:spPr>
          <a:xfrm>
            <a:off x="6312719" y="2578608"/>
            <a:ext cx="2359152" cy="786384"/>
          </a:xfrm>
          <a:prstGeom prst="rect">
            <a:avLst/>
          </a:prstGeom>
          <a:noFill/>
          <a:ln/>
        </p:spPr>
        <p:txBody>
          <a:bodyPr wrap="square" rtlCol="0" anchor="ctr"/>
          <a:lstStyle/>
          <a:p>
            <a:pPr marL="0" indent="0">
              <a:buNone/>
            </a:pPr>
            <a:r>
              <a:rPr lang="en-US" b="1" dirty="0">
                <a:solidFill>
                  <a:srgbClr val="2B2B2B"/>
                </a:solidFill>
                <a:latin typeface="Cambria" pitchFamily="34" charset="0"/>
                <a:ea typeface="Cambria" pitchFamily="34" charset="-122"/>
                <a:cs typeface="Cambria" pitchFamily="34" charset="-120"/>
              </a:rPr>
              <a:t>Business – </a:t>
            </a:r>
          </a:p>
          <a:p>
            <a:r>
              <a:rPr lang="en-ZA" sz="1600" i="1" dirty="0">
                <a:solidFill>
                  <a:srgbClr val="9CA3AF"/>
                </a:solidFill>
                <a:latin typeface="Segoe UI"/>
              </a:rPr>
              <a:t>Verified recruiter</a:t>
            </a:r>
          </a:p>
        </p:txBody>
      </p:sp>
      <p:sp>
        <p:nvSpPr>
          <p:cNvPr id="21" name="Text 16"/>
          <p:cNvSpPr/>
          <p:nvPr/>
        </p:nvSpPr>
        <p:spPr>
          <a:xfrm>
            <a:off x="6312719" y="3474720"/>
            <a:ext cx="2322576" cy="956471"/>
          </a:xfrm>
          <a:prstGeom prst="rect">
            <a:avLst/>
          </a:prstGeom>
          <a:noFill/>
          <a:ln/>
        </p:spPr>
        <p:txBody>
          <a:bodyPr wrap="square" rtlCol="0" anchor="ctr"/>
          <a:lstStyle/>
          <a:p>
            <a:pPr marL="0" indent="0">
              <a:lnSpc>
                <a:spcPct val="122000"/>
              </a:lnSpc>
              <a:buNone/>
            </a:pPr>
            <a:r>
              <a:rPr lang="en-US" sz="1400" b="1" dirty="0">
                <a:solidFill>
                  <a:srgbClr val="6B6B6B"/>
                </a:solidFill>
                <a:latin typeface="Calibri" pitchFamily="34" charset="0"/>
                <a:ea typeface="Calibri" pitchFamily="34" charset="-122"/>
                <a:cs typeface="Calibri" pitchFamily="34" charset="-120"/>
              </a:rPr>
              <a:t>Authorized by</a:t>
            </a:r>
            <a:r>
              <a:rPr lang="en-US" sz="1400" dirty="0">
                <a:solidFill>
                  <a:srgbClr val="6B6B6B"/>
                </a:solidFill>
                <a:latin typeface="Calibri" pitchFamily="34" charset="0"/>
                <a:ea typeface="Calibri" pitchFamily="34" charset="-122"/>
                <a:cs typeface="Calibri" pitchFamily="34" charset="-120"/>
              </a:rPr>
              <a:t>- </a:t>
            </a:r>
          </a:p>
          <a:p>
            <a:pPr marL="0" indent="0">
              <a:lnSpc>
                <a:spcPct val="122000"/>
              </a:lnSpc>
              <a:buNone/>
            </a:pPr>
            <a:r>
              <a:rPr lang="en-US" sz="1400" dirty="0">
                <a:solidFill>
                  <a:srgbClr val="6B6B6B"/>
                </a:solidFill>
                <a:latin typeface="Calibri" pitchFamily="34" charset="0"/>
                <a:ea typeface="Calibri" pitchFamily="34" charset="-122"/>
                <a:cs typeface="Calibri" pitchFamily="34" charset="-120"/>
              </a:rPr>
              <a:t>Submitting a business registration number and being approved</a:t>
            </a:r>
          </a:p>
        </p:txBody>
      </p:sp>
      <p:sp>
        <p:nvSpPr>
          <p:cNvPr id="22" name="Shape 17"/>
          <p:cNvSpPr/>
          <p:nvPr/>
        </p:nvSpPr>
        <p:spPr>
          <a:xfrm>
            <a:off x="9033774" y="1612340"/>
            <a:ext cx="2724912" cy="4288536"/>
          </a:xfrm>
          <a:prstGeom prst="roundRect">
            <a:avLst>
              <a:gd name="adj" fmla="val 3020"/>
            </a:avLst>
          </a:prstGeom>
          <a:solidFill>
            <a:srgbClr val="FFFFFF"/>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23" name="Shape 18"/>
          <p:cNvSpPr/>
          <p:nvPr/>
        </p:nvSpPr>
        <p:spPr>
          <a:xfrm>
            <a:off x="9037631" y="1572768"/>
            <a:ext cx="2724912" cy="109728"/>
          </a:xfrm>
          <a:prstGeom prst="roundRect">
            <a:avLst/>
          </a:prstGeom>
          <a:solidFill>
            <a:srgbClr val="5B2C83"/>
          </a:solidFill>
          <a:ln/>
        </p:spPr>
        <p:txBody>
          <a:bodyPr/>
          <a:lstStyle/>
          <a:p>
            <a:endParaRPr lang="en-ZA"/>
          </a:p>
        </p:txBody>
      </p:sp>
      <p:sp>
        <p:nvSpPr>
          <p:cNvPr id="24" name="Shape 19"/>
          <p:cNvSpPr/>
          <p:nvPr/>
        </p:nvSpPr>
        <p:spPr>
          <a:xfrm>
            <a:off x="9257087" y="1865376"/>
            <a:ext cx="566928" cy="566928"/>
          </a:xfrm>
          <a:prstGeom prst="ellipse">
            <a:avLst/>
          </a:prstGeom>
          <a:solidFill>
            <a:srgbClr val="5B2C83"/>
          </a:solidFill>
          <a:ln/>
        </p:spPr>
        <p:txBody>
          <a:bodyPr/>
          <a:lstStyle/>
          <a:p>
            <a:endParaRPr lang="en-ZA"/>
          </a:p>
        </p:txBody>
      </p:sp>
      <p:pic>
        <p:nvPicPr>
          <p:cNvPr id="25" name="Image 3" descr="/home/claude/deck/icons/shieldUser_white.png"/>
          <p:cNvPicPr>
            <a:picLocks noChangeAspect="1"/>
          </p:cNvPicPr>
          <p:nvPr/>
        </p:nvPicPr>
        <p:blipFill>
          <a:blip r:embed="rId6"/>
          <a:stretch>
            <a:fillRect/>
          </a:stretch>
        </p:blipFill>
        <p:spPr>
          <a:xfrm>
            <a:off x="9393150" y="2001439"/>
            <a:ext cx="294803" cy="294803"/>
          </a:xfrm>
          <a:prstGeom prst="rect">
            <a:avLst/>
          </a:prstGeom>
        </p:spPr>
      </p:pic>
      <p:sp>
        <p:nvSpPr>
          <p:cNvPr id="26" name="Text 20"/>
          <p:cNvSpPr/>
          <p:nvPr/>
        </p:nvSpPr>
        <p:spPr>
          <a:xfrm>
            <a:off x="9238799" y="2578608"/>
            <a:ext cx="2359152" cy="786384"/>
          </a:xfrm>
          <a:prstGeom prst="rect">
            <a:avLst/>
          </a:prstGeom>
          <a:noFill/>
          <a:ln/>
        </p:spPr>
        <p:txBody>
          <a:bodyPr wrap="square" rtlCol="0" anchor="ctr"/>
          <a:lstStyle/>
          <a:p>
            <a:pPr marL="0" indent="0">
              <a:buNone/>
            </a:pPr>
            <a:r>
              <a:rPr lang="en-US" b="1" dirty="0">
                <a:solidFill>
                  <a:srgbClr val="2B2B2B"/>
                </a:solidFill>
                <a:latin typeface="Cambria" pitchFamily="34" charset="0"/>
                <a:ea typeface="Cambria" pitchFamily="34" charset="-122"/>
                <a:cs typeface="Cambria" pitchFamily="34" charset="-120"/>
              </a:rPr>
              <a:t>Administrator – </a:t>
            </a:r>
          </a:p>
          <a:p>
            <a:r>
              <a:rPr lang="en-ZA" sz="1600" i="1" dirty="0">
                <a:solidFill>
                  <a:srgbClr val="9CA3AF"/>
                </a:solidFill>
                <a:latin typeface="Segoe UI"/>
              </a:rPr>
              <a:t>Richfield staff</a:t>
            </a:r>
          </a:p>
        </p:txBody>
      </p:sp>
      <p:sp>
        <p:nvSpPr>
          <p:cNvPr id="27" name="Text 21"/>
          <p:cNvSpPr/>
          <p:nvPr/>
        </p:nvSpPr>
        <p:spPr>
          <a:xfrm>
            <a:off x="9238799" y="3474720"/>
            <a:ext cx="2322576" cy="956471"/>
          </a:xfrm>
          <a:prstGeom prst="rect">
            <a:avLst/>
          </a:prstGeom>
          <a:noFill/>
          <a:ln/>
        </p:spPr>
        <p:txBody>
          <a:bodyPr wrap="square" rtlCol="0" anchor="ctr"/>
          <a:lstStyle/>
          <a:p>
            <a:pPr marL="0" indent="0">
              <a:lnSpc>
                <a:spcPct val="122000"/>
              </a:lnSpc>
              <a:buNone/>
            </a:pPr>
            <a:r>
              <a:rPr lang="en-US" sz="1400" b="1" dirty="0">
                <a:solidFill>
                  <a:srgbClr val="6B6B6B"/>
                </a:solidFill>
                <a:latin typeface="Calibri" pitchFamily="34" charset="0"/>
                <a:ea typeface="Calibri" pitchFamily="34" charset="-122"/>
                <a:cs typeface="Calibri" pitchFamily="34" charset="-120"/>
              </a:rPr>
              <a:t>Authorized by-</a:t>
            </a:r>
          </a:p>
          <a:p>
            <a:pPr marL="0" indent="0">
              <a:lnSpc>
                <a:spcPct val="122000"/>
              </a:lnSpc>
              <a:buNone/>
            </a:pPr>
            <a:r>
              <a:rPr lang="en-US" sz="1400" dirty="0">
                <a:solidFill>
                  <a:srgbClr val="6B6B6B"/>
                </a:solidFill>
                <a:latin typeface="Calibri" pitchFamily="34" charset="0"/>
                <a:ea typeface="Calibri" pitchFamily="34" charset="-122"/>
                <a:cs typeface="Calibri" pitchFamily="34" charset="-120"/>
              </a:rPr>
              <a:t>A service-role script, never self-registered</a:t>
            </a:r>
            <a:endParaRPr lang="en-US" sz="1400" dirty="0"/>
          </a:p>
        </p:txBody>
      </p:sp>
      <p:sp>
        <p:nvSpPr>
          <p:cNvPr id="30" name="Text 24"/>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Richfield Connect · Hackathon 2026</a:t>
            </a:r>
            <a:endParaRPr lang="en-US" sz="900" dirty="0"/>
          </a:p>
        </p:txBody>
      </p:sp>
      <p:sp>
        <p:nvSpPr>
          <p:cNvPr id="34" name="Text 6">
            <a:extLst>
              <a:ext uri="{FF2B5EF4-FFF2-40B4-BE49-F238E27FC236}">
                <a16:creationId xmlns:a16="http://schemas.microsoft.com/office/drawing/2014/main" id="{1F138E85-F218-9D0F-06D9-12CF72BCB59A}"/>
              </a:ext>
            </a:extLst>
          </p:cNvPr>
          <p:cNvSpPr/>
          <p:nvPr/>
        </p:nvSpPr>
        <p:spPr>
          <a:xfrm>
            <a:off x="478847" y="4359995"/>
            <a:ext cx="2322576" cy="1253052"/>
          </a:xfrm>
          <a:prstGeom prst="rect">
            <a:avLst/>
          </a:prstGeom>
          <a:noFill/>
          <a:ln/>
        </p:spPr>
        <p:txBody>
          <a:bodyPr wrap="square" rtlCol="0" anchor="ctr"/>
          <a:lstStyle/>
          <a:p>
            <a:pPr marL="0" indent="0">
              <a:lnSpc>
                <a:spcPct val="122000"/>
              </a:lnSpc>
              <a:buNone/>
            </a:pPr>
            <a:r>
              <a:rPr lang="en-US" sz="1400" b="1" dirty="0">
                <a:solidFill>
                  <a:srgbClr val="6B6B6B"/>
                </a:solidFill>
                <a:latin typeface="Calibri" pitchFamily="34" charset="0"/>
                <a:ea typeface="Calibri" pitchFamily="34" charset="-122"/>
                <a:cs typeface="Calibri" pitchFamily="34" charset="-120"/>
              </a:rPr>
              <a:t>Access</a:t>
            </a:r>
            <a:r>
              <a:rPr lang="en-US" sz="1400" dirty="0">
                <a:solidFill>
                  <a:srgbClr val="6B6B6B"/>
                </a:solidFill>
                <a:latin typeface="Calibri" pitchFamily="34" charset="0"/>
                <a:ea typeface="Calibri" pitchFamily="34" charset="-122"/>
                <a:cs typeface="Calibri" pitchFamily="34" charset="-120"/>
              </a:rPr>
              <a:t>- </a:t>
            </a:r>
          </a:p>
          <a:p>
            <a:pPr marL="0" indent="0">
              <a:lnSpc>
                <a:spcPct val="122000"/>
              </a:lnSpc>
              <a:buNone/>
            </a:pPr>
            <a:r>
              <a:rPr lang="en-US" sz="1400" dirty="0">
                <a:solidFill>
                  <a:srgbClr val="6B6B6B"/>
                </a:solidFill>
                <a:latin typeface="Calibri" pitchFamily="34" charset="0"/>
                <a:ea typeface="Calibri" pitchFamily="34" charset="-122"/>
                <a:cs typeface="Calibri" pitchFamily="34" charset="-120"/>
              </a:rPr>
              <a:t>Feed, portfolio, jobs, messaging, connections</a:t>
            </a:r>
            <a:endParaRPr lang="en-US" sz="1400" dirty="0"/>
          </a:p>
        </p:txBody>
      </p:sp>
      <p:sp>
        <p:nvSpPr>
          <p:cNvPr id="36" name="Text 11">
            <a:extLst>
              <a:ext uri="{FF2B5EF4-FFF2-40B4-BE49-F238E27FC236}">
                <a16:creationId xmlns:a16="http://schemas.microsoft.com/office/drawing/2014/main" id="{89C83A9B-9306-BF23-BCA2-B403AD50C11A}"/>
              </a:ext>
            </a:extLst>
          </p:cNvPr>
          <p:cNvSpPr/>
          <p:nvPr/>
        </p:nvSpPr>
        <p:spPr>
          <a:xfrm>
            <a:off x="3382782" y="4405715"/>
            <a:ext cx="2322576" cy="1224957"/>
          </a:xfrm>
          <a:prstGeom prst="rect">
            <a:avLst/>
          </a:prstGeom>
          <a:noFill/>
          <a:ln/>
        </p:spPr>
        <p:txBody>
          <a:bodyPr wrap="square" rtlCol="0" anchor="ctr"/>
          <a:lstStyle/>
          <a:p>
            <a:pPr marL="0" indent="0">
              <a:lnSpc>
                <a:spcPct val="122000"/>
              </a:lnSpc>
              <a:buNone/>
            </a:pPr>
            <a:r>
              <a:rPr lang="en-US" sz="1400" b="1" dirty="0">
                <a:solidFill>
                  <a:srgbClr val="6B6B6B"/>
                </a:solidFill>
                <a:latin typeface="Calibri" pitchFamily="34" charset="0"/>
                <a:ea typeface="Calibri" pitchFamily="34" charset="-122"/>
                <a:cs typeface="Calibri" pitchFamily="34" charset="-120"/>
              </a:rPr>
              <a:t>Access</a:t>
            </a:r>
            <a:r>
              <a:rPr lang="en-US" sz="1400" dirty="0">
                <a:solidFill>
                  <a:srgbClr val="6B6B6B"/>
                </a:solidFill>
                <a:latin typeface="Calibri" pitchFamily="34" charset="0"/>
                <a:ea typeface="Calibri" pitchFamily="34" charset="-122"/>
                <a:cs typeface="Calibri" pitchFamily="34" charset="-120"/>
              </a:rPr>
              <a:t>-</a:t>
            </a:r>
          </a:p>
          <a:p>
            <a:pPr marL="0" indent="0">
              <a:lnSpc>
                <a:spcPct val="122000"/>
              </a:lnSpc>
              <a:buNone/>
            </a:pPr>
            <a:r>
              <a:rPr lang="en-US" sz="1400" dirty="0">
                <a:solidFill>
                  <a:srgbClr val="6B6B6B"/>
                </a:solidFill>
                <a:latin typeface="Calibri" pitchFamily="34" charset="0"/>
                <a:ea typeface="Calibri" pitchFamily="34" charset="-122"/>
                <a:cs typeface="Calibri" pitchFamily="34" charset="-120"/>
              </a:rPr>
              <a:t>Same as students with + career-pathway/mentorship relevant sections</a:t>
            </a:r>
          </a:p>
        </p:txBody>
      </p:sp>
      <p:sp>
        <p:nvSpPr>
          <p:cNvPr id="38" name="Text 16">
            <a:extLst>
              <a:ext uri="{FF2B5EF4-FFF2-40B4-BE49-F238E27FC236}">
                <a16:creationId xmlns:a16="http://schemas.microsoft.com/office/drawing/2014/main" id="{E4FB343E-22E3-DB72-926A-8E4AEB294BC1}"/>
              </a:ext>
            </a:extLst>
          </p:cNvPr>
          <p:cNvSpPr/>
          <p:nvPr/>
        </p:nvSpPr>
        <p:spPr>
          <a:xfrm>
            <a:off x="6290574" y="4674201"/>
            <a:ext cx="2322576" cy="956471"/>
          </a:xfrm>
          <a:prstGeom prst="rect">
            <a:avLst/>
          </a:prstGeom>
          <a:noFill/>
          <a:ln/>
        </p:spPr>
        <p:txBody>
          <a:bodyPr wrap="square" rtlCol="0" anchor="ctr"/>
          <a:lstStyle/>
          <a:p>
            <a:pPr marL="0" indent="0">
              <a:lnSpc>
                <a:spcPct val="122000"/>
              </a:lnSpc>
              <a:buNone/>
            </a:pPr>
            <a:r>
              <a:rPr lang="en-US" sz="1400" b="1" dirty="0">
                <a:solidFill>
                  <a:srgbClr val="6B6B6B"/>
                </a:solidFill>
                <a:latin typeface="Calibri" pitchFamily="34" charset="0"/>
                <a:ea typeface="Calibri" pitchFamily="34" charset="-122"/>
                <a:cs typeface="Calibri" pitchFamily="34" charset="-120"/>
              </a:rPr>
              <a:t>Access</a:t>
            </a:r>
            <a:r>
              <a:rPr lang="en-US" sz="1400" dirty="0">
                <a:solidFill>
                  <a:srgbClr val="6B6B6B"/>
                </a:solidFill>
                <a:latin typeface="Calibri" pitchFamily="34" charset="0"/>
                <a:ea typeface="Calibri" pitchFamily="34" charset="-122"/>
                <a:cs typeface="Calibri" pitchFamily="34" charset="-120"/>
              </a:rPr>
              <a:t>-</a:t>
            </a:r>
          </a:p>
          <a:p>
            <a:pPr marL="0" indent="0">
              <a:lnSpc>
                <a:spcPct val="122000"/>
              </a:lnSpc>
              <a:buNone/>
            </a:pPr>
            <a:r>
              <a:rPr lang="en-US" sz="1400" dirty="0">
                <a:solidFill>
                  <a:srgbClr val="6B6B6B"/>
                </a:solidFill>
                <a:latin typeface="Calibri" pitchFamily="34" charset="0"/>
                <a:ea typeface="Calibri" pitchFamily="34" charset="-122"/>
                <a:cs typeface="Calibri" pitchFamily="34" charset="-120"/>
              </a:rPr>
              <a:t>Can post &amp; manage job listings, view job applications, analytics for their own listings </a:t>
            </a:r>
          </a:p>
        </p:txBody>
      </p:sp>
      <p:sp>
        <p:nvSpPr>
          <p:cNvPr id="40" name="Text 21">
            <a:extLst>
              <a:ext uri="{FF2B5EF4-FFF2-40B4-BE49-F238E27FC236}">
                <a16:creationId xmlns:a16="http://schemas.microsoft.com/office/drawing/2014/main" id="{4E7F94BC-42F1-1A90-E834-39A72F60065A}"/>
              </a:ext>
            </a:extLst>
          </p:cNvPr>
          <p:cNvSpPr/>
          <p:nvPr/>
        </p:nvSpPr>
        <p:spPr>
          <a:xfrm>
            <a:off x="9198366" y="4431191"/>
            <a:ext cx="2322576" cy="1199481"/>
          </a:xfrm>
          <a:prstGeom prst="rect">
            <a:avLst/>
          </a:prstGeom>
          <a:noFill/>
          <a:ln/>
        </p:spPr>
        <p:txBody>
          <a:bodyPr wrap="square" rtlCol="0" anchor="ctr"/>
          <a:lstStyle/>
          <a:p>
            <a:pPr marL="0" indent="0">
              <a:lnSpc>
                <a:spcPct val="122000"/>
              </a:lnSpc>
              <a:buNone/>
            </a:pPr>
            <a:r>
              <a:rPr lang="en-US" sz="1400" b="1" dirty="0">
                <a:solidFill>
                  <a:srgbClr val="6B6B6B"/>
                </a:solidFill>
                <a:latin typeface="Calibri" pitchFamily="34" charset="0"/>
                <a:ea typeface="Calibri" pitchFamily="34" charset="-122"/>
                <a:cs typeface="Calibri" pitchFamily="34" charset="-120"/>
              </a:rPr>
              <a:t>Access</a:t>
            </a:r>
            <a:r>
              <a:rPr lang="en-US" sz="1400" dirty="0">
                <a:solidFill>
                  <a:srgbClr val="6B6B6B"/>
                </a:solidFill>
                <a:latin typeface="Calibri" pitchFamily="34" charset="0"/>
                <a:ea typeface="Calibri" pitchFamily="34" charset="-122"/>
                <a:cs typeface="Calibri" pitchFamily="34" charset="-120"/>
              </a:rPr>
              <a:t>-</a:t>
            </a:r>
          </a:p>
          <a:p>
            <a:pPr marL="0" indent="0">
              <a:lnSpc>
                <a:spcPct val="122000"/>
              </a:lnSpc>
              <a:buNone/>
            </a:pPr>
            <a:r>
              <a:rPr lang="en-US" sz="1400" dirty="0">
                <a:solidFill>
                  <a:srgbClr val="6B6B6B"/>
                </a:solidFill>
                <a:latin typeface="Calibri" pitchFamily="34" charset="0"/>
                <a:ea typeface="Calibri" pitchFamily="34" charset="-122"/>
                <a:cs typeface="Calibri" pitchFamily="34" charset="-120"/>
              </a:rPr>
              <a:t>User/content moderation, events publishing, platform analytics.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AUTH DESIGN, PART 1</a:t>
            </a:r>
            <a:endParaRPr lang="en-US" sz="1250" dirty="0"/>
          </a:p>
        </p:txBody>
      </p:sp>
      <p:sp>
        <p:nvSpPr>
          <p:cNvPr id="3" name="Text 1"/>
          <p:cNvSpPr/>
          <p:nvPr/>
        </p:nvSpPr>
        <p:spPr>
          <a:xfrm>
            <a:off x="548640" y="603504"/>
            <a:ext cx="11064240" cy="685800"/>
          </a:xfrm>
          <a:prstGeom prst="rect">
            <a:avLst/>
          </a:prstGeom>
          <a:noFill/>
          <a:ln/>
        </p:spPr>
        <p:txBody>
          <a:bodyPr wrap="square" rtlCol="0" anchor="ctr"/>
          <a:lstStyle/>
          <a:p>
            <a:pPr marL="0" indent="0">
              <a:buNone/>
            </a:pPr>
            <a:r>
              <a:rPr lang="en-US" sz="2700" b="1" dirty="0">
                <a:solidFill>
                  <a:srgbClr val="2B2B2B"/>
                </a:solidFill>
                <a:latin typeface="Cambria" pitchFamily="34" charset="0"/>
                <a:ea typeface="Cambria" pitchFamily="34" charset="-122"/>
                <a:cs typeface="Cambria" pitchFamily="34" charset="-120"/>
              </a:rPr>
              <a:t>Authentication — Student &amp; Alumni</a:t>
            </a:r>
            <a:endParaRPr lang="en-US" sz="2700" dirty="0"/>
          </a:p>
        </p:txBody>
      </p:sp>
      <p:sp>
        <p:nvSpPr>
          <p:cNvPr id="4" name="Shape 2"/>
          <p:cNvSpPr/>
          <p:nvPr/>
        </p:nvSpPr>
        <p:spPr>
          <a:xfrm>
            <a:off x="521208" y="1581203"/>
            <a:ext cx="5440680" cy="4343400"/>
          </a:xfrm>
          <a:prstGeom prst="roundRect">
            <a:avLst>
              <a:gd name="adj" fmla="val 1895"/>
            </a:avLst>
          </a:prstGeom>
          <a:solidFill>
            <a:srgbClr val="FFFFFF"/>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5" name="Shape 3"/>
          <p:cNvSpPr/>
          <p:nvPr/>
        </p:nvSpPr>
        <p:spPr>
          <a:xfrm>
            <a:off x="841248" y="1856232"/>
            <a:ext cx="502920" cy="502920"/>
          </a:xfrm>
          <a:prstGeom prst="ellipse">
            <a:avLst/>
          </a:prstGeom>
          <a:solidFill>
            <a:srgbClr val="7A1E3E"/>
          </a:solidFill>
          <a:ln/>
        </p:spPr>
        <p:txBody>
          <a:bodyPr/>
          <a:lstStyle/>
          <a:p>
            <a:endParaRPr lang="en-ZA"/>
          </a:p>
        </p:txBody>
      </p:sp>
      <p:pic>
        <p:nvPicPr>
          <p:cNvPr id="6" name="Image 0" descr="/home/claude/deck/icons/gradcap_white.png"/>
          <p:cNvPicPr>
            <a:picLocks noChangeAspect="1"/>
          </p:cNvPicPr>
          <p:nvPr/>
        </p:nvPicPr>
        <p:blipFill>
          <a:blip r:embed="rId3"/>
          <a:stretch>
            <a:fillRect/>
          </a:stretch>
        </p:blipFill>
        <p:spPr>
          <a:xfrm>
            <a:off x="961949" y="1976933"/>
            <a:ext cx="261518" cy="261518"/>
          </a:xfrm>
          <a:prstGeom prst="rect">
            <a:avLst/>
          </a:prstGeom>
        </p:spPr>
      </p:pic>
      <p:sp>
        <p:nvSpPr>
          <p:cNvPr id="7" name="Text 4"/>
          <p:cNvSpPr/>
          <p:nvPr/>
        </p:nvSpPr>
        <p:spPr>
          <a:xfrm>
            <a:off x="1463040" y="1892808"/>
            <a:ext cx="3657600" cy="457200"/>
          </a:xfrm>
          <a:prstGeom prst="rect">
            <a:avLst/>
          </a:prstGeom>
          <a:noFill/>
          <a:ln/>
        </p:spPr>
        <p:txBody>
          <a:bodyPr wrap="square" rtlCol="0" anchor="ctr"/>
          <a:lstStyle/>
          <a:p>
            <a:pPr marL="0" indent="0">
              <a:buNone/>
            </a:pPr>
            <a:r>
              <a:rPr lang="en-US" sz="1700" b="1" dirty="0">
                <a:solidFill>
                  <a:srgbClr val="2B2B2B"/>
                </a:solidFill>
                <a:latin typeface="Cambria" pitchFamily="34" charset="0"/>
                <a:ea typeface="Cambria" pitchFamily="34" charset="-122"/>
                <a:cs typeface="Cambria" pitchFamily="34" charset="-120"/>
              </a:rPr>
              <a:t>Student</a:t>
            </a:r>
            <a:endParaRPr lang="en-US" sz="1700" dirty="0"/>
          </a:p>
        </p:txBody>
      </p:sp>
      <p:sp>
        <p:nvSpPr>
          <p:cNvPr id="8" name="Text 5"/>
          <p:cNvSpPr/>
          <p:nvPr/>
        </p:nvSpPr>
        <p:spPr>
          <a:xfrm>
            <a:off x="1463040" y="2258568"/>
            <a:ext cx="4206240" cy="274320"/>
          </a:xfrm>
          <a:prstGeom prst="rect">
            <a:avLst/>
          </a:prstGeom>
          <a:noFill/>
          <a:ln/>
        </p:spPr>
        <p:txBody>
          <a:bodyPr wrap="square" rtlCol="0" anchor="ctr"/>
          <a:lstStyle/>
          <a:p>
            <a:pPr marL="0" indent="0">
              <a:buNone/>
            </a:pPr>
            <a:r>
              <a:rPr lang="en-US" sz="1050" i="1" dirty="0">
                <a:solidFill>
                  <a:srgbClr val="6B6B6B"/>
                </a:solidFill>
                <a:latin typeface="Calibri" pitchFamily="34" charset="0"/>
                <a:ea typeface="Calibri" pitchFamily="34" charset="-122"/>
                <a:cs typeface="Calibri" pitchFamily="34" charset="-120"/>
              </a:rPr>
              <a:t>Domain-restricted self-registration</a:t>
            </a:r>
            <a:endParaRPr lang="en-US" sz="1050" dirty="0"/>
          </a:p>
        </p:txBody>
      </p:sp>
      <p:sp>
        <p:nvSpPr>
          <p:cNvPr id="10" name="Text 7"/>
          <p:cNvSpPr/>
          <p:nvPr/>
        </p:nvSpPr>
        <p:spPr>
          <a:xfrm>
            <a:off x="1024128" y="2678483"/>
            <a:ext cx="4754880" cy="914400"/>
          </a:xfrm>
          <a:prstGeom prst="rect">
            <a:avLst/>
          </a:prstGeom>
          <a:noFill/>
          <a:ln/>
        </p:spPr>
        <p:txBody>
          <a:bodyPr wrap="square" rtlCol="0" anchor="t"/>
          <a:lstStyle/>
          <a:p>
            <a:pPr marL="171450" indent="-171450">
              <a:lnSpc>
                <a:spcPct val="120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Registration is restricted to @my.richfield.ac.za, @richfield.ac.za, @my.aaa.ac.za or @aaa.ac.za — enforced by handle_new_user() in the database, so it cannot be bypassed by editing the app.</a:t>
            </a:r>
            <a:endParaRPr lang="en-US" sz="1600" dirty="0"/>
          </a:p>
        </p:txBody>
      </p:sp>
      <p:sp>
        <p:nvSpPr>
          <p:cNvPr id="15" name="Shape 12"/>
          <p:cNvSpPr/>
          <p:nvPr/>
        </p:nvSpPr>
        <p:spPr>
          <a:xfrm>
            <a:off x="6234219" y="1572768"/>
            <a:ext cx="5440680" cy="4343400"/>
          </a:xfrm>
          <a:prstGeom prst="roundRect">
            <a:avLst>
              <a:gd name="adj" fmla="val 1895"/>
            </a:avLst>
          </a:prstGeom>
          <a:solidFill>
            <a:srgbClr val="FFFFFF"/>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16" name="Shape 13"/>
          <p:cNvSpPr/>
          <p:nvPr/>
        </p:nvSpPr>
        <p:spPr>
          <a:xfrm>
            <a:off x="6492240" y="1856232"/>
            <a:ext cx="502920" cy="502920"/>
          </a:xfrm>
          <a:prstGeom prst="ellipse">
            <a:avLst/>
          </a:prstGeom>
          <a:solidFill>
            <a:srgbClr val="0E7C7B"/>
          </a:solidFill>
          <a:ln/>
        </p:spPr>
        <p:txBody>
          <a:bodyPr/>
          <a:lstStyle/>
          <a:p>
            <a:endParaRPr lang="en-ZA"/>
          </a:p>
        </p:txBody>
      </p:sp>
      <p:pic>
        <p:nvPicPr>
          <p:cNvPr id="17" name="Image 1" descr="/home/claude/deck/icons/tie_white.png"/>
          <p:cNvPicPr>
            <a:picLocks noChangeAspect="1"/>
          </p:cNvPicPr>
          <p:nvPr/>
        </p:nvPicPr>
        <p:blipFill>
          <a:blip r:embed="rId4"/>
          <a:stretch>
            <a:fillRect/>
          </a:stretch>
        </p:blipFill>
        <p:spPr>
          <a:xfrm>
            <a:off x="6612941" y="1976933"/>
            <a:ext cx="261518" cy="261518"/>
          </a:xfrm>
          <a:prstGeom prst="rect">
            <a:avLst/>
          </a:prstGeom>
        </p:spPr>
      </p:pic>
      <p:sp>
        <p:nvSpPr>
          <p:cNvPr id="18" name="Text 14"/>
          <p:cNvSpPr/>
          <p:nvPr/>
        </p:nvSpPr>
        <p:spPr>
          <a:xfrm>
            <a:off x="7114032" y="1892808"/>
            <a:ext cx="3657600" cy="457200"/>
          </a:xfrm>
          <a:prstGeom prst="rect">
            <a:avLst/>
          </a:prstGeom>
          <a:noFill/>
          <a:ln/>
        </p:spPr>
        <p:txBody>
          <a:bodyPr wrap="square" rtlCol="0" anchor="ctr"/>
          <a:lstStyle/>
          <a:p>
            <a:pPr marL="0" indent="0">
              <a:buNone/>
            </a:pPr>
            <a:r>
              <a:rPr lang="en-US" sz="1700" b="1" dirty="0">
                <a:solidFill>
                  <a:srgbClr val="2B2B2B"/>
                </a:solidFill>
                <a:latin typeface="Cambria" pitchFamily="34" charset="0"/>
                <a:ea typeface="Cambria" pitchFamily="34" charset="-122"/>
                <a:cs typeface="Cambria" pitchFamily="34" charset="-120"/>
              </a:rPr>
              <a:t>Alumni</a:t>
            </a:r>
            <a:endParaRPr lang="en-US" sz="1700" dirty="0"/>
          </a:p>
        </p:txBody>
      </p:sp>
      <p:sp>
        <p:nvSpPr>
          <p:cNvPr id="19" name="Text 15"/>
          <p:cNvSpPr/>
          <p:nvPr/>
        </p:nvSpPr>
        <p:spPr>
          <a:xfrm>
            <a:off x="7114032" y="2258568"/>
            <a:ext cx="4297680" cy="274320"/>
          </a:xfrm>
          <a:prstGeom prst="rect">
            <a:avLst/>
          </a:prstGeom>
          <a:noFill/>
          <a:ln/>
        </p:spPr>
        <p:txBody>
          <a:bodyPr wrap="square" rtlCol="0" anchor="ctr"/>
          <a:lstStyle/>
          <a:p>
            <a:pPr marL="0" indent="0">
              <a:buNone/>
            </a:pPr>
            <a:r>
              <a:rPr lang="en-US" sz="1050" i="1" dirty="0">
                <a:solidFill>
                  <a:srgbClr val="6B6B6B"/>
                </a:solidFill>
                <a:latin typeface="Calibri" pitchFamily="34" charset="0"/>
                <a:ea typeface="Calibri" pitchFamily="34" charset="-122"/>
                <a:cs typeface="Calibri" pitchFamily="34" charset="-120"/>
              </a:rPr>
              <a:t>The deliberate design challenge — solved</a:t>
            </a:r>
            <a:endParaRPr lang="en-US" sz="1050" dirty="0"/>
          </a:p>
        </p:txBody>
      </p:sp>
      <p:sp>
        <p:nvSpPr>
          <p:cNvPr id="23" name="Text 19"/>
          <p:cNvSpPr/>
          <p:nvPr/>
        </p:nvSpPr>
        <p:spPr>
          <a:xfrm>
            <a:off x="6743700" y="2695129"/>
            <a:ext cx="4800600" cy="1629984"/>
          </a:xfrm>
          <a:prstGeom prst="rect">
            <a:avLst/>
          </a:prstGeom>
          <a:noFill/>
          <a:ln/>
        </p:spPr>
        <p:txBody>
          <a:bodyPr wrap="square" rtlCol="0" anchor="t"/>
          <a:lstStyle/>
          <a:p>
            <a:pPr marL="171450" indent="-171450">
              <a:lnSpc>
                <a:spcPct val="120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Submits student number, </a:t>
            </a:r>
            <a:r>
              <a:rPr lang="en-US" sz="1600" dirty="0" err="1">
                <a:solidFill>
                  <a:srgbClr val="2B2B2B"/>
                </a:solidFill>
                <a:latin typeface="Calibri" pitchFamily="34" charset="0"/>
                <a:ea typeface="Calibri" pitchFamily="34" charset="-122"/>
                <a:cs typeface="Calibri" pitchFamily="34" charset="-120"/>
              </a:rPr>
              <a:t>TrackID</a:t>
            </a:r>
            <a:r>
              <a:rPr lang="en-US" sz="1600" dirty="0">
                <a:solidFill>
                  <a:srgbClr val="2B2B2B"/>
                </a:solidFill>
                <a:latin typeface="Calibri" pitchFamily="34" charset="0"/>
                <a:ea typeface="Calibri" pitchFamily="34" charset="-122"/>
                <a:cs typeface="Calibri" pitchFamily="34" charset="-120"/>
              </a:rPr>
              <a:t> on degree/certificate, &amp; optionally supporting documents during sign-up.</a:t>
            </a:r>
          </a:p>
          <a:p>
            <a:pPr marL="171450" indent="-171450">
              <a:lnSpc>
                <a:spcPct val="120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Admin reviews this on web dashboard and reviews attachments and </a:t>
            </a:r>
            <a:r>
              <a:rPr lang="en-US" sz="1600" dirty="0" err="1">
                <a:solidFill>
                  <a:srgbClr val="2B2B2B"/>
                </a:solidFill>
                <a:latin typeface="Calibri" pitchFamily="34" charset="0"/>
                <a:ea typeface="Calibri" pitchFamily="34" charset="-122"/>
                <a:cs typeface="Calibri" pitchFamily="34" charset="-120"/>
              </a:rPr>
              <a:t>TrackID</a:t>
            </a:r>
            <a:r>
              <a:rPr lang="en-US" sz="1600" dirty="0">
                <a:solidFill>
                  <a:srgbClr val="2B2B2B"/>
                </a:solidFill>
                <a:latin typeface="Calibri" pitchFamily="34" charset="0"/>
                <a:ea typeface="Calibri" pitchFamily="34" charset="-122"/>
                <a:cs typeface="Calibri" pitchFamily="34" charset="-120"/>
              </a:rPr>
              <a:t>.</a:t>
            </a:r>
          </a:p>
          <a:p>
            <a:pPr marL="171450" indent="-171450">
              <a:lnSpc>
                <a:spcPct val="120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Admin then approves or denies verification.</a:t>
            </a:r>
          </a:p>
          <a:p>
            <a:pPr marL="171450" indent="-171450">
              <a:lnSpc>
                <a:spcPct val="120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If approved, user will be able to access app as an alumni</a:t>
            </a:r>
          </a:p>
        </p:txBody>
      </p:sp>
      <p:sp>
        <p:nvSpPr>
          <p:cNvPr id="26" name="Text 22"/>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Richfield Connect · Hackathon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AUTH DESIGN, PART 2</a:t>
            </a:r>
            <a:endParaRPr lang="en-US" sz="1250" dirty="0"/>
          </a:p>
        </p:txBody>
      </p:sp>
      <p:sp>
        <p:nvSpPr>
          <p:cNvPr id="3" name="Text 1"/>
          <p:cNvSpPr/>
          <p:nvPr/>
        </p:nvSpPr>
        <p:spPr>
          <a:xfrm>
            <a:off x="548640" y="603504"/>
            <a:ext cx="11064240" cy="685800"/>
          </a:xfrm>
          <a:prstGeom prst="rect">
            <a:avLst/>
          </a:prstGeom>
          <a:noFill/>
          <a:ln/>
        </p:spPr>
        <p:txBody>
          <a:bodyPr wrap="square" rtlCol="0" anchor="ctr"/>
          <a:lstStyle/>
          <a:p>
            <a:pPr marL="0" indent="0">
              <a:buNone/>
            </a:pPr>
            <a:r>
              <a:rPr lang="en-US" sz="2700" b="1" dirty="0">
                <a:solidFill>
                  <a:srgbClr val="2B2B2B"/>
                </a:solidFill>
                <a:latin typeface="Cambria" pitchFamily="34" charset="0"/>
                <a:ea typeface="Cambria" pitchFamily="34" charset="-122"/>
                <a:cs typeface="Cambria" pitchFamily="34" charset="-120"/>
              </a:rPr>
              <a:t>Authentication — Business &amp; Administrator</a:t>
            </a:r>
            <a:endParaRPr lang="en-US" sz="2700" dirty="0"/>
          </a:p>
        </p:txBody>
      </p:sp>
      <p:sp>
        <p:nvSpPr>
          <p:cNvPr id="4" name="Shape 2"/>
          <p:cNvSpPr/>
          <p:nvPr/>
        </p:nvSpPr>
        <p:spPr>
          <a:xfrm>
            <a:off x="548640" y="1600200"/>
            <a:ext cx="5440680" cy="4343400"/>
          </a:xfrm>
          <a:prstGeom prst="roundRect">
            <a:avLst>
              <a:gd name="adj" fmla="val 1895"/>
            </a:avLst>
          </a:prstGeom>
          <a:solidFill>
            <a:srgbClr val="FFFFFF"/>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5" name="Shape 3"/>
          <p:cNvSpPr/>
          <p:nvPr/>
        </p:nvSpPr>
        <p:spPr>
          <a:xfrm>
            <a:off x="841248" y="1856232"/>
            <a:ext cx="502920" cy="502920"/>
          </a:xfrm>
          <a:prstGeom prst="ellipse">
            <a:avLst/>
          </a:prstGeom>
          <a:solidFill>
            <a:srgbClr val="C77D22"/>
          </a:solidFill>
          <a:ln/>
        </p:spPr>
        <p:txBody>
          <a:bodyPr/>
          <a:lstStyle/>
          <a:p>
            <a:endParaRPr lang="en-ZA"/>
          </a:p>
        </p:txBody>
      </p:sp>
      <p:pic>
        <p:nvPicPr>
          <p:cNvPr id="6" name="Image 0" descr="/home/claude/deck/icons/briefcase_white.png"/>
          <p:cNvPicPr>
            <a:picLocks noChangeAspect="1"/>
          </p:cNvPicPr>
          <p:nvPr/>
        </p:nvPicPr>
        <p:blipFill>
          <a:blip r:embed="rId3"/>
          <a:stretch>
            <a:fillRect/>
          </a:stretch>
        </p:blipFill>
        <p:spPr>
          <a:xfrm>
            <a:off x="961949" y="1976933"/>
            <a:ext cx="261518" cy="261518"/>
          </a:xfrm>
          <a:prstGeom prst="rect">
            <a:avLst/>
          </a:prstGeom>
        </p:spPr>
      </p:pic>
      <p:sp>
        <p:nvSpPr>
          <p:cNvPr id="7" name="Text 4"/>
          <p:cNvSpPr/>
          <p:nvPr/>
        </p:nvSpPr>
        <p:spPr>
          <a:xfrm>
            <a:off x="1463040" y="1892808"/>
            <a:ext cx="4297680" cy="457200"/>
          </a:xfrm>
          <a:prstGeom prst="rect">
            <a:avLst/>
          </a:prstGeom>
          <a:noFill/>
          <a:ln/>
        </p:spPr>
        <p:txBody>
          <a:bodyPr wrap="square" rtlCol="0" anchor="ctr"/>
          <a:lstStyle/>
          <a:p>
            <a:pPr marL="0" indent="0">
              <a:buNone/>
            </a:pPr>
            <a:r>
              <a:rPr lang="en-US" sz="1700" b="1" dirty="0">
                <a:solidFill>
                  <a:srgbClr val="2B2B2B"/>
                </a:solidFill>
                <a:latin typeface="Cambria" pitchFamily="34" charset="0"/>
                <a:ea typeface="Cambria" pitchFamily="34" charset="-122"/>
                <a:cs typeface="Cambria" pitchFamily="34" charset="-120"/>
              </a:rPr>
              <a:t>Business / Employer</a:t>
            </a:r>
            <a:endParaRPr lang="en-US" sz="1700" dirty="0"/>
          </a:p>
        </p:txBody>
      </p:sp>
      <p:sp>
        <p:nvSpPr>
          <p:cNvPr id="8" name="Text 5"/>
          <p:cNvSpPr/>
          <p:nvPr/>
        </p:nvSpPr>
        <p:spPr>
          <a:xfrm>
            <a:off x="1463040" y="2258568"/>
            <a:ext cx="4297680" cy="274320"/>
          </a:xfrm>
          <a:prstGeom prst="rect">
            <a:avLst/>
          </a:prstGeom>
          <a:noFill/>
          <a:ln/>
        </p:spPr>
        <p:txBody>
          <a:bodyPr wrap="square" rtlCol="0" anchor="ctr"/>
          <a:lstStyle/>
          <a:p>
            <a:pPr marL="0" indent="0">
              <a:buNone/>
            </a:pPr>
            <a:r>
              <a:rPr lang="en-US" sz="1050" i="1" dirty="0">
                <a:solidFill>
                  <a:srgbClr val="6B6B6B"/>
                </a:solidFill>
                <a:latin typeface="Calibri" pitchFamily="34" charset="0"/>
                <a:ea typeface="Calibri" pitchFamily="34" charset="-122"/>
                <a:cs typeface="Calibri" pitchFamily="34" charset="-120"/>
              </a:rPr>
              <a:t>Verified before it can reach students</a:t>
            </a:r>
            <a:endParaRPr lang="en-US" sz="1050" dirty="0"/>
          </a:p>
        </p:txBody>
      </p:sp>
      <p:sp>
        <p:nvSpPr>
          <p:cNvPr id="12" name="Text 9"/>
          <p:cNvSpPr/>
          <p:nvPr/>
        </p:nvSpPr>
        <p:spPr>
          <a:xfrm>
            <a:off x="1051560" y="2779029"/>
            <a:ext cx="4754880" cy="1719819"/>
          </a:xfrm>
          <a:prstGeom prst="rect">
            <a:avLst/>
          </a:prstGeom>
          <a:noFill/>
          <a:ln/>
        </p:spPr>
        <p:txBody>
          <a:bodyPr wrap="square" rtlCol="0" anchor="t"/>
          <a:lstStyle/>
          <a:p>
            <a:pPr marL="171450" indent="-171450">
              <a:lnSpc>
                <a:spcPct val="120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Submits a registration number and uploads a supporting document upon sign-up</a:t>
            </a:r>
          </a:p>
          <a:p>
            <a:pPr marL="171450" indent="-171450">
              <a:lnSpc>
                <a:spcPct val="120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Admin then reviews this in the web-based admin dashboard</a:t>
            </a:r>
          </a:p>
          <a:p>
            <a:pPr marL="171450" indent="-171450">
              <a:lnSpc>
                <a:spcPct val="120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Admin approves or rejects</a:t>
            </a:r>
          </a:p>
          <a:p>
            <a:pPr marL="171450" indent="-171450">
              <a:lnSpc>
                <a:spcPct val="120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Approval automatically verifies the business account and logs the admin who verified them</a:t>
            </a:r>
          </a:p>
        </p:txBody>
      </p:sp>
      <p:sp>
        <p:nvSpPr>
          <p:cNvPr id="15" name="Shape 12"/>
          <p:cNvSpPr/>
          <p:nvPr/>
        </p:nvSpPr>
        <p:spPr>
          <a:xfrm>
            <a:off x="6199632" y="1600200"/>
            <a:ext cx="5440680" cy="4343400"/>
          </a:xfrm>
          <a:prstGeom prst="roundRect">
            <a:avLst>
              <a:gd name="adj" fmla="val 1895"/>
            </a:avLst>
          </a:prstGeom>
          <a:solidFill>
            <a:srgbClr val="1B2A4A"/>
          </a:solidFill>
          <a:ln/>
          <a:effectLst>
            <a:outerShdw blurRad="76200" dist="25400" dir="5400000" algn="bl" rotWithShape="0">
              <a:srgbClr val="000000">
                <a:alpha val="15000"/>
              </a:srgbClr>
            </a:outerShdw>
          </a:effectLst>
        </p:spPr>
        <p:txBody>
          <a:bodyPr/>
          <a:lstStyle/>
          <a:p>
            <a:endParaRPr lang="en-ZA"/>
          </a:p>
        </p:txBody>
      </p:sp>
      <p:sp>
        <p:nvSpPr>
          <p:cNvPr id="16" name="Shape 13"/>
          <p:cNvSpPr/>
          <p:nvPr/>
        </p:nvSpPr>
        <p:spPr>
          <a:xfrm>
            <a:off x="6492240" y="1856232"/>
            <a:ext cx="502920" cy="502920"/>
          </a:xfrm>
          <a:prstGeom prst="ellipse">
            <a:avLst/>
          </a:prstGeom>
          <a:solidFill>
            <a:srgbClr val="5B2C83"/>
          </a:solidFill>
          <a:ln/>
        </p:spPr>
        <p:txBody>
          <a:bodyPr/>
          <a:lstStyle/>
          <a:p>
            <a:endParaRPr lang="en-ZA"/>
          </a:p>
        </p:txBody>
      </p:sp>
      <p:pic>
        <p:nvPicPr>
          <p:cNvPr id="17" name="Image 1" descr="/home/claude/deck/icons/shieldUser_white.png"/>
          <p:cNvPicPr>
            <a:picLocks noChangeAspect="1"/>
          </p:cNvPicPr>
          <p:nvPr/>
        </p:nvPicPr>
        <p:blipFill>
          <a:blip r:embed="rId4"/>
          <a:stretch>
            <a:fillRect/>
          </a:stretch>
        </p:blipFill>
        <p:spPr>
          <a:xfrm>
            <a:off x="6612941" y="1976933"/>
            <a:ext cx="261518" cy="261518"/>
          </a:xfrm>
          <a:prstGeom prst="rect">
            <a:avLst/>
          </a:prstGeom>
        </p:spPr>
      </p:pic>
      <p:sp>
        <p:nvSpPr>
          <p:cNvPr id="18" name="Text 14"/>
          <p:cNvSpPr/>
          <p:nvPr/>
        </p:nvSpPr>
        <p:spPr>
          <a:xfrm>
            <a:off x="7114032" y="1892808"/>
            <a:ext cx="3657600" cy="4572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Administrator</a:t>
            </a:r>
            <a:endParaRPr lang="en-US" sz="1700" dirty="0"/>
          </a:p>
        </p:txBody>
      </p:sp>
      <p:sp>
        <p:nvSpPr>
          <p:cNvPr id="19" name="Text 15"/>
          <p:cNvSpPr/>
          <p:nvPr/>
        </p:nvSpPr>
        <p:spPr>
          <a:xfrm>
            <a:off x="7114032" y="2258568"/>
            <a:ext cx="4297680" cy="274320"/>
          </a:xfrm>
          <a:prstGeom prst="rect">
            <a:avLst/>
          </a:prstGeom>
          <a:noFill/>
          <a:ln/>
        </p:spPr>
        <p:txBody>
          <a:bodyPr wrap="square" rtlCol="0" anchor="ctr"/>
          <a:lstStyle/>
          <a:p>
            <a:pPr marL="0" indent="0">
              <a:buNone/>
            </a:pPr>
            <a:r>
              <a:rPr lang="en-US" sz="1050" i="1" dirty="0">
                <a:solidFill>
                  <a:srgbClr val="CFCBE0"/>
                </a:solidFill>
                <a:latin typeface="Calibri" pitchFamily="34" charset="0"/>
                <a:ea typeface="Calibri" pitchFamily="34" charset="-122"/>
                <a:cs typeface="Calibri" pitchFamily="34" charset="-120"/>
              </a:rPr>
              <a:t>No self-registration path — ever</a:t>
            </a:r>
            <a:endParaRPr lang="en-US" sz="1050" dirty="0"/>
          </a:p>
        </p:txBody>
      </p:sp>
      <p:sp>
        <p:nvSpPr>
          <p:cNvPr id="21" name="Text 17"/>
          <p:cNvSpPr/>
          <p:nvPr/>
        </p:nvSpPr>
        <p:spPr>
          <a:xfrm>
            <a:off x="6702552" y="2697480"/>
            <a:ext cx="4800600" cy="960120"/>
          </a:xfrm>
          <a:prstGeom prst="rect">
            <a:avLst/>
          </a:prstGeom>
          <a:noFill/>
          <a:ln/>
        </p:spPr>
        <p:txBody>
          <a:bodyPr wrap="square" rtlCol="0" anchor="t"/>
          <a:lstStyle/>
          <a:p>
            <a:pPr marL="171450" indent="-171450">
              <a:lnSpc>
                <a:spcPct val="120000"/>
              </a:lnSpc>
              <a:buFont typeface="Arial" panose="020B0604020202020204" pitchFamily="34" charset="0"/>
              <a:buChar char="•"/>
            </a:pPr>
            <a:r>
              <a:rPr lang="en-US" sz="1600" dirty="0">
                <a:solidFill>
                  <a:srgbClr val="FFFFFF"/>
                </a:solidFill>
                <a:latin typeface="Calibri" pitchFamily="34" charset="0"/>
                <a:ea typeface="Calibri" pitchFamily="34" charset="-122"/>
                <a:cs typeface="Calibri" pitchFamily="34" charset="-120"/>
              </a:rPr>
              <a:t>Provisioned only by </a:t>
            </a:r>
            <a:r>
              <a:rPr lang="en-US" sz="1600" dirty="0" err="1">
                <a:solidFill>
                  <a:srgbClr val="FFFFFF"/>
                </a:solidFill>
                <a:latin typeface="Calibri" pitchFamily="34" charset="0"/>
                <a:ea typeface="Calibri" pitchFamily="34" charset="-122"/>
                <a:cs typeface="Calibri" pitchFamily="34" charset="-120"/>
              </a:rPr>
              <a:t>supabase</a:t>
            </a:r>
            <a:r>
              <a:rPr lang="en-US" sz="1600" dirty="0">
                <a:solidFill>
                  <a:srgbClr val="FFFFFF"/>
                </a:solidFill>
                <a:latin typeface="Calibri" pitchFamily="34" charset="0"/>
                <a:ea typeface="Calibri" pitchFamily="34" charset="-122"/>
                <a:cs typeface="Calibri" pitchFamily="34" charset="-120"/>
              </a:rPr>
              <a:t>/scripts/provision-</a:t>
            </a:r>
            <a:r>
              <a:rPr lang="en-US" sz="1600" dirty="0" err="1">
                <a:solidFill>
                  <a:srgbClr val="FFFFFF"/>
                </a:solidFill>
                <a:latin typeface="Calibri" pitchFamily="34" charset="0"/>
                <a:ea typeface="Calibri" pitchFamily="34" charset="-122"/>
                <a:cs typeface="Calibri" pitchFamily="34" charset="-120"/>
              </a:rPr>
              <a:t>admin.ts</a:t>
            </a:r>
            <a:r>
              <a:rPr lang="en-US" sz="1600" dirty="0">
                <a:solidFill>
                  <a:srgbClr val="FFFFFF"/>
                </a:solidFill>
                <a:latin typeface="Calibri" pitchFamily="34" charset="0"/>
                <a:ea typeface="Calibri" pitchFamily="34" charset="-122"/>
                <a:cs typeface="Calibri" pitchFamily="34" charset="-120"/>
              </a:rPr>
              <a:t>, run with the service-role key — there is no admin sign-up screen anywhere in the app.</a:t>
            </a:r>
          </a:p>
          <a:p>
            <a:pPr marL="171450" indent="-171450">
              <a:lnSpc>
                <a:spcPct val="120000"/>
              </a:lnSpc>
              <a:buFont typeface="Arial" panose="020B0604020202020204" pitchFamily="34" charset="0"/>
              <a:buChar char="•"/>
            </a:pPr>
            <a:r>
              <a:rPr lang="en-US" sz="1600" dirty="0">
                <a:solidFill>
                  <a:srgbClr val="FFFFFF"/>
                </a:solidFill>
                <a:latin typeface="Calibri" pitchFamily="34" charset="0"/>
                <a:ea typeface="Calibri" pitchFamily="34" charset="-122"/>
                <a:cs typeface="Calibri" pitchFamily="34" charset="-120"/>
              </a:rPr>
              <a:t>A </a:t>
            </a:r>
            <a:r>
              <a:rPr lang="en-US" sz="1600" dirty="0" err="1">
                <a:solidFill>
                  <a:srgbClr val="FFFFFF"/>
                </a:solidFill>
                <a:latin typeface="Calibri" pitchFamily="34" charset="0"/>
                <a:ea typeface="Calibri" pitchFamily="34" charset="-122"/>
                <a:cs typeface="Calibri" pitchFamily="34" charset="-120"/>
              </a:rPr>
              <a:t>prevent_unauthorised_role_change</a:t>
            </a:r>
            <a:r>
              <a:rPr lang="en-US" sz="1600" dirty="0">
                <a:solidFill>
                  <a:srgbClr val="FFFFFF"/>
                </a:solidFill>
                <a:latin typeface="Calibri" pitchFamily="34" charset="0"/>
                <a:ea typeface="Calibri" pitchFamily="34" charset="-122"/>
                <a:cs typeface="Calibri" pitchFamily="34" charset="-120"/>
              </a:rPr>
              <a:t> trigger blocks any attempt to promote an account to admin through the ordinary API.</a:t>
            </a:r>
            <a:endParaRPr lang="en-US" sz="1600" dirty="0"/>
          </a:p>
          <a:p>
            <a:pPr marL="171450" indent="-171450">
              <a:lnSpc>
                <a:spcPct val="120000"/>
              </a:lnSpc>
              <a:buFont typeface="Arial" panose="020B0604020202020204" pitchFamily="34" charset="0"/>
              <a:buChar char="•"/>
            </a:pPr>
            <a:endParaRPr lang="en-US" sz="1600" dirty="0"/>
          </a:p>
        </p:txBody>
      </p:sp>
      <p:sp>
        <p:nvSpPr>
          <p:cNvPr id="26" name="Text 22"/>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Richfield Connect · Hackathon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7315200" cy="384048"/>
          </a:xfrm>
          <a:prstGeom prst="rect">
            <a:avLst/>
          </a:prstGeom>
          <a:noFill/>
          <a:ln/>
        </p:spPr>
        <p:txBody>
          <a:bodyPr wrap="square" rtlCol="0" anchor="ctr"/>
          <a:lstStyle/>
          <a:p>
            <a:pPr marL="0" indent="0">
              <a:buNone/>
            </a:pPr>
            <a:r>
              <a:rPr lang="en-US" sz="2400" b="1" dirty="0">
                <a:solidFill>
                  <a:srgbClr val="2B2B2B"/>
                </a:solidFill>
                <a:latin typeface="Cambria" pitchFamily="34" charset="0"/>
                <a:ea typeface="Cambria" pitchFamily="34" charset="-122"/>
                <a:cs typeface="Cambria" pitchFamily="34" charset="-120"/>
              </a:rPr>
              <a:t>System Architecture</a:t>
            </a:r>
            <a:endParaRPr lang="en-US" sz="2200" dirty="0"/>
          </a:p>
        </p:txBody>
      </p:sp>
      <p:sp>
        <p:nvSpPr>
          <p:cNvPr id="3" name="Text 1"/>
          <p:cNvSpPr/>
          <p:nvPr/>
        </p:nvSpPr>
        <p:spPr>
          <a:xfrm>
            <a:off x="457200" y="585216"/>
            <a:ext cx="10058400" cy="274320"/>
          </a:xfrm>
          <a:prstGeom prst="rect">
            <a:avLst/>
          </a:prstGeom>
          <a:noFill/>
          <a:ln/>
        </p:spPr>
        <p:txBody>
          <a:bodyPr wrap="square"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Four parts, one API surface — Flutter mobile + React web admin + Supabase + Python/Flask AI microservice</a:t>
            </a:r>
            <a:endParaRPr lang="en-US" sz="1100" dirty="0"/>
          </a:p>
        </p:txBody>
      </p:sp>
      <p:sp>
        <p:nvSpPr>
          <p:cNvPr id="5" name="Text 2"/>
          <p:cNvSpPr/>
          <p:nvPr/>
        </p:nvSpPr>
        <p:spPr>
          <a:xfrm>
            <a:off x="457200" y="6547104"/>
            <a:ext cx="6400800" cy="274320"/>
          </a:xfrm>
          <a:prstGeom prst="rect">
            <a:avLst/>
          </a:prstGeom>
          <a:noFill/>
          <a:ln/>
        </p:spPr>
        <p:txBody>
          <a:bodyPr wrap="square" rtlCol="0" anchor="ctr"/>
          <a:lstStyle/>
          <a:p>
            <a:pPr marL="0" indent="0" algn="l">
              <a:buNone/>
            </a:pPr>
            <a:r>
              <a:rPr lang="en-US" sz="1000" dirty="0">
                <a:solidFill>
                  <a:srgbClr val="6B6B6B"/>
                </a:solidFill>
                <a:latin typeface="Calibri" pitchFamily="34" charset="0"/>
                <a:ea typeface="Calibri" pitchFamily="34" charset="-122"/>
                <a:cs typeface="Calibri" pitchFamily="34" charset="-120"/>
              </a:rPr>
              <a:t>Figure 1 — Richfield Connect system architecture</a:t>
            </a:r>
            <a:endParaRPr lang="en-US" sz="900" dirty="0"/>
          </a:p>
        </p:txBody>
      </p:sp>
      <p:pic>
        <p:nvPicPr>
          <p:cNvPr id="7" name="Picture 6">
            <a:extLst>
              <a:ext uri="{FF2B5EF4-FFF2-40B4-BE49-F238E27FC236}">
                <a16:creationId xmlns:a16="http://schemas.microsoft.com/office/drawing/2014/main" id="{4B197CBB-34E9-0269-4D91-513DA4FFFDA7}"/>
              </a:ext>
            </a:extLst>
          </p:cNvPr>
          <p:cNvPicPr>
            <a:picLocks noChangeAspect="1"/>
          </p:cNvPicPr>
          <p:nvPr/>
        </p:nvPicPr>
        <p:blipFill>
          <a:blip r:embed="rId3"/>
          <a:srcRect/>
          <a:stretch/>
        </p:blipFill>
        <p:spPr>
          <a:xfrm>
            <a:off x="1290734" y="1000358"/>
            <a:ext cx="9610531" cy="54059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50" b="1" kern="0" spc="200" dirty="0">
                <a:solidFill>
                  <a:srgbClr val="1B2A4A"/>
                </a:solidFill>
                <a:latin typeface="Calibri" pitchFamily="34" charset="0"/>
                <a:ea typeface="Calibri" pitchFamily="34" charset="-122"/>
                <a:cs typeface="Calibri" pitchFamily="34" charset="-120"/>
              </a:rPr>
              <a:t>TECHNOLOGY CHOICE &amp; JUSTIFICATION</a:t>
            </a:r>
            <a:endParaRPr lang="en-US" sz="1250" dirty="0"/>
          </a:p>
        </p:txBody>
      </p:sp>
      <p:sp>
        <p:nvSpPr>
          <p:cNvPr id="3" name="Text 1"/>
          <p:cNvSpPr/>
          <p:nvPr/>
        </p:nvSpPr>
        <p:spPr>
          <a:xfrm>
            <a:off x="594360" y="603504"/>
            <a:ext cx="11064240" cy="685800"/>
          </a:xfrm>
          <a:prstGeom prst="rect">
            <a:avLst/>
          </a:prstGeom>
          <a:noFill/>
          <a:ln/>
        </p:spPr>
        <p:txBody>
          <a:bodyPr wrap="square" rtlCol="0" anchor="ctr"/>
          <a:lstStyle/>
          <a:p>
            <a:pPr marL="0" indent="0">
              <a:buNone/>
            </a:pPr>
            <a:r>
              <a:rPr lang="en-US" sz="2700" b="1" dirty="0">
                <a:solidFill>
                  <a:srgbClr val="2B2B2B"/>
                </a:solidFill>
                <a:latin typeface="Cambria" pitchFamily="34" charset="0"/>
                <a:ea typeface="Cambria" pitchFamily="34" charset="-122"/>
                <a:cs typeface="Cambria" pitchFamily="34" charset="-120"/>
              </a:rPr>
              <a:t>Database — Why Postgres via Supabase</a:t>
            </a:r>
            <a:endParaRPr lang="en-US" sz="2700" dirty="0"/>
          </a:p>
        </p:txBody>
      </p:sp>
      <p:sp>
        <p:nvSpPr>
          <p:cNvPr id="4" name="Shape 2"/>
          <p:cNvSpPr/>
          <p:nvPr/>
        </p:nvSpPr>
        <p:spPr>
          <a:xfrm>
            <a:off x="548640" y="1691640"/>
            <a:ext cx="914400" cy="914400"/>
          </a:xfrm>
          <a:prstGeom prst="ellipse">
            <a:avLst/>
          </a:prstGeom>
          <a:solidFill>
            <a:srgbClr val="1B2A4A"/>
          </a:solidFill>
          <a:ln/>
        </p:spPr>
        <p:txBody>
          <a:bodyPr/>
          <a:lstStyle/>
          <a:p>
            <a:endParaRPr lang="en-ZA"/>
          </a:p>
        </p:txBody>
      </p:sp>
      <p:pic>
        <p:nvPicPr>
          <p:cNvPr id="5" name="Image 0" descr="/home/claude/deck/icons/database_white.png"/>
          <p:cNvPicPr>
            <a:picLocks noChangeAspect="1"/>
          </p:cNvPicPr>
          <p:nvPr/>
        </p:nvPicPr>
        <p:blipFill>
          <a:blip r:embed="rId3"/>
          <a:stretch>
            <a:fillRect/>
          </a:stretch>
        </p:blipFill>
        <p:spPr>
          <a:xfrm>
            <a:off x="768096" y="1911096"/>
            <a:ext cx="475488" cy="475488"/>
          </a:xfrm>
          <a:prstGeom prst="rect">
            <a:avLst/>
          </a:prstGeom>
        </p:spPr>
      </p:pic>
      <p:sp>
        <p:nvSpPr>
          <p:cNvPr id="6" name="Text 3"/>
          <p:cNvSpPr/>
          <p:nvPr/>
        </p:nvSpPr>
        <p:spPr>
          <a:xfrm>
            <a:off x="1691640" y="1600200"/>
            <a:ext cx="9966960" cy="1005840"/>
          </a:xfrm>
          <a:prstGeom prst="rect">
            <a:avLst/>
          </a:prstGeom>
          <a:noFill/>
          <a:ln/>
        </p:spPr>
        <p:txBody>
          <a:bodyPr wrap="square" rtlCol="0" anchor="ctr"/>
          <a:lstStyle/>
          <a:p>
            <a:pPr marL="0" indent="0">
              <a:lnSpc>
                <a:spcPct val="122000"/>
              </a:lnSpc>
              <a:buNone/>
            </a:pPr>
            <a:r>
              <a:rPr lang="en-US" sz="1250" dirty="0">
                <a:solidFill>
                  <a:srgbClr val="2B2B2B"/>
                </a:solidFill>
                <a:latin typeface="Calibri" pitchFamily="34" charset="0"/>
                <a:ea typeface="Calibri" pitchFamily="34" charset="-122"/>
                <a:cs typeface="Calibri" pitchFamily="34" charset="-120"/>
              </a:rPr>
              <a:t>Chosen because data is relational by nature — profiles, skills, endorsements, connections, messages, opportunities and applications are many-to-many, with real referential integrity requirements. We researched NoSQL and chose SQL deliberately.</a:t>
            </a:r>
            <a:endParaRPr lang="en-US" sz="1250" dirty="0"/>
          </a:p>
        </p:txBody>
      </p:sp>
      <p:sp>
        <p:nvSpPr>
          <p:cNvPr id="7" name="Shape 4"/>
          <p:cNvSpPr/>
          <p:nvPr/>
        </p:nvSpPr>
        <p:spPr>
          <a:xfrm>
            <a:off x="548640" y="2788920"/>
            <a:ext cx="5440680" cy="1627632"/>
          </a:xfrm>
          <a:prstGeom prst="roundRect">
            <a:avLst>
              <a:gd name="adj" fmla="val 4494"/>
            </a:avLst>
          </a:prstGeom>
          <a:solidFill>
            <a:srgbClr val="FFFFFF"/>
          </a:solidFill>
          <a:ln w="12700">
            <a:solidFill>
              <a:srgbClr val="E4E1DD"/>
            </a:solidFill>
            <a:prstDash val="solid"/>
          </a:ln>
          <a:effectLst>
            <a:outerShdw blurRad="63500" dist="25400" dir="5400000" algn="bl" rotWithShape="0">
              <a:srgbClr val="000000">
                <a:alpha val="10000"/>
              </a:srgbClr>
            </a:outerShdw>
          </a:effectLst>
        </p:spPr>
        <p:txBody>
          <a:bodyPr/>
          <a:lstStyle/>
          <a:p>
            <a:endParaRPr lang="en-ZA"/>
          </a:p>
        </p:txBody>
      </p:sp>
      <p:sp>
        <p:nvSpPr>
          <p:cNvPr id="8" name="Text 5"/>
          <p:cNvSpPr/>
          <p:nvPr/>
        </p:nvSpPr>
        <p:spPr>
          <a:xfrm>
            <a:off x="777240" y="2916936"/>
            <a:ext cx="4983480" cy="457200"/>
          </a:xfrm>
          <a:prstGeom prst="rect">
            <a:avLst/>
          </a:prstGeom>
          <a:noFill/>
          <a:ln/>
        </p:spPr>
        <p:txBody>
          <a:bodyPr wrap="square"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Security lives in the database</a:t>
            </a:r>
            <a:endParaRPr lang="en-US" sz="1400" dirty="0"/>
          </a:p>
        </p:txBody>
      </p:sp>
      <p:sp>
        <p:nvSpPr>
          <p:cNvPr id="9" name="Text 6"/>
          <p:cNvSpPr/>
          <p:nvPr/>
        </p:nvSpPr>
        <p:spPr>
          <a:xfrm>
            <a:off x="777240" y="3337560"/>
            <a:ext cx="4983480" cy="665273"/>
          </a:xfrm>
          <a:prstGeom prst="rect">
            <a:avLst/>
          </a:prstGeom>
          <a:noFill/>
          <a:ln/>
        </p:spPr>
        <p:txBody>
          <a:bodyPr wrap="square" rtlCol="0" anchor="ctr"/>
          <a:lstStyle/>
          <a:p>
            <a:pPr marL="0" indent="0">
              <a:lnSpc>
                <a:spcPct val="115000"/>
              </a:lnSpc>
              <a:buNone/>
            </a:pPr>
            <a:r>
              <a:rPr lang="en-US" sz="1400" dirty="0">
                <a:solidFill>
                  <a:srgbClr val="6B6B6B"/>
                </a:solidFill>
                <a:latin typeface="Calibri" pitchFamily="34" charset="0"/>
                <a:ea typeface="Calibri" pitchFamily="34" charset="-122"/>
                <a:cs typeface="Calibri" pitchFamily="34" charset="-120"/>
              </a:rPr>
              <a:t>RLS lets us write policies on the table itself — enforced for every client, every query, forever. </a:t>
            </a:r>
            <a:endParaRPr lang="en-US" sz="1400" dirty="0"/>
          </a:p>
        </p:txBody>
      </p:sp>
      <p:sp>
        <p:nvSpPr>
          <p:cNvPr id="10" name="Shape 7"/>
          <p:cNvSpPr/>
          <p:nvPr/>
        </p:nvSpPr>
        <p:spPr>
          <a:xfrm>
            <a:off x="6199632" y="2788920"/>
            <a:ext cx="5440680" cy="1627632"/>
          </a:xfrm>
          <a:prstGeom prst="roundRect">
            <a:avLst>
              <a:gd name="adj" fmla="val 4494"/>
            </a:avLst>
          </a:prstGeom>
          <a:solidFill>
            <a:srgbClr val="FFFFFF"/>
          </a:solidFill>
          <a:ln w="12700">
            <a:solidFill>
              <a:srgbClr val="E4E1DD"/>
            </a:solidFill>
            <a:prstDash val="solid"/>
          </a:ln>
          <a:effectLst>
            <a:outerShdw blurRad="63500" dist="25400" dir="5400000" algn="bl" rotWithShape="0">
              <a:srgbClr val="000000">
                <a:alpha val="10000"/>
              </a:srgbClr>
            </a:outerShdw>
          </a:effectLst>
        </p:spPr>
        <p:txBody>
          <a:bodyPr/>
          <a:lstStyle/>
          <a:p>
            <a:endParaRPr lang="en-ZA"/>
          </a:p>
        </p:txBody>
      </p:sp>
      <p:sp>
        <p:nvSpPr>
          <p:cNvPr id="11" name="Text 8"/>
          <p:cNvSpPr/>
          <p:nvPr/>
        </p:nvSpPr>
        <p:spPr>
          <a:xfrm>
            <a:off x="6428232" y="2916936"/>
            <a:ext cx="4983480" cy="457200"/>
          </a:xfrm>
          <a:prstGeom prst="rect">
            <a:avLst/>
          </a:prstGeom>
          <a:noFill/>
          <a:ln/>
        </p:spPr>
        <p:txBody>
          <a:bodyPr wrap="square"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Server-side logic without a server</a:t>
            </a:r>
            <a:endParaRPr lang="en-US" sz="1400" dirty="0"/>
          </a:p>
        </p:txBody>
      </p:sp>
      <p:sp>
        <p:nvSpPr>
          <p:cNvPr id="12" name="Text 9"/>
          <p:cNvSpPr/>
          <p:nvPr/>
        </p:nvSpPr>
        <p:spPr>
          <a:xfrm>
            <a:off x="6428232" y="3337560"/>
            <a:ext cx="4983480" cy="665273"/>
          </a:xfrm>
          <a:prstGeom prst="rect">
            <a:avLst/>
          </a:prstGeom>
          <a:noFill/>
          <a:ln/>
        </p:spPr>
        <p:txBody>
          <a:bodyPr wrap="square" rtlCol="0" anchor="ctr"/>
          <a:lstStyle/>
          <a:p>
            <a:pPr marL="0" indent="0">
              <a:lnSpc>
                <a:spcPct val="115000"/>
              </a:lnSpc>
              <a:buNone/>
            </a:pPr>
            <a:r>
              <a:rPr lang="en-US" sz="1400" dirty="0">
                <a:solidFill>
                  <a:srgbClr val="6B6B6B"/>
                </a:solidFill>
                <a:latin typeface="Calibri" pitchFamily="34" charset="0"/>
                <a:ea typeface="Calibri" pitchFamily="34" charset="-122"/>
                <a:cs typeface="Calibri" pitchFamily="34" charset="-120"/>
              </a:rPr>
              <a:t>Approvals, analytics, notifications, matching and POPIA export/delete run within the database, no need for a separate app server.</a:t>
            </a:r>
            <a:endParaRPr lang="en-US" sz="1400" dirty="0"/>
          </a:p>
        </p:txBody>
      </p:sp>
      <p:sp>
        <p:nvSpPr>
          <p:cNvPr id="13" name="Shape 10"/>
          <p:cNvSpPr/>
          <p:nvPr/>
        </p:nvSpPr>
        <p:spPr>
          <a:xfrm>
            <a:off x="548640" y="4553712"/>
            <a:ext cx="5440680" cy="1627632"/>
          </a:xfrm>
          <a:prstGeom prst="roundRect">
            <a:avLst>
              <a:gd name="adj" fmla="val 4494"/>
            </a:avLst>
          </a:prstGeom>
          <a:solidFill>
            <a:srgbClr val="FFFFFF"/>
          </a:solidFill>
          <a:ln w="12700">
            <a:solidFill>
              <a:srgbClr val="E4E1DD"/>
            </a:solidFill>
            <a:prstDash val="solid"/>
          </a:ln>
          <a:effectLst>
            <a:outerShdw blurRad="63500" dist="25400" dir="5400000" algn="bl" rotWithShape="0">
              <a:srgbClr val="000000">
                <a:alpha val="10000"/>
              </a:srgbClr>
            </a:outerShdw>
          </a:effectLst>
        </p:spPr>
        <p:txBody>
          <a:bodyPr/>
          <a:lstStyle/>
          <a:p>
            <a:endParaRPr lang="en-ZA"/>
          </a:p>
        </p:txBody>
      </p:sp>
      <p:sp>
        <p:nvSpPr>
          <p:cNvPr id="14" name="Text 11"/>
          <p:cNvSpPr/>
          <p:nvPr/>
        </p:nvSpPr>
        <p:spPr>
          <a:xfrm>
            <a:off x="777240" y="4681728"/>
            <a:ext cx="4983480" cy="457200"/>
          </a:xfrm>
          <a:prstGeom prst="rect">
            <a:avLst/>
          </a:prstGeom>
          <a:noFill/>
          <a:ln/>
        </p:spPr>
        <p:txBody>
          <a:bodyPr wrap="square"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Extensions we actually needed</a:t>
            </a:r>
            <a:endParaRPr lang="en-US" sz="1400" dirty="0"/>
          </a:p>
        </p:txBody>
      </p:sp>
      <p:sp>
        <p:nvSpPr>
          <p:cNvPr id="15" name="Text 12"/>
          <p:cNvSpPr/>
          <p:nvPr/>
        </p:nvSpPr>
        <p:spPr>
          <a:xfrm>
            <a:off x="777240" y="5102352"/>
            <a:ext cx="4983480" cy="665273"/>
          </a:xfrm>
          <a:prstGeom prst="rect">
            <a:avLst/>
          </a:prstGeom>
          <a:noFill/>
          <a:ln/>
        </p:spPr>
        <p:txBody>
          <a:bodyPr wrap="square" rtlCol="0" anchor="ctr"/>
          <a:lstStyle/>
          <a:p>
            <a:pPr marL="0" indent="0">
              <a:lnSpc>
                <a:spcPct val="115000"/>
              </a:lnSpc>
              <a:buNone/>
            </a:pPr>
            <a:r>
              <a:rPr lang="en-US" sz="1400" dirty="0">
                <a:solidFill>
                  <a:srgbClr val="6B6B6B"/>
                </a:solidFill>
                <a:latin typeface="Calibri" pitchFamily="34" charset="0"/>
                <a:ea typeface="Calibri" pitchFamily="34" charset="-122"/>
                <a:cs typeface="Calibri" pitchFamily="34" charset="-120"/>
              </a:rPr>
              <a:t>pgvector for skill/opportunity similarity, pg_net for outbound webhooks, Vault for secrets, and Realtime streaming of row changes over WebSockets — all on one engine.</a:t>
            </a:r>
            <a:endParaRPr lang="en-US" sz="1400" dirty="0"/>
          </a:p>
        </p:txBody>
      </p:sp>
      <p:sp>
        <p:nvSpPr>
          <p:cNvPr id="16" name="Shape 13"/>
          <p:cNvSpPr/>
          <p:nvPr/>
        </p:nvSpPr>
        <p:spPr>
          <a:xfrm>
            <a:off x="6199632" y="4553712"/>
            <a:ext cx="5440680" cy="1627632"/>
          </a:xfrm>
          <a:prstGeom prst="roundRect">
            <a:avLst>
              <a:gd name="adj" fmla="val 4494"/>
            </a:avLst>
          </a:prstGeom>
          <a:solidFill>
            <a:srgbClr val="FFFFFF"/>
          </a:solidFill>
          <a:ln w="12700">
            <a:solidFill>
              <a:srgbClr val="E4E1DD"/>
            </a:solidFill>
            <a:prstDash val="solid"/>
          </a:ln>
          <a:effectLst>
            <a:outerShdw blurRad="63500" dist="25400" dir="5400000" algn="bl" rotWithShape="0">
              <a:srgbClr val="000000">
                <a:alpha val="10000"/>
              </a:srgbClr>
            </a:outerShdw>
          </a:effectLst>
        </p:spPr>
        <p:txBody>
          <a:bodyPr/>
          <a:lstStyle/>
          <a:p>
            <a:endParaRPr lang="en-ZA"/>
          </a:p>
        </p:txBody>
      </p:sp>
      <p:sp>
        <p:nvSpPr>
          <p:cNvPr id="17" name="Text 14"/>
          <p:cNvSpPr/>
          <p:nvPr/>
        </p:nvSpPr>
        <p:spPr>
          <a:xfrm>
            <a:off x="6428232" y="4681728"/>
            <a:ext cx="4983480" cy="457200"/>
          </a:xfrm>
          <a:prstGeom prst="rect">
            <a:avLst/>
          </a:prstGeom>
          <a:noFill/>
          <a:ln/>
        </p:spPr>
        <p:txBody>
          <a:bodyPr wrap="square"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Supabase specifically</a:t>
            </a:r>
            <a:endParaRPr lang="en-US" sz="1400" dirty="0"/>
          </a:p>
        </p:txBody>
      </p:sp>
      <p:sp>
        <p:nvSpPr>
          <p:cNvPr id="18" name="Text 15"/>
          <p:cNvSpPr/>
          <p:nvPr/>
        </p:nvSpPr>
        <p:spPr>
          <a:xfrm>
            <a:off x="6428232" y="5102352"/>
            <a:ext cx="4983480" cy="665273"/>
          </a:xfrm>
          <a:prstGeom prst="rect">
            <a:avLst/>
          </a:prstGeom>
          <a:noFill/>
          <a:ln/>
        </p:spPr>
        <p:txBody>
          <a:bodyPr wrap="square" rtlCol="0" anchor="ctr"/>
          <a:lstStyle/>
          <a:p>
            <a:pPr marL="0" indent="0">
              <a:lnSpc>
                <a:spcPct val="115000"/>
              </a:lnSpc>
              <a:buNone/>
            </a:pPr>
            <a:r>
              <a:rPr lang="en-US" sz="1400" dirty="0">
                <a:solidFill>
                  <a:srgbClr val="6B6B6B"/>
                </a:solidFill>
                <a:latin typeface="Calibri" pitchFamily="34" charset="0"/>
                <a:ea typeface="Calibri" pitchFamily="34" charset="-122"/>
                <a:cs typeface="Calibri" pitchFamily="34" charset="-120"/>
              </a:rPr>
              <a:t>Managed EU Postgres with Auth, Storage, Realtime, and Edge Functions under one JWT, plus SDKs for Flutter and React</a:t>
            </a:r>
            <a:endParaRPr lang="en-US" sz="1400" dirty="0"/>
          </a:p>
        </p:txBody>
      </p:sp>
      <p:sp>
        <p:nvSpPr>
          <p:cNvPr id="19" name="Text 16"/>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Richfield Connect · Hackathon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50" b="1" kern="0" spc="200" dirty="0">
                <a:solidFill>
                  <a:srgbClr val="7A1E3E"/>
                </a:solidFill>
                <a:latin typeface="Calibri" pitchFamily="34" charset="0"/>
                <a:ea typeface="Calibri" pitchFamily="34" charset="-122"/>
                <a:cs typeface="Calibri" pitchFamily="34" charset="-120"/>
              </a:rPr>
              <a:t>TECHNOLOGY CHOICE &amp; JUSTIFICATION</a:t>
            </a:r>
            <a:endParaRPr lang="en-US" sz="1250" dirty="0"/>
          </a:p>
        </p:txBody>
      </p:sp>
      <p:sp>
        <p:nvSpPr>
          <p:cNvPr id="3" name="Text 1"/>
          <p:cNvSpPr/>
          <p:nvPr/>
        </p:nvSpPr>
        <p:spPr>
          <a:xfrm>
            <a:off x="548640" y="603504"/>
            <a:ext cx="11064240" cy="685800"/>
          </a:xfrm>
          <a:prstGeom prst="rect">
            <a:avLst/>
          </a:prstGeom>
          <a:noFill/>
          <a:ln/>
        </p:spPr>
        <p:txBody>
          <a:bodyPr wrap="square" rtlCol="0" anchor="ctr"/>
          <a:lstStyle/>
          <a:p>
            <a:pPr marL="0" indent="0">
              <a:buNone/>
            </a:pPr>
            <a:r>
              <a:rPr lang="en-US" sz="2700" b="1" dirty="0">
                <a:solidFill>
                  <a:srgbClr val="2B2B2B"/>
                </a:solidFill>
                <a:latin typeface="Cambria" pitchFamily="34" charset="0"/>
                <a:ea typeface="Cambria" pitchFamily="34" charset="-122"/>
                <a:cs typeface="Cambria" pitchFamily="34" charset="-120"/>
              </a:rPr>
              <a:t>Mobile Framework — Why Flutter</a:t>
            </a:r>
            <a:endParaRPr lang="en-US" sz="2700" dirty="0"/>
          </a:p>
        </p:txBody>
      </p:sp>
      <p:sp>
        <p:nvSpPr>
          <p:cNvPr id="4" name="Shape 2"/>
          <p:cNvSpPr/>
          <p:nvPr/>
        </p:nvSpPr>
        <p:spPr>
          <a:xfrm>
            <a:off x="548640" y="1691640"/>
            <a:ext cx="914400" cy="914400"/>
          </a:xfrm>
          <a:prstGeom prst="ellipse">
            <a:avLst/>
          </a:prstGeom>
          <a:solidFill>
            <a:srgbClr val="7A1E3E"/>
          </a:solidFill>
          <a:ln/>
        </p:spPr>
        <p:txBody>
          <a:bodyPr/>
          <a:lstStyle/>
          <a:p>
            <a:endParaRPr lang="en-ZA"/>
          </a:p>
        </p:txBody>
      </p:sp>
      <p:pic>
        <p:nvPicPr>
          <p:cNvPr id="5" name="Image 0" descr="/home/claude/deck/icons/mobile_white.png"/>
          <p:cNvPicPr>
            <a:picLocks noChangeAspect="1"/>
          </p:cNvPicPr>
          <p:nvPr/>
        </p:nvPicPr>
        <p:blipFill>
          <a:blip r:embed="rId3"/>
          <a:stretch>
            <a:fillRect/>
          </a:stretch>
        </p:blipFill>
        <p:spPr>
          <a:xfrm>
            <a:off x="768096" y="1911096"/>
            <a:ext cx="475488" cy="475488"/>
          </a:xfrm>
          <a:prstGeom prst="rect">
            <a:avLst/>
          </a:prstGeom>
        </p:spPr>
      </p:pic>
      <p:sp>
        <p:nvSpPr>
          <p:cNvPr id="6" name="Text 3"/>
          <p:cNvSpPr/>
          <p:nvPr/>
        </p:nvSpPr>
        <p:spPr>
          <a:xfrm>
            <a:off x="1691640" y="1655064"/>
            <a:ext cx="9966960" cy="914400"/>
          </a:xfrm>
          <a:prstGeom prst="rect">
            <a:avLst/>
          </a:prstGeom>
          <a:noFill/>
          <a:ln/>
        </p:spPr>
        <p:txBody>
          <a:bodyPr wrap="square" rtlCol="0" anchor="ctr"/>
          <a:lstStyle/>
          <a:p>
            <a:pPr marL="0" indent="0">
              <a:lnSpc>
                <a:spcPct val="125000"/>
              </a:lnSpc>
              <a:buNone/>
            </a:pPr>
            <a:r>
              <a:rPr lang="en-US" sz="1600" dirty="0">
                <a:solidFill>
                  <a:srgbClr val="2B2B2B"/>
                </a:solidFill>
                <a:latin typeface="Calibri" pitchFamily="34" charset="0"/>
                <a:ea typeface="Calibri" pitchFamily="34" charset="-122"/>
                <a:cs typeface="Calibri" pitchFamily="34" charset="-120"/>
              </a:rPr>
              <a:t>Flutter + Dart compiles to native ARM code for both Android and iOS from one codebase — the mandatory mobile-app requirement met with room to spare.</a:t>
            </a:r>
            <a:endParaRPr lang="en-US" sz="1600" dirty="0"/>
          </a:p>
        </p:txBody>
      </p:sp>
      <p:sp>
        <p:nvSpPr>
          <p:cNvPr id="7" name="Shape 4"/>
          <p:cNvSpPr/>
          <p:nvPr/>
        </p:nvSpPr>
        <p:spPr>
          <a:xfrm>
            <a:off x="548640" y="2834640"/>
            <a:ext cx="5440680" cy="1572768"/>
          </a:xfrm>
          <a:prstGeom prst="roundRect">
            <a:avLst>
              <a:gd name="adj" fmla="val 4651"/>
            </a:avLst>
          </a:prstGeom>
          <a:solidFill>
            <a:srgbClr val="FFFFFF"/>
          </a:solidFill>
          <a:ln w="12700">
            <a:solidFill>
              <a:srgbClr val="E4E1DD"/>
            </a:solidFill>
            <a:prstDash val="solid"/>
          </a:ln>
          <a:effectLst>
            <a:outerShdw blurRad="63500" dist="25400" dir="5400000" algn="bl" rotWithShape="0">
              <a:srgbClr val="000000">
                <a:alpha val="10000"/>
              </a:srgbClr>
            </a:outerShdw>
          </a:effectLst>
        </p:spPr>
        <p:txBody>
          <a:bodyPr/>
          <a:lstStyle/>
          <a:p>
            <a:endParaRPr lang="en-ZA"/>
          </a:p>
        </p:txBody>
      </p:sp>
      <p:sp>
        <p:nvSpPr>
          <p:cNvPr id="8" name="Text 5"/>
          <p:cNvSpPr/>
          <p:nvPr/>
        </p:nvSpPr>
        <p:spPr>
          <a:xfrm>
            <a:off x="777240" y="2971800"/>
            <a:ext cx="4983480" cy="384048"/>
          </a:xfrm>
          <a:prstGeom prst="rect">
            <a:avLst/>
          </a:prstGeom>
          <a:noFill/>
          <a:ln/>
        </p:spPr>
        <p:txBody>
          <a:bodyPr wrap="square" rtlCol="0" anchor="ctr"/>
          <a:lstStyle/>
          <a:p>
            <a:pPr marL="0" indent="0">
              <a:buNone/>
            </a:pPr>
            <a:r>
              <a:rPr lang="en-US" sz="1400" b="1" dirty="0">
                <a:solidFill>
                  <a:srgbClr val="7A1E3E"/>
                </a:solidFill>
                <a:latin typeface="Cambria" pitchFamily="34" charset="0"/>
                <a:ea typeface="Cambria" pitchFamily="34" charset="-122"/>
                <a:cs typeface="Cambria" pitchFamily="34" charset="-120"/>
              </a:rPr>
              <a:t>Native feel even on mid-range devices</a:t>
            </a:r>
            <a:endParaRPr lang="en-US" sz="1400" dirty="0"/>
          </a:p>
        </p:txBody>
      </p:sp>
      <p:sp>
        <p:nvSpPr>
          <p:cNvPr id="9" name="Text 6"/>
          <p:cNvSpPr/>
          <p:nvPr/>
        </p:nvSpPr>
        <p:spPr>
          <a:xfrm>
            <a:off x="777240" y="3493008"/>
            <a:ext cx="4983480" cy="737616"/>
          </a:xfrm>
          <a:prstGeom prst="rect">
            <a:avLst/>
          </a:prstGeom>
          <a:noFill/>
          <a:ln/>
        </p:spPr>
        <p:txBody>
          <a:bodyPr wrap="square" rtlCol="0" anchor="ctr"/>
          <a:lstStyle/>
          <a:p>
            <a:pPr marL="0" indent="0">
              <a:lnSpc>
                <a:spcPct val="118000"/>
              </a:lnSpc>
              <a:buNone/>
            </a:pPr>
            <a:r>
              <a:rPr lang="en-US" sz="1400" dirty="0">
                <a:solidFill>
                  <a:srgbClr val="6B6B6B"/>
                </a:solidFill>
                <a:latin typeface="Calibri" pitchFamily="34" charset="0"/>
                <a:ea typeface="Calibri" pitchFamily="34" charset="-122"/>
                <a:cs typeface="Calibri" pitchFamily="34" charset="-120"/>
              </a:rPr>
              <a:t>Flutter draws its own widgets and compiles to native code, so the feed, video player and chat feel native even on mid-range devices.</a:t>
            </a:r>
            <a:endParaRPr lang="en-US" sz="1400" dirty="0"/>
          </a:p>
        </p:txBody>
      </p:sp>
      <p:sp>
        <p:nvSpPr>
          <p:cNvPr id="10" name="Shape 7"/>
          <p:cNvSpPr/>
          <p:nvPr/>
        </p:nvSpPr>
        <p:spPr>
          <a:xfrm>
            <a:off x="6199632" y="2834640"/>
            <a:ext cx="5440680" cy="1572768"/>
          </a:xfrm>
          <a:prstGeom prst="roundRect">
            <a:avLst>
              <a:gd name="adj" fmla="val 4651"/>
            </a:avLst>
          </a:prstGeom>
          <a:solidFill>
            <a:srgbClr val="FFFFFF"/>
          </a:solidFill>
          <a:ln w="12700">
            <a:solidFill>
              <a:srgbClr val="E4E1DD"/>
            </a:solidFill>
            <a:prstDash val="solid"/>
          </a:ln>
          <a:effectLst>
            <a:outerShdw blurRad="63500" dist="25400" dir="5400000" algn="bl" rotWithShape="0">
              <a:srgbClr val="000000">
                <a:alpha val="10000"/>
              </a:srgbClr>
            </a:outerShdw>
          </a:effectLst>
        </p:spPr>
        <p:txBody>
          <a:bodyPr/>
          <a:lstStyle/>
          <a:p>
            <a:endParaRPr lang="en-ZA"/>
          </a:p>
        </p:txBody>
      </p:sp>
      <p:sp>
        <p:nvSpPr>
          <p:cNvPr id="11" name="Text 8"/>
          <p:cNvSpPr/>
          <p:nvPr/>
        </p:nvSpPr>
        <p:spPr>
          <a:xfrm>
            <a:off x="6428232" y="2971800"/>
            <a:ext cx="4983480" cy="384048"/>
          </a:xfrm>
          <a:prstGeom prst="rect">
            <a:avLst/>
          </a:prstGeom>
          <a:noFill/>
          <a:ln/>
        </p:spPr>
        <p:txBody>
          <a:bodyPr wrap="square" rtlCol="0" anchor="ctr"/>
          <a:lstStyle/>
          <a:p>
            <a:pPr marL="0" indent="0">
              <a:buNone/>
            </a:pPr>
            <a:r>
              <a:rPr lang="en-US" sz="1400" b="1" dirty="0">
                <a:solidFill>
                  <a:srgbClr val="7A1E3E"/>
                </a:solidFill>
                <a:latin typeface="Cambria" pitchFamily="34" charset="0"/>
                <a:ea typeface="Cambria" pitchFamily="34" charset="-122"/>
                <a:cs typeface="Cambria" pitchFamily="34" charset="-120"/>
              </a:rPr>
              <a:t>First-class Supabase &amp; Firebase SDKs</a:t>
            </a:r>
            <a:endParaRPr lang="en-US" sz="1400" dirty="0"/>
          </a:p>
        </p:txBody>
      </p:sp>
      <p:sp>
        <p:nvSpPr>
          <p:cNvPr id="12" name="Text 9"/>
          <p:cNvSpPr/>
          <p:nvPr/>
        </p:nvSpPr>
        <p:spPr>
          <a:xfrm>
            <a:off x="6428232" y="3529584"/>
            <a:ext cx="4983480" cy="737616"/>
          </a:xfrm>
          <a:prstGeom prst="rect">
            <a:avLst/>
          </a:prstGeom>
          <a:noFill/>
          <a:ln/>
        </p:spPr>
        <p:txBody>
          <a:bodyPr wrap="square" rtlCol="0" anchor="ctr"/>
          <a:lstStyle/>
          <a:p>
            <a:pPr marL="0" indent="0">
              <a:lnSpc>
                <a:spcPct val="118000"/>
              </a:lnSpc>
              <a:buNone/>
            </a:pPr>
            <a:r>
              <a:rPr lang="en-US" sz="1400" dirty="0">
                <a:solidFill>
                  <a:srgbClr val="6B6B6B"/>
                </a:solidFill>
                <a:latin typeface="Calibri" pitchFamily="34" charset="0"/>
                <a:ea typeface="Calibri" pitchFamily="34" charset="-122"/>
                <a:cs typeface="Calibri" pitchFamily="34" charset="-120"/>
              </a:rPr>
              <a:t>supabase_flutter gives auth, PostgREST, Storage and Realtime in one package; firebase_messaging gives push — there is no complex networking layer to build or debug.</a:t>
            </a:r>
            <a:endParaRPr lang="en-US" sz="1400" dirty="0"/>
          </a:p>
        </p:txBody>
      </p:sp>
      <p:sp>
        <p:nvSpPr>
          <p:cNvPr id="13" name="Shape 10"/>
          <p:cNvSpPr/>
          <p:nvPr/>
        </p:nvSpPr>
        <p:spPr>
          <a:xfrm>
            <a:off x="548640" y="4572000"/>
            <a:ext cx="5440680" cy="1572768"/>
          </a:xfrm>
          <a:prstGeom prst="roundRect">
            <a:avLst>
              <a:gd name="adj" fmla="val 4651"/>
            </a:avLst>
          </a:prstGeom>
          <a:solidFill>
            <a:srgbClr val="FFFFFF"/>
          </a:solidFill>
          <a:ln w="12700">
            <a:solidFill>
              <a:srgbClr val="E4E1DD"/>
            </a:solidFill>
            <a:prstDash val="solid"/>
          </a:ln>
          <a:effectLst>
            <a:outerShdw blurRad="63500" dist="25400" dir="5400000" algn="bl" rotWithShape="0">
              <a:srgbClr val="000000">
                <a:alpha val="10000"/>
              </a:srgbClr>
            </a:outerShdw>
          </a:effectLst>
        </p:spPr>
        <p:txBody>
          <a:bodyPr/>
          <a:lstStyle/>
          <a:p>
            <a:endParaRPr lang="en-ZA"/>
          </a:p>
        </p:txBody>
      </p:sp>
      <p:sp>
        <p:nvSpPr>
          <p:cNvPr id="14" name="Text 11"/>
          <p:cNvSpPr/>
          <p:nvPr/>
        </p:nvSpPr>
        <p:spPr>
          <a:xfrm>
            <a:off x="777240" y="4709160"/>
            <a:ext cx="4983480" cy="384048"/>
          </a:xfrm>
          <a:prstGeom prst="rect">
            <a:avLst/>
          </a:prstGeom>
          <a:noFill/>
          <a:ln/>
        </p:spPr>
        <p:txBody>
          <a:bodyPr wrap="square" rtlCol="0" anchor="ctr"/>
          <a:lstStyle/>
          <a:p>
            <a:pPr marL="0" indent="0">
              <a:buNone/>
            </a:pPr>
            <a:r>
              <a:rPr lang="en-US" sz="1400" b="1" dirty="0">
                <a:solidFill>
                  <a:srgbClr val="7A1E3E"/>
                </a:solidFill>
                <a:latin typeface="Cambria" pitchFamily="34" charset="0"/>
                <a:ea typeface="Cambria" pitchFamily="34" charset="-122"/>
              </a:rPr>
              <a:t>Fast iteration </a:t>
            </a:r>
            <a:endParaRPr lang="en-US" sz="1400" dirty="0"/>
          </a:p>
        </p:txBody>
      </p:sp>
      <p:sp>
        <p:nvSpPr>
          <p:cNvPr id="15" name="Text 12"/>
          <p:cNvSpPr/>
          <p:nvPr/>
        </p:nvSpPr>
        <p:spPr>
          <a:xfrm>
            <a:off x="777240" y="5230368"/>
            <a:ext cx="4983480" cy="737616"/>
          </a:xfrm>
          <a:prstGeom prst="rect">
            <a:avLst/>
          </a:prstGeom>
          <a:noFill/>
          <a:ln/>
        </p:spPr>
        <p:txBody>
          <a:bodyPr wrap="square" rtlCol="0" anchor="ctr"/>
          <a:lstStyle/>
          <a:p>
            <a:pPr marL="0" indent="0">
              <a:lnSpc>
                <a:spcPct val="118000"/>
              </a:lnSpc>
              <a:buNone/>
            </a:pPr>
            <a:r>
              <a:rPr lang="en-US" sz="1400" dirty="0">
                <a:solidFill>
                  <a:srgbClr val="6B6B6B"/>
                </a:solidFill>
                <a:latin typeface="Calibri" pitchFamily="34" charset="0"/>
                <a:ea typeface="Calibri" pitchFamily="34" charset="-122"/>
                <a:cs typeface="Calibri" pitchFamily="34" charset="-120"/>
              </a:rPr>
              <a:t>Hot reload makes a polished mobile prototype achievable in days rather than months</a:t>
            </a:r>
            <a:endParaRPr lang="en-US" sz="1400" dirty="0"/>
          </a:p>
        </p:txBody>
      </p:sp>
      <p:sp>
        <p:nvSpPr>
          <p:cNvPr id="16" name="Shape 13"/>
          <p:cNvSpPr/>
          <p:nvPr/>
        </p:nvSpPr>
        <p:spPr>
          <a:xfrm>
            <a:off x="6199632" y="4572000"/>
            <a:ext cx="5440680" cy="1572768"/>
          </a:xfrm>
          <a:prstGeom prst="roundRect">
            <a:avLst>
              <a:gd name="adj" fmla="val 4651"/>
            </a:avLst>
          </a:prstGeom>
          <a:solidFill>
            <a:srgbClr val="FFFFFF"/>
          </a:solidFill>
          <a:ln w="12700">
            <a:solidFill>
              <a:srgbClr val="E4E1DD"/>
            </a:solidFill>
            <a:prstDash val="solid"/>
          </a:ln>
          <a:effectLst>
            <a:outerShdw blurRad="63500" dist="25400" dir="5400000" algn="bl" rotWithShape="0">
              <a:srgbClr val="000000">
                <a:alpha val="10000"/>
              </a:srgbClr>
            </a:outerShdw>
          </a:effectLst>
        </p:spPr>
        <p:txBody>
          <a:bodyPr/>
          <a:lstStyle/>
          <a:p>
            <a:endParaRPr lang="en-ZA"/>
          </a:p>
        </p:txBody>
      </p:sp>
      <p:sp>
        <p:nvSpPr>
          <p:cNvPr id="17" name="Text 14"/>
          <p:cNvSpPr/>
          <p:nvPr/>
        </p:nvSpPr>
        <p:spPr>
          <a:xfrm>
            <a:off x="6428232" y="4709160"/>
            <a:ext cx="4983480" cy="384048"/>
          </a:xfrm>
          <a:prstGeom prst="rect">
            <a:avLst/>
          </a:prstGeom>
          <a:noFill/>
          <a:ln/>
        </p:spPr>
        <p:txBody>
          <a:bodyPr wrap="square" rtlCol="0" anchor="ctr"/>
          <a:lstStyle/>
          <a:p>
            <a:pPr marL="0" indent="0">
              <a:buNone/>
            </a:pPr>
            <a:r>
              <a:rPr lang="en-US" sz="1400" b="1" dirty="0">
                <a:solidFill>
                  <a:srgbClr val="7A1E3E"/>
                </a:solidFill>
                <a:latin typeface="Cambria" pitchFamily="34" charset="0"/>
                <a:ea typeface="Cambria" pitchFamily="34" charset="-122"/>
              </a:rPr>
              <a:t>Additional features from mature plugins</a:t>
            </a:r>
            <a:endParaRPr lang="en-US" sz="1400" dirty="0"/>
          </a:p>
        </p:txBody>
      </p:sp>
      <p:sp>
        <p:nvSpPr>
          <p:cNvPr id="18" name="Text 15"/>
          <p:cNvSpPr/>
          <p:nvPr/>
        </p:nvSpPr>
        <p:spPr>
          <a:xfrm>
            <a:off x="6428232" y="5266944"/>
            <a:ext cx="4983480" cy="737616"/>
          </a:xfrm>
          <a:prstGeom prst="rect">
            <a:avLst/>
          </a:prstGeom>
          <a:noFill/>
          <a:ln/>
        </p:spPr>
        <p:txBody>
          <a:bodyPr wrap="square" rtlCol="0" anchor="ctr"/>
          <a:lstStyle/>
          <a:p>
            <a:pPr marL="0" indent="0">
              <a:lnSpc>
                <a:spcPct val="118000"/>
              </a:lnSpc>
              <a:buNone/>
            </a:pPr>
            <a:r>
              <a:rPr lang="en-US" sz="1400" dirty="0">
                <a:solidFill>
                  <a:srgbClr val="6B6B6B"/>
                </a:solidFill>
                <a:latin typeface="Calibri" pitchFamily="34" charset="0"/>
                <a:ea typeface="Calibri" pitchFamily="34" charset="-122"/>
                <a:cs typeface="Calibri" pitchFamily="34" charset="-120"/>
              </a:rPr>
              <a:t>Deep-linked email confirmation, video posts, CV upload and QR Connect were all able to be built without native code</a:t>
            </a:r>
            <a:endParaRPr lang="en-US" sz="1400" dirty="0"/>
          </a:p>
        </p:txBody>
      </p:sp>
      <p:sp>
        <p:nvSpPr>
          <p:cNvPr id="19" name="Text 16"/>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Richfield Connect · Hackathon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GUIDED FROM FIRST LOGIN</a:t>
            </a:r>
            <a:endParaRPr lang="en-US" sz="1250" dirty="0"/>
          </a:p>
        </p:txBody>
      </p:sp>
      <p:sp>
        <p:nvSpPr>
          <p:cNvPr id="3" name="Text 1"/>
          <p:cNvSpPr/>
          <p:nvPr/>
        </p:nvSpPr>
        <p:spPr>
          <a:xfrm>
            <a:off x="548640" y="603504"/>
            <a:ext cx="11064240" cy="685800"/>
          </a:xfrm>
          <a:prstGeom prst="rect">
            <a:avLst/>
          </a:prstGeom>
          <a:noFill/>
          <a:ln/>
        </p:spPr>
        <p:txBody>
          <a:bodyPr wrap="square" rtlCol="0" anchor="ctr"/>
          <a:lstStyle/>
          <a:p>
            <a:pPr marL="0" indent="0">
              <a:buNone/>
            </a:pPr>
            <a:r>
              <a:rPr lang="en-US" sz="2700" b="1" dirty="0">
                <a:solidFill>
                  <a:srgbClr val="2B2B2B"/>
                </a:solidFill>
                <a:latin typeface="Cambria" pitchFamily="34" charset="0"/>
                <a:ea typeface="Cambria" pitchFamily="34" charset="-122"/>
                <a:cs typeface="Cambria" pitchFamily="34" charset="-120"/>
              </a:rPr>
              <a:t>Onboarding, Tutorial &amp; the Career AI Assistant</a:t>
            </a:r>
            <a:endParaRPr lang="en-US" sz="2700" dirty="0"/>
          </a:p>
        </p:txBody>
      </p:sp>
      <p:sp>
        <p:nvSpPr>
          <p:cNvPr id="25" name="Text 21"/>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Richfield Connect · Hackathon 2026</a:t>
            </a:r>
            <a:endParaRPr lang="en-US" sz="900" dirty="0"/>
          </a:p>
        </p:txBody>
      </p:sp>
      <p:sp>
        <p:nvSpPr>
          <p:cNvPr id="27" name="Shape 2">
            <a:extLst>
              <a:ext uri="{FF2B5EF4-FFF2-40B4-BE49-F238E27FC236}">
                <a16:creationId xmlns:a16="http://schemas.microsoft.com/office/drawing/2014/main" id="{90AD3A70-8E4D-78D5-DAD7-DCC438860E8E}"/>
              </a:ext>
            </a:extLst>
          </p:cNvPr>
          <p:cNvSpPr/>
          <p:nvPr/>
        </p:nvSpPr>
        <p:spPr>
          <a:xfrm>
            <a:off x="629920" y="1508760"/>
            <a:ext cx="4572000" cy="4434840"/>
          </a:xfrm>
          <a:prstGeom prst="roundRect">
            <a:avLst>
              <a:gd name="adj" fmla="val 1649"/>
            </a:avLst>
          </a:prstGeom>
          <a:solidFill>
            <a:srgbClr val="FFFFFF"/>
          </a:solidFill>
          <a:ln w="12700">
            <a:solidFill>
              <a:srgbClr val="E2E2E2"/>
            </a:solidFill>
            <a:prstDash val="solid"/>
          </a:ln>
          <a:effectLst>
            <a:outerShdw blurRad="76200" dist="25400" dir="5400000" algn="bl" rotWithShape="0">
              <a:srgbClr val="000000">
                <a:alpha val="8000"/>
              </a:srgbClr>
            </a:outerShdw>
          </a:effectLst>
        </p:spPr>
        <p:txBody>
          <a:bodyPr/>
          <a:lstStyle/>
          <a:p>
            <a:endParaRPr lang="en-ZA"/>
          </a:p>
        </p:txBody>
      </p:sp>
      <p:sp>
        <p:nvSpPr>
          <p:cNvPr id="29" name="Shape 3">
            <a:extLst>
              <a:ext uri="{FF2B5EF4-FFF2-40B4-BE49-F238E27FC236}">
                <a16:creationId xmlns:a16="http://schemas.microsoft.com/office/drawing/2014/main" id="{2342C152-A968-9294-16B0-F70FF682AE86}"/>
              </a:ext>
            </a:extLst>
          </p:cNvPr>
          <p:cNvSpPr/>
          <p:nvPr/>
        </p:nvSpPr>
        <p:spPr>
          <a:xfrm>
            <a:off x="949960" y="1828800"/>
            <a:ext cx="594360" cy="594360"/>
          </a:xfrm>
          <a:prstGeom prst="ellipse">
            <a:avLst/>
          </a:prstGeom>
          <a:solidFill>
            <a:srgbClr val="7B1F3E"/>
          </a:solidFill>
          <a:ln w="12700">
            <a:solidFill>
              <a:srgbClr val="7B1F3E"/>
            </a:solidFill>
            <a:prstDash val="solid"/>
          </a:ln>
        </p:spPr>
        <p:txBody>
          <a:bodyPr/>
          <a:lstStyle/>
          <a:p>
            <a:endParaRPr lang="en-ZA"/>
          </a:p>
        </p:txBody>
      </p:sp>
      <p:pic>
        <p:nvPicPr>
          <p:cNvPr id="31" name="Image 0" descr="preencoded.png">
            <a:extLst>
              <a:ext uri="{FF2B5EF4-FFF2-40B4-BE49-F238E27FC236}">
                <a16:creationId xmlns:a16="http://schemas.microsoft.com/office/drawing/2014/main" id="{F02CFE20-011D-0182-ECDC-8D3D085059E5}"/>
              </a:ext>
            </a:extLst>
          </p:cNvPr>
          <p:cNvPicPr>
            <a:picLocks noChangeAspect="1"/>
          </p:cNvPicPr>
          <p:nvPr/>
        </p:nvPicPr>
        <p:blipFill>
          <a:blip r:embed="rId3"/>
          <a:stretch>
            <a:fillRect/>
          </a:stretch>
        </p:blipFill>
        <p:spPr>
          <a:xfrm>
            <a:off x="1096264" y="1975104"/>
            <a:ext cx="301752" cy="301752"/>
          </a:xfrm>
          <a:prstGeom prst="rect">
            <a:avLst/>
          </a:prstGeom>
        </p:spPr>
      </p:pic>
      <p:sp>
        <p:nvSpPr>
          <p:cNvPr id="33" name="Text 4">
            <a:extLst>
              <a:ext uri="{FF2B5EF4-FFF2-40B4-BE49-F238E27FC236}">
                <a16:creationId xmlns:a16="http://schemas.microsoft.com/office/drawing/2014/main" id="{715C72B7-7FB9-23CA-9A28-A51034E4B9C8}"/>
              </a:ext>
            </a:extLst>
          </p:cNvPr>
          <p:cNvSpPr txBox="1"/>
          <p:nvPr/>
        </p:nvSpPr>
        <p:spPr>
          <a:xfrm>
            <a:off x="1727200" y="1828800"/>
            <a:ext cx="3291840" cy="594360"/>
          </a:xfrm>
          <a:prstGeom prst="rect">
            <a:avLst/>
          </a:prstGeom>
          <a:noFill/>
          <a:ln/>
        </p:spPr>
        <p:txBody>
          <a:bodyPr wrap="square" lIns="0" tIns="0" rIns="0" bIns="0" rtlCol="0" anchor="ctr"/>
          <a:lstStyle/>
          <a:p>
            <a:pPr marL="0" indent="0">
              <a:buNone/>
            </a:pPr>
            <a:r>
              <a:rPr lang="en-US" sz="2200" b="1" dirty="0">
                <a:solidFill>
                  <a:srgbClr val="23262D"/>
                </a:solidFill>
                <a:latin typeface="Cambria" pitchFamily="34" charset="0"/>
                <a:ea typeface="Cambria" pitchFamily="34" charset="-122"/>
                <a:cs typeface="Cambria" pitchFamily="34" charset="-120"/>
              </a:rPr>
              <a:t>First-time experience</a:t>
            </a:r>
            <a:endParaRPr lang="en-US" sz="2200" dirty="0"/>
          </a:p>
        </p:txBody>
      </p:sp>
      <p:sp>
        <p:nvSpPr>
          <p:cNvPr id="35" name="Text 5">
            <a:extLst>
              <a:ext uri="{FF2B5EF4-FFF2-40B4-BE49-F238E27FC236}">
                <a16:creationId xmlns:a16="http://schemas.microsoft.com/office/drawing/2014/main" id="{F5EEFCFB-315E-D8C5-37B6-8DE2E9AB75F8}"/>
              </a:ext>
            </a:extLst>
          </p:cNvPr>
          <p:cNvSpPr txBox="1"/>
          <p:nvPr/>
        </p:nvSpPr>
        <p:spPr>
          <a:xfrm>
            <a:off x="949960" y="2788920"/>
            <a:ext cx="3931920" cy="2880360"/>
          </a:xfrm>
          <a:prstGeom prst="rect">
            <a:avLst/>
          </a:prstGeom>
          <a:noFill/>
          <a:ln/>
        </p:spPr>
        <p:txBody>
          <a:bodyPr wrap="square" lIns="0" tIns="0" rIns="0" bIns="0" rtlCol="0" anchor="t"/>
          <a:lstStyle/>
          <a:p>
            <a:pPr marL="0" indent="0">
              <a:spcAft>
                <a:spcPts val="300"/>
              </a:spcAft>
              <a:buNone/>
            </a:pPr>
            <a:r>
              <a:rPr lang="en-US" sz="1900" b="1" dirty="0">
                <a:solidFill>
                  <a:srgbClr val="23262D"/>
                </a:solidFill>
                <a:latin typeface="Calibri" pitchFamily="34" charset="0"/>
                <a:ea typeface="Calibri" pitchFamily="34" charset="-122"/>
                <a:cs typeface="Calibri" pitchFamily="34" charset="-120"/>
              </a:rPr>
              <a:t>Interactive first-launch tour</a:t>
            </a:r>
            <a:endParaRPr lang="en-US" sz="1900" dirty="0"/>
          </a:p>
          <a:p>
            <a:pPr marL="0" indent="0">
              <a:spcAft>
                <a:spcPts val="2200"/>
              </a:spcAft>
              <a:buNone/>
            </a:pPr>
            <a:r>
              <a:rPr lang="en-US" sz="1500" dirty="0">
                <a:solidFill>
                  <a:srgbClr val="5B6070"/>
                </a:solidFill>
                <a:latin typeface="Calibri" pitchFamily="34" charset="0"/>
                <a:ea typeface="Calibri" pitchFamily="34" charset="-122"/>
                <a:cs typeface="Calibri" pitchFamily="34" charset="-120"/>
              </a:rPr>
              <a:t>Feed, portfolio, jobs and messaging</a:t>
            </a:r>
            <a:endParaRPr lang="en-US" sz="1900" dirty="0"/>
          </a:p>
          <a:p>
            <a:pPr marL="0" indent="0">
              <a:spcAft>
                <a:spcPts val="300"/>
              </a:spcAft>
              <a:buNone/>
            </a:pPr>
            <a:r>
              <a:rPr lang="en-US" sz="1900" b="1" dirty="0">
                <a:solidFill>
                  <a:srgbClr val="23262D"/>
                </a:solidFill>
                <a:latin typeface="Calibri" pitchFamily="34" charset="0"/>
                <a:ea typeface="Calibri" pitchFamily="34" charset="-122"/>
                <a:cs typeface="Calibri" pitchFamily="34" charset="-120"/>
              </a:rPr>
              <a:t>Re-open it any time</a:t>
            </a:r>
            <a:endParaRPr lang="en-US" sz="1900" dirty="0"/>
          </a:p>
          <a:p>
            <a:pPr marL="0" indent="0">
              <a:spcAft>
                <a:spcPts val="2200"/>
              </a:spcAft>
              <a:buNone/>
            </a:pPr>
            <a:r>
              <a:rPr lang="en-US" sz="1500" dirty="0">
                <a:solidFill>
                  <a:srgbClr val="5B6070"/>
                </a:solidFill>
                <a:latin typeface="Calibri" pitchFamily="34" charset="0"/>
                <a:ea typeface="Calibri" pitchFamily="34" charset="-122"/>
                <a:cs typeface="Calibri" pitchFamily="34" charset="-120"/>
              </a:rPr>
              <a:t>From the account menu, not a one-off splash</a:t>
            </a:r>
            <a:endParaRPr lang="en-US" sz="1900" dirty="0"/>
          </a:p>
          <a:p>
            <a:pPr marL="0" indent="0">
              <a:spcAft>
                <a:spcPts val="300"/>
              </a:spcAft>
              <a:buNone/>
            </a:pPr>
            <a:r>
              <a:rPr lang="en-US" sz="1900" b="1" dirty="0">
                <a:solidFill>
                  <a:srgbClr val="23262D"/>
                </a:solidFill>
                <a:latin typeface="Calibri" pitchFamily="34" charset="0"/>
                <a:ea typeface="Calibri" pitchFamily="34" charset="-122"/>
                <a:cs typeface="Calibri" pitchFamily="34" charset="-120"/>
              </a:rPr>
              <a:t>Guided profile completion</a:t>
            </a:r>
            <a:endParaRPr lang="en-US" sz="1900" dirty="0"/>
          </a:p>
          <a:p>
            <a:pPr marL="0" indent="0">
              <a:buNone/>
            </a:pPr>
            <a:r>
              <a:rPr lang="en-US" sz="1500" dirty="0">
                <a:solidFill>
                  <a:srgbClr val="5B6070"/>
                </a:solidFill>
                <a:latin typeface="Calibri" pitchFamily="34" charset="0"/>
                <a:ea typeface="Calibri" pitchFamily="34" charset="-122"/>
                <a:cs typeface="Calibri" pitchFamily="34" charset="-120"/>
              </a:rPr>
              <a:t>The assistant explains what employers look for</a:t>
            </a:r>
            <a:endParaRPr lang="en-US" sz="1900" dirty="0"/>
          </a:p>
        </p:txBody>
      </p:sp>
      <p:sp>
        <p:nvSpPr>
          <p:cNvPr id="37" name="Shape 6">
            <a:extLst>
              <a:ext uri="{FF2B5EF4-FFF2-40B4-BE49-F238E27FC236}">
                <a16:creationId xmlns:a16="http://schemas.microsoft.com/office/drawing/2014/main" id="{BBE1E2E8-3585-9294-A5C5-713D58AF84CD}"/>
              </a:ext>
            </a:extLst>
          </p:cNvPr>
          <p:cNvSpPr/>
          <p:nvPr/>
        </p:nvSpPr>
        <p:spPr>
          <a:xfrm>
            <a:off x="5476240" y="1508760"/>
            <a:ext cx="6245352" cy="4434840"/>
          </a:xfrm>
          <a:prstGeom prst="roundRect">
            <a:avLst>
              <a:gd name="adj" fmla="val 1649"/>
            </a:avLst>
          </a:prstGeom>
          <a:solidFill>
            <a:srgbClr val="0B6E79"/>
          </a:solidFill>
          <a:ln w="12700">
            <a:solidFill>
              <a:srgbClr val="0B6E79"/>
            </a:solidFill>
            <a:prstDash val="solid"/>
          </a:ln>
          <a:effectLst>
            <a:outerShdw blurRad="76200" dist="25400" dir="5400000" algn="bl" rotWithShape="0">
              <a:srgbClr val="000000">
                <a:alpha val="8000"/>
              </a:srgbClr>
            </a:outerShdw>
          </a:effectLst>
        </p:spPr>
        <p:txBody>
          <a:bodyPr/>
          <a:lstStyle/>
          <a:p>
            <a:endParaRPr lang="en-ZA"/>
          </a:p>
        </p:txBody>
      </p:sp>
      <p:sp>
        <p:nvSpPr>
          <p:cNvPr id="39" name="Shape 7">
            <a:extLst>
              <a:ext uri="{FF2B5EF4-FFF2-40B4-BE49-F238E27FC236}">
                <a16:creationId xmlns:a16="http://schemas.microsoft.com/office/drawing/2014/main" id="{905A2D02-118D-9493-399B-495C23A76567}"/>
              </a:ext>
            </a:extLst>
          </p:cNvPr>
          <p:cNvSpPr/>
          <p:nvPr/>
        </p:nvSpPr>
        <p:spPr>
          <a:xfrm>
            <a:off x="5796280" y="1828800"/>
            <a:ext cx="594360" cy="594360"/>
          </a:xfrm>
          <a:prstGeom prst="ellipse">
            <a:avLst/>
          </a:prstGeom>
          <a:solidFill>
            <a:srgbClr val="FFFFFF"/>
          </a:solidFill>
          <a:ln w="12700">
            <a:solidFill>
              <a:srgbClr val="FFFFFF"/>
            </a:solidFill>
            <a:prstDash val="solid"/>
          </a:ln>
        </p:spPr>
        <p:txBody>
          <a:bodyPr/>
          <a:lstStyle/>
          <a:p>
            <a:endParaRPr lang="en-ZA"/>
          </a:p>
        </p:txBody>
      </p:sp>
      <p:pic>
        <p:nvPicPr>
          <p:cNvPr id="41" name="Image 1" descr="preencoded.png">
            <a:extLst>
              <a:ext uri="{FF2B5EF4-FFF2-40B4-BE49-F238E27FC236}">
                <a16:creationId xmlns:a16="http://schemas.microsoft.com/office/drawing/2014/main" id="{8EC61A54-C953-9F9D-B74E-9F8B6C857D8C}"/>
              </a:ext>
            </a:extLst>
          </p:cNvPr>
          <p:cNvPicPr>
            <a:picLocks noChangeAspect="1"/>
          </p:cNvPicPr>
          <p:nvPr/>
        </p:nvPicPr>
        <p:blipFill>
          <a:blip r:embed="rId4"/>
          <a:stretch>
            <a:fillRect/>
          </a:stretch>
        </p:blipFill>
        <p:spPr>
          <a:xfrm>
            <a:off x="5942584" y="1975104"/>
            <a:ext cx="301752" cy="301752"/>
          </a:xfrm>
          <a:prstGeom prst="rect">
            <a:avLst/>
          </a:prstGeom>
        </p:spPr>
      </p:pic>
      <p:sp>
        <p:nvSpPr>
          <p:cNvPr id="43" name="Text 8">
            <a:extLst>
              <a:ext uri="{FF2B5EF4-FFF2-40B4-BE49-F238E27FC236}">
                <a16:creationId xmlns:a16="http://schemas.microsoft.com/office/drawing/2014/main" id="{5C844014-79D1-913C-51B9-DEF131F2E2AD}"/>
              </a:ext>
            </a:extLst>
          </p:cNvPr>
          <p:cNvSpPr txBox="1"/>
          <p:nvPr/>
        </p:nvSpPr>
        <p:spPr>
          <a:xfrm>
            <a:off x="6573520" y="1783080"/>
            <a:ext cx="4873752" cy="6858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Career AI assistant</a:t>
            </a:r>
            <a:endParaRPr lang="en-US" sz="2200" dirty="0"/>
          </a:p>
          <a:p>
            <a:pPr marL="0" indent="0">
              <a:buNone/>
            </a:pPr>
            <a:r>
              <a:rPr lang="en-US" sz="1400" i="1" dirty="0">
                <a:solidFill>
                  <a:srgbClr val="D6EEF0"/>
                </a:solidFill>
                <a:latin typeface="Calibri" pitchFamily="34" charset="0"/>
                <a:ea typeface="Calibri" pitchFamily="34" charset="-122"/>
                <a:cs typeface="Calibri" pitchFamily="34" charset="-120"/>
              </a:rPr>
              <a:t>A real model, not a scripted chatbot</a:t>
            </a:r>
            <a:endParaRPr lang="en-US" sz="2200" dirty="0"/>
          </a:p>
        </p:txBody>
      </p:sp>
      <p:sp>
        <p:nvSpPr>
          <p:cNvPr id="45" name="Shape 9">
            <a:extLst>
              <a:ext uri="{FF2B5EF4-FFF2-40B4-BE49-F238E27FC236}">
                <a16:creationId xmlns:a16="http://schemas.microsoft.com/office/drawing/2014/main" id="{02A25EA1-8988-2F3D-7DAE-70803A4D7C40}"/>
              </a:ext>
            </a:extLst>
          </p:cNvPr>
          <p:cNvSpPr/>
          <p:nvPr/>
        </p:nvSpPr>
        <p:spPr>
          <a:xfrm>
            <a:off x="5796280" y="2743200"/>
            <a:ext cx="1481328" cy="566928"/>
          </a:xfrm>
          <a:prstGeom prst="roundRect">
            <a:avLst>
              <a:gd name="adj" fmla="val 12903"/>
            </a:avLst>
          </a:prstGeom>
          <a:solidFill>
            <a:srgbClr val="FFFFFF"/>
          </a:solidFill>
          <a:ln w="12700">
            <a:solidFill>
              <a:srgbClr val="FFFFFF"/>
            </a:solidFill>
            <a:prstDash val="solid"/>
          </a:ln>
        </p:spPr>
        <p:txBody>
          <a:bodyPr/>
          <a:lstStyle/>
          <a:p>
            <a:endParaRPr lang="en-ZA"/>
          </a:p>
        </p:txBody>
      </p:sp>
      <p:sp>
        <p:nvSpPr>
          <p:cNvPr id="47" name="Text 10">
            <a:extLst>
              <a:ext uri="{FF2B5EF4-FFF2-40B4-BE49-F238E27FC236}">
                <a16:creationId xmlns:a16="http://schemas.microsoft.com/office/drawing/2014/main" id="{DC5C7D96-CC78-96A8-57AA-64E5BCBF680F}"/>
              </a:ext>
            </a:extLst>
          </p:cNvPr>
          <p:cNvSpPr txBox="1"/>
          <p:nvPr/>
        </p:nvSpPr>
        <p:spPr>
          <a:xfrm>
            <a:off x="5796280" y="2743200"/>
            <a:ext cx="1481328" cy="566928"/>
          </a:xfrm>
          <a:prstGeom prst="rect">
            <a:avLst/>
          </a:prstGeom>
          <a:noFill/>
          <a:ln/>
        </p:spPr>
        <p:txBody>
          <a:bodyPr wrap="square" lIns="0" tIns="0" rIns="0" bIns="0" rtlCol="0" anchor="ctr"/>
          <a:lstStyle/>
          <a:p>
            <a:pPr marL="0" indent="0" algn="ctr">
              <a:buNone/>
            </a:pPr>
            <a:r>
              <a:rPr lang="en-US" sz="1500" b="1" dirty="0">
                <a:solidFill>
                  <a:srgbClr val="23262D"/>
                </a:solidFill>
                <a:latin typeface="Calibri" pitchFamily="34" charset="0"/>
                <a:ea typeface="Calibri" pitchFamily="34" charset="-122"/>
                <a:cs typeface="Calibri" pitchFamily="34" charset="-120"/>
              </a:rPr>
              <a:t>Mobile app</a:t>
            </a:r>
            <a:endParaRPr lang="en-US" sz="1500" dirty="0"/>
          </a:p>
        </p:txBody>
      </p:sp>
      <p:sp>
        <p:nvSpPr>
          <p:cNvPr id="49" name="Shape 11">
            <a:extLst>
              <a:ext uri="{FF2B5EF4-FFF2-40B4-BE49-F238E27FC236}">
                <a16:creationId xmlns:a16="http://schemas.microsoft.com/office/drawing/2014/main" id="{DAE14449-4856-445A-E552-1A18946AAEFC}"/>
              </a:ext>
            </a:extLst>
          </p:cNvPr>
          <p:cNvSpPr/>
          <p:nvPr/>
        </p:nvSpPr>
        <p:spPr>
          <a:xfrm>
            <a:off x="7350760" y="3026664"/>
            <a:ext cx="420624" cy="0"/>
          </a:xfrm>
          <a:prstGeom prst="line">
            <a:avLst/>
          </a:prstGeom>
          <a:noFill/>
          <a:ln w="25400">
            <a:solidFill>
              <a:srgbClr val="FFFFFF"/>
            </a:solidFill>
            <a:prstDash val="solid"/>
            <a:headEnd type="triangle"/>
            <a:tailEnd type="triangle"/>
          </a:ln>
        </p:spPr>
        <p:txBody>
          <a:bodyPr/>
          <a:lstStyle/>
          <a:p>
            <a:endParaRPr lang="en-ZA"/>
          </a:p>
        </p:txBody>
      </p:sp>
      <p:sp>
        <p:nvSpPr>
          <p:cNvPr id="51" name="Shape 12">
            <a:extLst>
              <a:ext uri="{FF2B5EF4-FFF2-40B4-BE49-F238E27FC236}">
                <a16:creationId xmlns:a16="http://schemas.microsoft.com/office/drawing/2014/main" id="{8BC4E1BB-62A4-51F8-11E2-CE195C8FF361}"/>
              </a:ext>
            </a:extLst>
          </p:cNvPr>
          <p:cNvSpPr/>
          <p:nvPr/>
        </p:nvSpPr>
        <p:spPr>
          <a:xfrm>
            <a:off x="7844536" y="2743200"/>
            <a:ext cx="1481328" cy="566928"/>
          </a:xfrm>
          <a:prstGeom prst="roundRect">
            <a:avLst>
              <a:gd name="adj" fmla="val 12903"/>
            </a:avLst>
          </a:prstGeom>
          <a:solidFill>
            <a:srgbClr val="FFFFFF"/>
          </a:solidFill>
          <a:ln w="12700">
            <a:solidFill>
              <a:srgbClr val="FFFFFF"/>
            </a:solidFill>
            <a:prstDash val="solid"/>
          </a:ln>
        </p:spPr>
        <p:txBody>
          <a:bodyPr/>
          <a:lstStyle/>
          <a:p>
            <a:endParaRPr lang="en-ZA"/>
          </a:p>
        </p:txBody>
      </p:sp>
      <p:sp>
        <p:nvSpPr>
          <p:cNvPr id="53" name="Text 13">
            <a:extLst>
              <a:ext uri="{FF2B5EF4-FFF2-40B4-BE49-F238E27FC236}">
                <a16:creationId xmlns:a16="http://schemas.microsoft.com/office/drawing/2014/main" id="{52884ABB-20AD-F918-AC2E-66DD9DABEE2E}"/>
              </a:ext>
            </a:extLst>
          </p:cNvPr>
          <p:cNvSpPr txBox="1"/>
          <p:nvPr/>
        </p:nvSpPr>
        <p:spPr>
          <a:xfrm>
            <a:off x="7844536" y="2743200"/>
            <a:ext cx="1481328" cy="566928"/>
          </a:xfrm>
          <a:prstGeom prst="rect">
            <a:avLst/>
          </a:prstGeom>
          <a:noFill/>
          <a:ln/>
        </p:spPr>
        <p:txBody>
          <a:bodyPr wrap="square" lIns="0" tIns="0" rIns="0" bIns="0" rtlCol="0" anchor="ctr"/>
          <a:lstStyle/>
          <a:p>
            <a:pPr marL="0" indent="0" algn="ctr">
              <a:buNone/>
            </a:pPr>
            <a:r>
              <a:rPr lang="en-US" sz="1500" b="1" dirty="0">
                <a:solidFill>
                  <a:srgbClr val="23262D"/>
                </a:solidFill>
                <a:latin typeface="Calibri" pitchFamily="34" charset="0"/>
                <a:ea typeface="Calibri" pitchFamily="34" charset="-122"/>
                <a:cs typeface="Calibri" pitchFamily="34" charset="-120"/>
              </a:rPr>
              <a:t>Flask service</a:t>
            </a:r>
            <a:endParaRPr lang="en-US" sz="1500" dirty="0"/>
          </a:p>
          <a:p>
            <a:pPr marL="0" indent="0" algn="ctr">
              <a:buNone/>
            </a:pPr>
            <a:r>
              <a:rPr lang="en-US" sz="1150" dirty="0">
                <a:solidFill>
                  <a:srgbClr val="0B6E79"/>
                </a:solidFill>
                <a:latin typeface="Consolas" pitchFamily="34" charset="0"/>
                <a:ea typeface="Consolas" pitchFamily="34" charset="-122"/>
                <a:cs typeface="Consolas" pitchFamily="34" charset="-120"/>
              </a:rPr>
              <a:t>/api/chat</a:t>
            </a:r>
            <a:endParaRPr lang="en-US" sz="1500" dirty="0"/>
          </a:p>
        </p:txBody>
      </p:sp>
      <p:sp>
        <p:nvSpPr>
          <p:cNvPr id="55" name="Shape 14">
            <a:extLst>
              <a:ext uri="{FF2B5EF4-FFF2-40B4-BE49-F238E27FC236}">
                <a16:creationId xmlns:a16="http://schemas.microsoft.com/office/drawing/2014/main" id="{6F822E97-35B8-3DDA-0BA4-05F5EEDBD56D}"/>
              </a:ext>
            </a:extLst>
          </p:cNvPr>
          <p:cNvSpPr/>
          <p:nvPr/>
        </p:nvSpPr>
        <p:spPr>
          <a:xfrm>
            <a:off x="9399016" y="3026664"/>
            <a:ext cx="420624" cy="0"/>
          </a:xfrm>
          <a:prstGeom prst="line">
            <a:avLst/>
          </a:prstGeom>
          <a:noFill/>
          <a:ln w="25400">
            <a:solidFill>
              <a:srgbClr val="FFFFFF"/>
            </a:solidFill>
            <a:prstDash val="solid"/>
            <a:headEnd type="triangle"/>
            <a:tailEnd type="triangle"/>
          </a:ln>
        </p:spPr>
        <p:txBody>
          <a:bodyPr/>
          <a:lstStyle/>
          <a:p>
            <a:endParaRPr lang="en-ZA"/>
          </a:p>
        </p:txBody>
      </p:sp>
      <p:sp>
        <p:nvSpPr>
          <p:cNvPr id="57" name="Shape 15">
            <a:extLst>
              <a:ext uri="{FF2B5EF4-FFF2-40B4-BE49-F238E27FC236}">
                <a16:creationId xmlns:a16="http://schemas.microsoft.com/office/drawing/2014/main" id="{FC3CB1F8-E26A-0DD8-637C-22D2C561A865}"/>
              </a:ext>
            </a:extLst>
          </p:cNvPr>
          <p:cNvSpPr/>
          <p:nvPr/>
        </p:nvSpPr>
        <p:spPr>
          <a:xfrm>
            <a:off x="9892792" y="2743200"/>
            <a:ext cx="1481328" cy="566928"/>
          </a:xfrm>
          <a:prstGeom prst="roundRect">
            <a:avLst>
              <a:gd name="adj" fmla="val 12903"/>
            </a:avLst>
          </a:prstGeom>
          <a:solidFill>
            <a:srgbClr val="FFFFFF"/>
          </a:solidFill>
          <a:ln w="12700">
            <a:solidFill>
              <a:srgbClr val="FFFFFF"/>
            </a:solidFill>
            <a:prstDash val="solid"/>
          </a:ln>
        </p:spPr>
        <p:txBody>
          <a:bodyPr/>
          <a:lstStyle/>
          <a:p>
            <a:endParaRPr lang="en-ZA"/>
          </a:p>
        </p:txBody>
      </p:sp>
      <p:sp>
        <p:nvSpPr>
          <p:cNvPr id="59" name="Text 16">
            <a:extLst>
              <a:ext uri="{FF2B5EF4-FFF2-40B4-BE49-F238E27FC236}">
                <a16:creationId xmlns:a16="http://schemas.microsoft.com/office/drawing/2014/main" id="{5B85CD66-76B4-25DE-2F2B-082345E77111}"/>
              </a:ext>
            </a:extLst>
          </p:cNvPr>
          <p:cNvSpPr txBox="1"/>
          <p:nvPr/>
        </p:nvSpPr>
        <p:spPr>
          <a:xfrm>
            <a:off x="9892792" y="2743200"/>
            <a:ext cx="1481328" cy="566928"/>
          </a:xfrm>
          <a:prstGeom prst="rect">
            <a:avLst/>
          </a:prstGeom>
          <a:noFill/>
          <a:ln/>
        </p:spPr>
        <p:txBody>
          <a:bodyPr wrap="square" lIns="0" tIns="0" rIns="0" bIns="0" rtlCol="0" anchor="ctr"/>
          <a:lstStyle/>
          <a:p>
            <a:pPr marL="0" indent="0" algn="ctr">
              <a:buNone/>
            </a:pPr>
            <a:r>
              <a:rPr lang="en-US" sz="1500" b="1" dirty="0">
                <a:solidFill>
                  <a:srgbClr val="23262D"/>
                </a:solidFill>
                <a:latin typeface="Calibri" pitchFamily="34" charset="0"/>
                <a:ea typeface="Calibri" pitchFamily="34" charset="-122"/>
                <a:cs typeface="Calibri" pitchFamily="34" charset="-120"/>
              </a:rPr>
              <a:t>Gemini</a:t>
            </a:r>
            <a:endParaRPr lang="en-US" sz="1500" dirty="0"/>
          </a:p>
          <a:p>
            <a:pPr marL="0" indent="0" algn="ctr">
              <a:buNone/>
            </a:pPr>
            <a:r>
              <a:rPr lang="en-US" sz="1150" dirty="0">
                <a:solidFill>
                  <a:srgbClr val="0B6E79"/>
                </a:solidFill>
                <a:latin typeface="Calibri" pitchFamily="34" charset="0"/>
                <a:ea typeface="Calibri" pitchFamily="34" charset="-122"/>
                <a:cs typeface="Calibri" pitchFamily="34" charset="-120"/>
              </a:rPr>
              <a:t>2.5 Flash</a:t>
            </a:r>
            <a:endParaRPr lang="en-US" sz="1500" dirty="0"/>
          </a:p>
        </p:txBody>
      </p:sp>
      <p:sp>
        <p:nvSpPr>
          <p:cNvPr id="61" name="Text 17">
            <a:extLst>
              <a:ext uri="{FF2B5EF4-FFF2-40B4-BE49-F238E27FC236}">
                <a16:creationId xmlns:a16="http://schemas.microsoft.com/office/drawing/2014/main" id="{0CEEFBB4-37E8-1093-7844-5164A6CC53F0}"/>
              </a:ext>
            </a:extLst>
          </p:cNvPr>
          <p:cNvSpPr txBox="1"/>
          <p:nvPr/>
        </p:nvSpPr>
        <p:spPr>
          <a:xfrm>
            <a:off x="5796280" y="3401568"/>
            <a:ext cx="5605272" cy="274320"/>
          </a:xfrm>
          <a:prstGeom prst="rect">
            <a:avLst/>
          </a:prstGeom>
          <a:noFill/>
          <a:ln/>
        </p:spPr>
        <p:txBody>
          <a:bodyPr wrap="square" lIns="0" tIns="0" rIns="0" bIns="0" rtlCol="0" anchor="ctr"/>
          <a:lstStyle/>
          <a:p>
            <a:pPr marL="0" indent="0">
              <a:buNone/>
            </a:pPr>
            <a:r>
              <a:rPr lang="en-US" sz="1300" dirty="0">
                <a:solidFill>
                  <a:srgbClr val="D6EEF0"/>
                </a:solidFill>
                <a:latin typeface="Calibri" pitchFamily="34" charset="0"/>
                <a:ea typeface="Calibri" pitchFamily="34" charset="-122"/>
                <a:cs typeface="Calibri" pitchFamily="34" charset="-120"/>
              </a:rPr>
              <a:t>The app sends a profile summary plus the question; advice comes back</a:t>
            </a:r>
            <a:endParaRPr lang="en-US" sz="1300" dirty="0"/>
          </a:p>
        </p:txBody>
      </p:sp>
      <p:sp>
        <p:nvSpPr>
          <p:cNvPr id="63" name="Text 18">
            <a:extLst>
              <a:ext uri="{FF2B5EF4-FFF2-40B4-BE49-F238E27FC236}">
                <a16:creationId xmlns:a16="http://schemas.microsoft.com/office/drawing/2014/main" id="{E74E2E0A-7BA2-9FAC-EBF9-45E4B22C8414}"/>
              </a:ext>
            </a:extLst>
          </p:cNvPr>
          <p:cNvSpPr txBox="1"/>
          <p:nvPr/>
        </p:nvSpPr>
        <p:spPr>
          <a:xfrm>
            <a:off x="5796280" y="3840480"/>
            <a:ext cx="5605272" cy="1234440"/>
          </a:xfrm>
          <a:prstGeom prst="rect">
            <a:avLst/>
          </a:prstGeom>
          <a:noFill/>
          <a:ln/>
        </p:spPr>
        <p:txBody>
          <a:bodyPr wrap="square" lIns="0" tIns="0" rIns="0" bIns="0" rtlCol="0" anchor="t"/>
          <a:lstStyle/>
          <a:p>
            <a:pPr marL="0" indent="0">
              <a:spcAft>
                <a:spcPts val="300"/>
              </a:spcAft>
              <a:buNone/>
            </a:pPr>
            <a:r>
              <a:rPr lang="en-US" sz="1900" b="1" dirty="0">
                <a:solidFill>
                  <a:srgbClr val="FFFFFF"/>
                </a:solidFill>
                <a:latin typeface="Calibri" pitchFamily="34" charset="0"/>
                <a:ea typeface="Calibri" pitchFamily="34" charset="-122"/>
                <a:cs typeface="Calibri" pitchFamily="34" charset="-120"/>
              </a:rPr>
              <a:t>Context-aware advice</a:t>
            </a:r>
            <a:endParaRPr lang="en-US" sz="1900" dirty="0"/>
          </a:p>
          <a:p>
            <a:pPr marL="0" indent="0">
              <a:spcAft>
                <a:spcPts val="1800"/>
              </a:spcAft>
              <a:buNone/>
            </a:pPr>
            <a:r>
              <a:rPr lang="en-US" sz="1500" dirty="0">
                <a:solidFill>
                  <a:srgbClr val="E3F2F3"/>
                </a:solidFill>
                <a:latin typeface="Calibri" pitchFamily="34" charset="0"/>
                <a:ea typeface="Calibri" pitchFamily="34" charset="-122"/>
                <a:cs typeface="Calibri" pitchFamily="34" charset="-120"/>
              </a:rPr>
              <a:t>Knows which profile sections are complete or missing</a:t>
            </a:r>
            <a:endParaRPr lang="en-US" sz="1900" dirty="0"/>
          </a:p>
          <a:p>
            <a:pPr marL="0" indent="0">
              <a:spcAft>
                <a:spcPts val="300"/>
              </a:spcAft>
              <a:buNone/>
            </a:pPr>
            <a:r>
              <a:rPr lang="en-US" sz="1900" b="1" dirty="0">
                <a:solidFill>
                  <a:srgbClr val="FFFFFF"/>
                </a:solidFill>
                <a:latin typeface="Calibri" pitchFamily="34" charset="0"/>
                <a:ea typeface="Calibri" pitchFamily="34" charset="-122"/>
                <a:cs typeface="Calibri" pitchFamily="34" charset="-120"/>
              </a:rPr>
              <a:t>No database access</a:t>
            </a:r>
            <a:endParaRPr lang="en-US" sz="1900" dirty="0"/>
          </a:p>
          <a:p>
            <a:pPr marL="0" indent="0">
              <a:buNone/>
            </a:pPr>
            <a:r>
              <a:rPr lang="en-US" sz="1500" dirty="0">
                <a:solidFill>
                  <a:srgbClr val="E3F2F3"/>
                </a:solidFill>
                <a:latin typeface="Calibri" pitchFamily="34" charset="0"/>
                <a:ea typeface="Calibri" pitchFamily="34" charset="-122"/>
                <a:cs typeface="Calibri" pitchFamily="34" charset="-120"/>
              </a:rPr>
              <a:t>Gets a summary, never the raw row; holds no Supabase client</a:t>
            </a:r>
            <a:endParaRPr lang="en-US" sz="1900" dirty="0"/>
          </a:p>
        </p:txBody>
      </p:sp>
      <p:sp>
        <p:nvSpPr>
          <p:cNvPr id="65" name="Text 19">
            <a:extLst>
              <a:ext uri="{FF2B5EF4-FFF2-40B4-BE49-F238E27FC236}">
                <a16:creationId xmlns:a16="http://schemas.microsoft.com/office/drawing/2014/main" id="{50A50827-ED73-4DB7-D3FC-6CDBFE061336}"/>
              </a:ext>
            </a:extLst>
          </p:cNvPr>
          <p:cNvSpPr txBox="1"/>
          <p:nvPr/>
        </p:nvSpPr>
        <p:spPr>
          <a:xfrm>
            <a:off x="5796280" y="5349240"/>
            <a:ext cx="73152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Ask it:</a:t>
            </a:r>
            <a:endParaRPr lang="en-US" sz="1400" dirty="0"/>
          </a:p>
        </p:txBody>
      </p:sp>
      <p:sp>
        <p:nvSpPr>
          <p:cNvPr id="67" name="Shape 20">
            <a:extLst>
              <a:ext uri="{FF2B5EF4-FFF2-40B4-BE49-F238E27FC236}">
                <a16:creationId xmlns:a16="http://schemas.microsoft.com/office/drawing/2014/main" id="{988552B3-A631-0BCF-598F-46129DB9778E}"/>
              </a:ext>
            </a:extLst>
          </p:cNvPr>
          <p:cNvSpPr/>
          <p:nvPr/>
        </p:nvSpPr>
        <p:spPr>
          <a:xfrm>
            <a:off x="6527800" y="5349240"/>
            <a:ext cx="2240280" cy="411480"/>
          </a:xfrm>
          <a:prstGeom prst="roundRect">
            <a:avLst>
              <a:gd name="adj" fmla="val 48889"/>
            </a:avLst>
          </a:prstGeom>
          <a:solidFill>
            <a:srgbClr val="095B64"/>
          </a:solidFill>
          <a:ln w="12700">
            <a:solidFill>
              <a:srgbClr val="9FD3D8"/>
            </a:solidFill>
            <a:prstDash val="solid"/>
          </a:ln>
        </p:spPr>
        <p:txBody>
          <a:bodyPr/>
          <a:lstStyle/>
          <a:p>
            <a:endParaRPr lang="en-ZA"/>
          </a:p>
        </p:txBody>
      </p:sp>
      <p:sp>
        <p:nvSpPr>
          <p:cNvPr id="69" name="Text 21">
            <a:extLst>
              <a:ext uri="{FF2B5EF4-FFF2-40B4-BE49-F238E27FC236}">
                <a16:creationId xmlns:a16="http://schemas.microsoft.com/office/drawing/2014/main" id="{2E72B531-99CD-F37D-5719-8152DC630EFF}"/>
              </a:ext>
            </a:extLst>
          </p:cNvPr>
          <p:cNvSpPr txBox="1"/>
          <p:nvPr/>
        </p:nvSpPr>
        <p:spPr>
          <a:xfrm>
            <a:off x="6527800" y="5349240"/>
            <a:ext cx="2240280" cy="411480"/>
          </a:xfrm>
          <a:prstGeom prst="rect">
            <a:avLst/>
          </a:prstGeom>
          <a:noFill/>
          <a:ln/>
        </p:spPr>
        <p:txBody>
          <a:bodyPr wrap="square" lIns="0" tIns="0" rIns="0" bIns="0"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What posts attract employers?</a:t>
            </a:r>
            <a:endParaRPr lang="en-US" sz="1300" dirty="0"/>
          </a:p>
        </p:txBody>
      </p:sp>
      <p:sp>
        <p:nvSpPr>
          <p:cNvPr id="71" name="Shape 22">
            <a:extLst>
              <a:ext uri="{FF2B5EF4-FFF2-40B4-BE49-F238E27FC236}">
                <a16:creationId xmlns:a16="http://schemas.microsoft.com/office/drawing/2014/main" id="{6CBEFBC7-2B0A-5DE1-1A5C-A6EA5A9E800F}"/>
              </a:ext>
            </a:extLst>
          </p:cNvPr>
          <p:cNvSpPr/>
          <p:nvPr/>
        </p:nvSpPr>
        <p:spPr>
          <a:xfrm>
            <a:off x="8905240" y="5349240"/>
            <a:ext cx="2514600" cy="411480"/>
          </a:xfrm>
          <a:prstGeom prst="roundRect">
            <a:avLst>
              <a:gd name="adj" fmla="val 48889"/>
            </a:avLst>
          </a:prstGeom>
          <a:solidFill>
            <a:srgbClr val="095B64"/>
          </a:solidFill>
          <a:ln w="12700">
            <a:solidFill>
              <a:srgbClr val="9FD3D8"/>
            </a:solidFill>
            <a:prstDash val="solid"/>
          </a:ln>
        </p:spPr>
        <p:txBody>
          <a:bodyPr/>
          <a:lstStyle/>
          <a:p>
            <a:endParaRPr lang="en-ZA"/>
          </a:p>
        </p:txBody>
      </p:sp>
      <p:sp>
        <p:nvSpPr>
          <p:cNvPr id="73" name="Text 23">
            <a:extLst>
              <a:ext uri="{FF2B5EF4-FFF2-40B4-BE49-F238E27FC236}">
                <a16:creationId xmlns:a16="http://schemas.microsoft.com/office/drawing/2014/main" id="{E637128A-3DCF-D4A5-E56A-3A07FD3AEF78}"/>
              </a:ext>
            </a:extLst>
          </p:cNvPr>
          <p:cNvSpPr txBox="1"/>
          <p:nvPr/>
        </p:nvSpPr>
        <p:spPr>
          <a:xfrm>
            <a:off x="8905240" y="5349240"/>
            <a:ext cx="2514600" cy="411480"/>
          </a:xfrm>
          <a:prstGeom prst="rect">
            <a:avLst/>
          </a:prstGeom>
          <a:noFill/>
          <a:ln/>
        </p:spPr>
        <p:txBody>
          <a:bodyPr wrap="square" lIns="0" tIns="0" rIns="0" bIns="0"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How do I approach a connection?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59EAB-46DE-74BD-C76E-D7D681FB06B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0FB5154-AA2E-F2E8-ADB8-E59E4EB2BC8C}"/>
              </a:ext>
            </a:extLst>
          </p:cNvPr>
          <p:cNvSpPr/>
          <p:nvPr/>
        </p:nvSpPr>
        <p:spPr>
          <a:xfrm>
            <a:off x="548640" y="320040"/>
            <a:ext cx="9144000" cy="320040"/>
          </a:xfrm>
          <a:prstGeom prst="rect">
            <a:avLst/>
          </a:prstGeom>
          <a:noFill/>
          <a:ln/>
        </p:spPr>
        <p:txBody>
          <a:bodyPr wrap="square" rtlCol="0" anchor="ctr"/>
          <a:lstStyle/>
          <a:p>
            <a:pPr marL="0" indent="0">
              <a:buNone/>
            </a:pPr>
            <a:r>
              <a:rPr lang="en-US" sz="1250" b="1" kern="0" spc="200" dirty="0">
                <a:solidFill>
                  <a:srgbClr val="7A1E3E"/>
                </a:solidFill>
                <a:latin typeface="Calibri" pitchFamily="34" charset="0"/>
                <a:ea typeface="Calibri" pitchFamily="34" charset="-122"/>
                <a:cs typeface="Calibri" pitchFamily="34" charset="-120"/>
              </a:rPr>
              <a:t>DATA ANALYTICS DASHBOARDS</a:t>
            </a:r>
            <a:endParaRPr lang="en-US" sz="1250" dirty="0"/>
          </a:p>
        </p:txBody>
      </p:sp>
      <p:sp>
        <p:nvSpPr>
          <p:cNvPr id="3" name="Text 1">
            <a:extLst>
              <a:ext uri="{FF2B5EF4-FFF2-40B4-BE49-F238E27FC236}">
                <a16:creationId xmlns:a16="http://schemas.microsoft.com/office/drawing/2014/main" id="{1253599D-F280-8563-B59B-14DD494BF9B0}"/>
              </a:ext>
            </a:extLst>
          </p:cNvPr>
          <p:cNvSpPr/>
          <p:nvPr/>
        </p:nvSpPr>
        <p:spPr>
          <a:xfrm>
            <a:off x="548640" y="603504"/>
            <a:ext cx="11064240" cy="685800"/>
          </a:xfrm>
          <a:prstGeom prst="rect">
            <a:avLst/>
          </a:prstGeom>
          <a:noFill/>
          <a:ln/>
        </p:spPr>
        <p:txBody>
          <a:bodyPr wrap="square" rtlCol="0" anchor="ctr"/>
          <a:lstStyle/>
          <a:p>
            <a:pPr marL="0" indent="0">
              <a:buNone/>
            </a:pPr>
            <a:r>
              <a:rPr lang="en-US" sz="2700" b="1" dirty="0">
                <a:solidFill>
                  <a:srgbClr val="2B2B2B"/>
                </a:solidFill>
                <a:latin typeface="Cambria" pitchFamily="34" charset="0"/>
                <a:ea typeface="Cambria" pitchFamily="34" charset="-122"/>
                <a:cs typeface="Cambria" pitchFamily="34" charset="-120"/>
              </a:rPr>
              <a:t>Student Analytics Dashboard</a:t>
            </a:r>
            <a:endParaRPr lang="en-US" sz="2700" dirty="0"/>
          </a:p>
        </p:txBody>
      </p:sp>
      <p:sp>
        <p:nvSpPr>
          <p:cNvPr id="18" name="Shape 15">
            <a:extLst>
              <a:ext uri="{FF2B5EF4-FFF2-40B4-BE49-F238E27FC236}">
                <a16:creationId xmlns:a16="http://schemas.microsoft.com/office/drawing/2014/main" id="{28C02033-1C01-1A74-D3F9-A49198A32E3C}"/>
              </a:ext>
            </a:extLst>
          </p:cNvPr>
          <p:cNvSpPr/>
          <p:nvPr/>
        </p:nvSpPr>
        <p:spPr>
          <a:xfrm>
            <a:off x="8412416" y="1289304"/>
            <a:ext cx="3319336" cy="5139488"/>
          </a:xfrm>
          <a:prstGeom prst="roundRect">
            <a:avLst>
              <a:gd name="adj" fmla="val 2388"/>
            </a:avLst>
          </a:prstGeom>
          <a:solidFill>
            <a:srgbClr val="F7F3EF"/>
          </a:solidFill>
          <a:ln w="12700">
            <a:solidFill>
              <a:srgbClr val="E4E1DD"/>
            </a:solidFill>
            <a:prstDash val="solid"/>
          </a:ln>
        </p:spPr>
        <p:txBody>
          <a:bodyPr/>
          <a:lstStyle/>
          <a:p>
            <a:endParaRPr lang="en-ZA"/>
          </a:p>
        </p:txBody>
      </p:sp>
      <p:sp>
        <p:nvSpPr>
          <p:cNvPr id="19" name="Shape 16">
            <a:extLst>
              <a:ext uri="{FF2B5EF4-FFF2-40B4-BE49-F238E27FC236}">
                <a16:creationId xmlns:a16="http://schemas.microsoft.com/office/drawing/2014/main" id="{666A0D62-B58F-0D88-96CF-E3DB8E9B96CB}"/>
              </a:ext>
            </a:extLst>
          </p:cNvPr>
          <p:cNvSpPr/>
          <p:nvPr/>
        </p:nvSpPr>
        <p:spPr>
          <a:xfrm>
            <a:off x="8598503" y="1472184"/>
            <a:ext cx="505188" cy="411480"/>
          </a:xfrm>
          <a:prstGeom prst="ellipse">
            <a:avLst/>
          </a:prstGeom>
          <a:solidFill>
            <a:srgbClr val="7A1E3E"/>
          </a:solidFill>
          <a:ln/>
        </p:spPr>
        <p:txBody>
          <a:bodyPr/>
          <a:lstStyle/>
          <a:p>
            <a:endParaRPr lang="en-ZA"/>
          </a:p>
        </p:txBody>
      </p:sp>
      <p:pic>
        <p:nvPicPr>
          <p:cNvPr id="20" name="Image 1" descr="/home/claude/deck/icons/gradcap_white.png">
            <a:extLst>
              <a:ext uri="{FF2B5EF4-FFF2-40B4-BE49-F238E27FC236}">
                <a16:creationId xmlns:a16="http://schemas.microsoft.com/office/drawing/2014/main" id="{A007F6DF-328E-0DB2-BF74-7A98AF1FB927}"/>
              </a:ext>
            </a:extLst>
          </p:cNvPr>
          <p:cNvPicPr>
            <a:picLocks noChangeAspect="1"/>
          </p:cNvPicPr>
          <p:nvPr/>
        </p:nvPicPr>
        <p:blipFill>
          <a:blip r:embed="rId3"/>
          <a:stretch>
            <a:fillRect/>
          </a:stretch>
        </p:blipFill>
        <p:spPr>
          <a:xfrm>
            <a:off x="8763430" y="1570939"/>
            <a:ext cx="175333" cy="213970"/>
          </a:xfrm>
          <a:prstGeom prst="rect">
            <a:avLst/>
          </a:prstGeom>
        </p:spPr>
      </p:pic>
      <p:sp>
        <p:nvSpPr>
          <p:cNvPr id="21" name="Text 17">
            <a:extLst>
              <a:ext uri="{FF2B5EF4-FFF2-40B4-BE49-F238E27FC236}">
                <a16:creationId xmlns:a16="http://schemas.microsoft.com/office/drawing/2014/main" id="{52D538AD-0B58-E4F4-7892-EA8A9E4012A6}"/>
              </a:ext>
            </a:extLst>
          </p:cNvPr>
          <p:cNvSpPr/>
          <p:nvPr/>
        </p:nvSpPr>
        <p:spPr>
          <a:xfrm>
            <a:off x="9143936" y="1490472"/>
            <a:ext cx="2547571" cy="365760"/>
          </a:xfrm>
          <a:prstGeom prst="rect">
            <a:avLst/>
          </a:prstGeom>
          <a:noFill/>
          <a:ln/>
        </p:spPr>
        <p:txBody>
          <a:bodyPr wrap="square" rtlCol="0" anchor="ctr"/>
          <a:lstStyle/>
          <a:p>
            <a:pPr marL="0" indent="0">
              <a:buNone/>
            </a:pPr>
            <a:r>
              <a:rPr lang="en-US" sz="1600" b="1" dirty="0">
                <a:solidFill>
                  <a:srgbClr val="2B2B2B"/>
                </a:solidFill>
                <a:latin typeface="Cambria" pitchFamily="34" charset="0"/>
                <a:ea typeface="Cambria" pitchFamily="34" charset="-122"/>
                <a:cs typeface="Cambria" pitchFamily="34" charset="-120"/>
              </a:rPr>
              <a:t>Here the student can see:</a:t>
            </a:r>
            <a:endParaRPr lang="en-US" sz="1600" dirty="0"/>
          </a:p>
        </p:txBody>
      </p:sp>
      <p:sp>
        <p:nvSpPr>
          <p:cNvPr id="22" name="Text 18">
            <a:extLst>
              <a:ext uri="{FF2B5EF4-FFF2-40B4-BE49-F238E27FC236}">
                <a16:creationId xmlns:a16="http://schemas.microsoft.com/office/drawing/2014/main" id="{CDDC29A9-C742-C9C6-E19F-955D9AB966A1}"/>
              </a:ext>
            </a:extLst>
          </p:cNvPr>
          <p:cNvSpPr/>
          <p:nvPr/>
        </p:nvSpPr>
        <p:spPr>
          <a:xfrm>
            <a:off x="8641016" y="2002536"/>
            <a:ext cx="2959679" cy="2210650"/>
          </a:xfrm>
          <a:prstGeom prst="rect">
            <a:avLst/>
          </a:prstGeom>
          <a:noFill/>
          <a:ln/>
        </p:spPr>
        <p:txBody>
          <a:bodyPr wrap="square" rtlCol="0" anchor="ctr"/>
          <a:lstStyle/>
          <a:p>
            <a:pPr marL="285750" indent="-285750">
              <a:lnSpc>
                <a:spcPct val="122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Profile completeness </a:t>
            </a:r>
          </a:p>
          <a:p>
            <a:pPr marL="285750" indent="-285750">
              <a:lnSpc>
                <a:spcPct val="122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Which of their skills are highly sought after by businesses</a:t>
            </a:r>
          </a:p>
          <a:p>
            <a:pPr marL="285750" indent="-285750">
              <a:lnSpc>
                <a:spcPct val="122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Profile view count</a:t>
            </a:r>
          </a:p>
          <a:p>
            <a:pPr marL="285750" indent="-285750">
              <a:lnSpc>
                <a:spcPct val="122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Connection growth</a:t>
            </a:r>
          </a:p>
          <a:p>
            <a:pPr marL="285750" indent="-285750">
              <a:lnSpc>
                <a:spcPct val="122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Post engagement</a:t>
            </a:r>
          </a:p>
          <a:p>
            <a:pPr marL="0" indent="0">
              <a:lnSpc>
                <a:spcPct val="122000"/>
              </a:lnSpc>
              <a:buNone/>
            </a:pPr>
            <a:endParaRPr lang="en-US" sz="1600" dirty="0"/>
          </a:p>
        </p:txBody>
      </p:sp>
      <p:sp>
        <p:nvSpPr>
          <p:cNvPr id="23" name="Text 19">
            <a:extLst>
              <a:ext uri="{FF2B5EF4-FFF2-40B4-BE49-F238E27FC236}">
                <a16:creationId xmlns:a16="http://schemas.microsoft.com/office/drawing/2014/main" id="{AA0813CD-A2A7-EF4D-B59D-2A34D6669189}"/>
              </a:ext>
            </a:extLst>
          </p:cNvPr>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Richfield Connect · Hackathon 2026</a:t>
            </a:r>
            <a:endParaRPr lang="en-US" sz="900" dirty="0"/>
          </a:p>
        </p:txBody>
      </p:sp>
      <p:sp>
        <p:nvSpPr>
          <p:cNvPr id="16" name="Shape 15">
            <a:extLst>
              <a:ext uri="{FF2B5EF4-FFF2-40B4-BE49-F238E27FC236}">
                <a16:creationId xmlns:a16="http://schemas.microsoft.com/office/drawing/2014/main" id="{61B35532-0768-F80F-31B2-C46B23E66872}"/>
              </a:ext>
            </a:extLst>
          </p:cNvPr>
          <p:cNvSpPr/>
          <p:nvPr/>
        </p:nvSpPr>
        <p:spPr>
          <a:xfrm>
            <a:off x="548640" y="1289304"/>
            <a:ext cx="7714424" cy="5139488"/>
          </a:xfrm>
          <a:prstGeom prst="roundRect">
            <a:avLst>
              <a:gd name="adj" fmla="val 2388"/>
            </a:avLst>
          </a:prstGeom>
          <a:solidFill>
            <a:srgbClr val="7A1E3E"/>
          </a:solidFill>
          <a:ln w="12700">
            <a:solidFill>
              <a:srgbClr val="E4E1DD"/>
            </a:solidFill>
            <a:prstDash val="solid"/>
          </a:ln>
        </p:spPr>
        <p:txBody>
          <a:bodyPr/>
          <a:lstStyle/>
          <a:p>
            <a:endParaRPr lang="en-ZA"/>
          </a:p>
        </p:txBody>
      </p:sp>
      <p:pic>
        <p:nvPicPr>
          <p:cNvPr id="14" name="Picture 13">
            <a:extLst>
              <a:ext uri="{FF2B5EF4-FFF2-40B4-BE49-F238E27FC236}">
                <a16:creationId xmlns:a16="http://schemas.microsoft.com/office/drawing/2014/main" id="{978223F5-7459-15E6-469B-803C5D47588A}"/>
              </a:ext>
            </a:extLst>
          </p:cNvPr>
          <p:cNvPicPr>
            <a:picLocks noChangeAspect="1"/>
          </p:cNvPicPr>
          <p:nvPr/>
        </p:nvPicPr>
        <p:blipFill>
          <a:blip r:embed="rId4"/>
          <a:stretch>
            <a:fillRect/>
          </a:stretch>
        </p:blipFill>
        <p:spPr>
          <a:xfrm>
            <a:off x="746836" y="1425289"/>
            <a:ext cx="3534334" cy="4871773"/>
          </a:xfrm>
          <a:prstGeom prst="rect">
            <a:avLst/>
          </a:prstGeom>
        </p:spPr>
      </p:pic>
      <p:pic>
        <p:nvPicPr>
          <p:cNvPr id="25" name="Picture 24">
            <a:extLst>
              <a:ext uri="{FF2B5EF4-FFF2-40B4-BE49-F238E27FC236}">
                <a16:creationId xmlns:a16="http://schemas.microsoft.com/office/drawing/2014/main" id="{9672F473-7342-9583-BC77-6DBF47B732B9}"/>
              </a:ext>
            </a:extLst>
          </p:cNvPr>
          <p:cNvPicPr>
            <a:picLocks noChangeAspect="1"/>
          </p:cNvPicPr>
          <p:nvPr/>
        </p:nvPicPr>
        <p:blipFill>
          <a:blip r:embed="rId5"/>
          <a:stretch>
            <a:fillRect/>
          </a:stretch>
        </p:blipFill>
        <p:spPr>
          <a:xfrm>
            <a:off x="4474343" y="1425289"/>
            <a:ext cx="3637165" cy="3538355"/>
          </a:xfrm>
          <a:prstGeom prst="rect">
            <a:avLst/>
          </a:prstGeom>
        </p:spPr>
      </p:pic>
    </p:spTree>
    <p:extLst>
      <p:ext uri="{BB962C8B-B14F-4D97-AF65-F5344CB8AC3E}">
        <p14:creationId xmlns:p14="http://schemas.microsoft.com/office/powerpoint/2010/main" val="3588854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1A5BA-B92F-4297-44D5-D4653684077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2B7E6F8-EFD9-9AFB-A2B5-F0826B8C0F7C}"/>
              </a:ext>
            </a:extLst>
          </p:cNvPr>
          <p:cNvSpPr/>
          <p:nvPr/>
        </p:nvSpPr>
        <p:spPr>
          <a:xfrm>
            <a:off x="548640" y="320040"/>
            <a:ext cx="9144000" cy="320040"/>
          </a:xfrm>
          <a:prstGeom prst="rect">
            <a:avLst/>
          </a:prstGeom>
          <a:noFill/>
          <a:ln/>
        </p:spPr>
        <p:txBody>
          <a:bodyPr wrap="square" rtlCol="0" anchor="ctr"/>
          <a:lstStyle/>
          <a:p>
            <a:pPr marL="0" indent="0">
              <a:buNone/>
            </a:pPr>
            <a:r>
              <a:rPr lang="en-US" sz="1250" b="1" kern="0" spc="200" dirty="0">
                <a:solidFill>
                  <a:srgbClr val="1B2A4A"/>
                </a:solidFill>
                <a:latin typeface="Calibri" pitchFamily="34" charset="0"/>
                <a:ea typeface="Calibri" pitchFamily="34" charset="-122"/>
                <a:cs typeface="Calibri" pitchFamily="34" charset="-120"/>
              </a:rPr>
              <a:t>DATA ANALYTICS DASHBOARDS</a:t>
            </a:r>
            <a:endParaRPr lang="en-US" sz="1250" dirty="0">
              <a:solidFill>
                <a:srgbClr val="1B2A4A"/>
              </a:solidFill>
            </a:endParaRPr>
          </a:p>
        </p:txBody>
      </p:sp>
      <p:sp>
        <p:nvSpPr>
          <p:cNvPr id="3" name="Text 1">
            <a:extLst>
              <a:ext uri="{FF2B5EF4-FFF2-40B4-BE49-F238E27FC236}">
                <a16:creationId xmlns:a16="http://schemas.microsoft.com/office/drawing/2014/main" id="{9DA7D0E3-803D-9FE5-4C45-E62C862976E4}"/>
              </a:ext>
            </a:extLst>
          </p:cNvPr>
          <p:cNvSpPr/>
          <p:nvPr/>
        </p:nvSpPr>
        <p:spPr>
          <a:xfrm>
            <a:off x="548640" y="603504"/>
            <a:ext cx="11064240" cy="685800"/>
          </a:xfrm>
          <a:prstGeom prst="rect">
            <a:avLst/>
          </a:prstGeom>
          <a:noFill/>
          <a:ln/>
        </p:spPr>
        <p:txBody>
          <a:bodyPr wrap="square" rtlCol="0" anchor="ctr"/>
          <a:lstStyle/>
          <a:p>
            <a:pPr marL="0" indent="0">
              <a:buNone/>
            </a:pPr>
            <a:r>
              <a:rPr lang="en-US" sz="2700" b="1" dirty="0">
                <a:solidFill>
                  <a:srgbClr val="2B2B2B"/>
                </a:solidFill>
                <a:latin typeface="Cambria" pitchFamily="34" charset="0"/>
                <a:ea typeface="Cambria" pitchFamily="34" charset="-122"/>
                <a:cs typeface="Cambria" pitchFamily="34" charset="-120"/>
              </a:rPr>
              <a:t>Alumni Analytics Dashboard</a:t>
            </a:r>
            <a:endParaRPr lang="en-US" sz="2700" dirty="0"/>
          </a:p>
        </p:txBody>
      </p:sp>
      <p:sp>
        <p:nvSpPr>
          <p:cNvPr id="18" name="Shape 15">
            <a:extLst>
              <a:ext uri="{FF2B5EF4-FFF2-40B4-BE49-F238E27FC236}">
                <a16:creationId xmlns:a16="http://schemas.microsoft.com/office/drawing/2014/main" id="{FF724161-71A4-93E8-BE91-52BBF529D781}"/>
              </a:ext>
            </a:extLst>
          </p:cNvPr>
          <p:cNvSpPr/>
          <p:nvPr/>
        </p:nvSpPr>
        <p:spPr>
          <a:xfrm>
            <a:off x="8412416" y="1279973"/>
            <a:ext cx="3319336" cy="5139488"/>
          </a:xfrm>
          <a:prstGeom prst="roundRect">
            <a:avLst>
              <a:gd name="adj" fmla="val 2388"/>
            </a:avLst>
          </a:prstGeom>
          <a:solidFill>
            <a:srgbClr val="F7F3EF"/>
          </a:solidFill>
          <a:ln w="12700">
            <a:solidFill>
              <a:srgbClr val="E4E1DD"/>
            </a:solidFill>
            <a:prstDash val="solid"/>
          </a:ln>
        </p:spPr>
        <p:txBody>
          <a:bodyPr/>
          <a:lstStyle/>
          <a:p>
            <a:endParaRPr lang="en-ZA"/>
          </a:p>
        </p:txBody>
      </p:sp>
      <p:sp>
        <p:nvSpPr>
          <p:cNvPr id="19" name="Shape 16">
            <a:extLst>
              <a:ext uri="{FF2B5EF4-FFF2-40B4-BE49-F238E27FC236}">
                <a16:creationId xmlns:a16="http://schemas.microsoft.com/office/drawing/2014/main" id="{1EFA33B8-2CA6-6A23-4D79-B724E974867D}"/>
              </a:ext>
            </a:extLst>
          </p:cNvPr>
          <p:cNvSpPr/>
          <p:nvPr/>
        </p:nvSpPr>
        <p:spPr>
          <a:xfrm>
            <a:off x="8598503" y="1472184"/>
            <a:ext cx="505188" cy="411480"/>
          </a:xfrm>
          <a:prstGeom prst="ellipse">
            <a:avLst/>
          </a:prstGeom>
          <a:solidFill>
            <a:srgbClr val="1B2A4A"/>
          </a:solidFill>
          <a:ln/>
        </p:spPr>
        <p:txBody>
          <a:bodyPr/>
          <a:lstStyle/>
          <a:p>
            <a:endParaRPr lang="en-ZA"/>
          </a:p>
        </p:txBody>
      </p:sp>
      <p:sp>
        <p:nvSpPr>
          <p:cNvPr id="21" name="Text 17">
            <a:extLst>
              <a:ext uri="{FF2B5EF4-FFF2-40B4-BE49-F238E27FC236}">
                <a16:creationId xmlns:a16="http://schemas.microsoft.com/office/drawing/2014/main" id="{5C6269B1-E805-5E3D-B1AA-FD93CA595ADF}"/>
              </a:ext>
            </a:extLst>
          </p:cNvPr>
          <p:cNvSpPr/>
          <p:nvPr/>
        </p:nvSpPr>
        <p:spPr>
          <a:xfrm>
            <a:off x="9143936" y="1490472"/>
            <a:ext cx="2547571" cy="365760"/>
          </a:xfrm>
          <a:prstGeom prst="rect">
            <a:avLst/>
          </a:prstGeom>
          <a:noFill/>
          <a:ln/>
        </p:spPr>
        <p:txBody>
          <a:bodyPr wrap="square" rtlCol="0" anchor="ctr"/>
          <a:lstStyle/>
          <a:p>
            <a:pPr marL="0" indent="0">
              <a:buNone/>
            </a:pPr>
            <a:r>
              <a:rPr lang="en-US" sz="1600" b="1" dirty="0">
                <a:solidFill>
                  <a:srgbClr val="2B2B2B"/>
                </a:solidFill>
                <a:latin typeface="Cambria" pitchFamily="34" charset="0"/>
                <a:ea typeface="Cambria" pitchFamily="34" charset="-122"/>
                <a:cs typeface="Cambria" pitchFamily="34" charset="-120"/>
              </a:rPr>
              <a:t>Here the alumni can see:</a:t>
            </a:r>
            <a:endParaRPr lang="en-US" sz="1600" dirty="0"/>
          </a:p>
        </p:txBody>
      </p:sp>
      <p:sp>
        <p:nvSpPr>
          <p:cNvPr id="23" name="Text 19">
            <a:extLst>
              <a:ext uri="{FF2B5EF4-FFF2-40B4-BE49-F238E27FC236}">
                <a16:creationId xmlns:a16="http://schemas.microsoft.com/office/drawing/2014/main" id="{EC0EF5EA-8AD8-271E-3AB7-F85FB756D7F9}"/>
              </a:ext>
            </a:extLst>
          </p:cNvPr>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Richfield Connect · Hackathon 2026</a:t>
            </a:r>
            <a:endParaRPr lang="en-US" sz="900" dirty="0"/>
          </a:p>
        </p:txBody>
      </p:sp>
      <p:sp>
        <p:nvSpPr>
          <p:cNvPr id="16" name="Shape 15">
            <a:extLst>
              <a:ext uri="{FF2B5EF4-FFF2-40B4-BE49-F238E27FC236}">
                <a16:creationId xmlns:a16="http://schemas.microsoft.com/office/drawing/2014/main" id="{F744951B-4CF4-5CD6-8EC3-930A557C163A}"/>
              </a:ext>
            </a:extLst>
          </p:cNvPr>
          <p:cNvSpPr/>
          <p:nvPr/>
        </p:nvSpPr>
        <p:spPr>
          <a:xfrm>
            <a:off x="548640" y="1289304"/>
            <a:ext cx="7714424" cy="5139488"/>
          </a:xfrm>
          <a:prstGeom prst="roundRect">
            <a:avLst>
              <a:gd name="adj" fmla="val 2388"/>
            </a:avLst>
          </a:prstGeom>
          <a:solidFill>
            <a:srgbClr val="1B2A4A"/>
          </a:solidFill>
          <a:ln w="12700">
            <a:solidFill>
              <a:srgbClr val="E4E1DD"/>
            </a:solidFill>
            <a:prstDash val="solid"/>
          </a:ln>
        </p:spPr>
        <p:txBody>
          <a:bodyPr/>
          <a:lstStyle/>
          <a:p>
            <a:endParaRPr lang="en-ZA"/>
          </a:p>
        </p:txBody>
      </p:sp>
      <p:pic>
        <p:nvPicPr>
          <p:cNvPr id="14" name="Picture 13">
            <a:extLst>
              <a:ext uri="{FF2B5EF4-FFF2-40B4-BE49-F238E27FC236}">
                <a16:creationId xmlns:a16="http://schemas.microsoft.com/office/drawing/2014/main" id="{9396EFE5-BF8A-BFCF-8F3D-62CEC1DFB20C}"/>
              </a:ext>
            </a:extLst>
          </p:cNvPr>
          <p:cNvPicPr>
            <a:picLocks noChangeAspect="1"/>
          </p:cNvPicPr>
          <p:nvPr/>
        </p:nvPicPr>
        <p:blipFill>
          <a:blip r:embed="rId3"/>
          <a:srcRect t="5842"/>
          <a:stretch>
            <a:fillRect/>
          </a:stretch>
        </p:blipFill>
        <p:spPr>
          <a:xfrm>
            <a:off x="750388" y="1444336"/>
            <a:ext cx="3646804" cy="4810160"/>
          </a:xfrm>
          <a:prstGeom prst="rect">
            <a:avLst/>
          </a:prstGeom>
        </p:spPr>
      </p:pic>
      <p:pic>
        <p:nvPicPr>
          <p:cNvPr id="25" name="Picture 24">
            <a:extLst>
              <a:ext uri="{FF2B5EF4-FFF2-40B4-BE49-F238E27FC236}">
                <a16:creationId xmlns:a16="http://schemas.microsoft.com/office/drawing/2014/main" id="{D3A9CEEC-C7E9-725C-A33E-F03AEDBBD49D}"/>
              </a:ext>
            </a:extLst>
          </p:cNvPr>
          <p:cNvPicPr>
            <a:picLocks noChangeAspect="1"/>
          </p:cNvPicPr>
          <p:nvPr/>
        </p:nvPicPr>
        <p:blipFill>
          <a:blip r:embed="rId4"/>
          <a:srcRect/>
          <a:stretch/>
        </p:blipFill>
        <p:spPr>
          <a:xfrm>
            <a:off x="4546544" y="1444336"/>
            <a:ext cx="3527347" cy="3614954"/>
          </a:xfrm>
          <a:prstGeom prst="rect">
            <a:avLst/>
          </a:prstGeom>
        </p:spPr>
      </p:pic>
      <p:pic>
        <p:nvPicPr>
          <p:cNvPr id="5" name="Image 1" descr="/home/claude/deck/icons/tie_white.png">
            <a:extLst>
              <a:ext uri="{FF2B5EF4-FFF2-40B4-BE49-F238E27FC236}">
                <a16:creationId xmlns:a16="http://schemas.microsoft.com/office/drawing/2014/main" id="{2D691F4A-3CFD-D5B2-9474-71D668522C61}"/>
              </a:ext>
            </a:extLst>
          </p:cNvPr>
          <p:cNvPicPr>
            <a:picLocks noChangeAspect="1"/>
          </p:cNvPicPr>
          <p:nvPr/>
        </p:nvPicPr>
        <p:blipFill>
          <a:blip r:embed="rId5"/>
          <a:stretch>
            <a:fillRect/>
          </a:stretch>
        </p:blipFill>
        <p:spPr>
          <a:xfrm>
            <a:off x="8748611" y="1561815"/>
            <a:ext cx="204972" cy="204972"/>
          </a:xfrm>
          <a:prstGeom prst="rect">
            <a:avLst/>
          </a:prstGeom>
        </p:spPr>
      </p:pic>
      <p:sp>
        <p:nvSpPr>
          <p:cNvPr id="7" name="Text 18">
            <a:extLst>
              <a:ext uri="{FF2B5EF4-FFF2-40B4-BE49-F238E27FC236}">
                <a16:creationId xmlns:a16="http://schemas.microsoft.com/office/drawing/2014/main" id="{F058A23A-8739-7580-A5C5-AA0BAB01C06B}"/>
              </a:ext>
            </a:extLst>
          </p:cNvPr>
          <p:cNvSpPr/>
          <p:nvPr/>
        </p:nvSpPr>
        <p:spPr>
          <a:xfrm>
            <a:off x="8641016" y="2002536"/>
            <a:ext cx="2959679" cy="2210650"/>
          </a:xfrm>
          <a:prstGeom prst="rect">
            <a:avLst/>
          </a:prstGeom>
          <a:noFill/>
          <a:ln/>
        </p:spPr>
        <p:txBody>
          <a:bodyPr wrap="square" rtlCol="0" anchor="ctr"/>
          <a:lstStyle/>
          <a:p>
            <a:pPr marL="285750" indent="-285750">
              <a:lnSpc>
                <a:spcPct val="122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Profile completeness </a:t>
            </a:r>
          </a:p>
          <a:p>
            <a:pPr marL="285750" indent="-285750">
              <a:lnSpc>
                <a:spcPct val="122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Which of their skills are highly sought after by businesses</a:t>
            </a:r>
          </a:p>
          <a:p>
            <a:pPr marL="285750" indent="-285750">
              <a:lnSpc>
                <a:spcPct val="122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Profile view count</a:t>
            </a:r>
          </a:p>
          <a:p>
            <a:pPr marL="285750" indent="-285750">
              <a:lnSpc>
                <a:spcPct val="122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Connection growth</a:t>
            </a:r>
          </a:p>
          <a:p>
            <a:pPr marL="285750" indent="-285750">
              <a:lnSpc>
                <a:spcPct val="122000"/>
              </a:lnSpc>
              <a:buFont typeface="Arial" panose="020B0604020202020204" pitchFamily="34" charset="0"/>
              <a:buChar char="•"/>
            </a:pPr>
            <a:r>
              <a:rPr lang="en-US" sz="1600" dirty="0">
                <a:solidFill>
                  <a:srgbClr val="2B2B2B"/>
                </a:solidFill>
                <a:latin typeface="Calibri" pitchFamily="34" charset="0"/>
                <a:ea typeface="Calibri" pitchFamily="34" charset="-122"/>
                <a:cs typeface="Calibri" pitchFamily="34" charset="-120"/>
              </a:rPr>
              <a:t>Post engagement</a:t>
            </a:r>
          </a:p>
          <a:p>
            <a:pPr marL="0" indent="0">
              <a:lnSpc>
                <a:spcPct val="122000"/>
              </a:lnSpc>
              <a:buNone/>
            </a:pPr>
            <a:endParaRPr lang="en-US" sz="1600" dirty="0"/>
          </a:p>
        </p:txBody>
      </p:sp>
    </p:spTree>
    <p:extLst>
      <p:ext uri="{BB962C8B-B14F-4D97-AF65-F5344CB8AC3E}">
        <p14:creationId xmlns:p14="http://schemas.microsoft.com/office/powerpoint/2010/main" val="2357663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21F64-FD27-0EB3-FEBC-5D87E0EF7FF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78366C6-5F8A-2500-8257-CD2F5B08D4F6}"/>
              </a:ext>
            </a:extLst>
          </p:cNvPr>
          <p:cNvSpPr/>
          <p:nvPr/>
        </p:nvSpPr>
        <p:spPr>
          <a:xfrm>
            <a:off x="548640" y="320040"/>
            <a:ext cx="9144000" cy="320040"/>
          </a:xfrm>
          <a:prstGeom prst="rect">
            <a:avLst/>
          </a:prstGeom>
          <a:noFill/>
          <a:ln/>
        </p:spPr>
        <p:txBody>
          <a:bodyPr wrap="square" rtlCol="0" anchor="ctr"/>
          <a:lstStyle/>
          <a:p>
            <a:pPr marL="0" indent="0">
              <a:buNone/>
            </a:pPr>
            <a:r>
              <a:rPr lang="en-US" sz="1250" b="1" kern="0" spc="200" dirty="0">
                <a:solidFill>
                  <a:srgbClr val="C77D22"/>
                </a:solidFill>
                <a:latin typeface="Calibri" pitchFamily="34" charset="0"/>
                <a:ea typeface="Calibri" pitchFamily="34" charset="-122"/>
                <a:cs typeface="Calibri" pitchFamily="34" charset="-120"/>
              </a:rPr>
              <a:t>DATA ANALYTICS DASHBOARDS</a:t>
            </a:r>
            <a:endParaRPr lang="en-US" sz="1250" dirty="0">
              <a:solidFill>
                <a:srgbClr val="C77D22"/>
              </a:solidFill>
            </a:endParaRPr>
          </a:p>
        </p:txBody>
      </p:sp>
      <p:sp>
        <p:nvSpPr>
          <p:cNvPr id="3" name="Text 1">
            <a:extLst>
              <a:ext uri="{FF2B5EF4-FFF2-40B4-BE49-F238E27FC236}">
                <a16:creationId xmlns:a16="http://schemas.microsoft.com/office/drawing/2014/main" id="{D7EB7BD8-42E2-416A-7FCE-FFD2A3EBFEBF}"/>
              </a:ext>
            </a:extLst>
          </p:cNvPr>
          <p:cNvSpPr/>
          <p:nvPr/>
        </p:nvSpPr>
        <p:spPr>
          <a:xfrm>
            <a:off x="548640" y="603504"/>
            <a:ext cx="11064240" cy="685800"/>
          </a:xfrm>
          <a:prstGeom prst="rect">
            <a:avLst/>
          </a:prstGeom>
          <a:noFill/>
          <a:ln/>
        </p:spPr>
        <p:txBody>
          <a:bodyPr wrap="square" rtlCol="0" anchor="ctr"/>
          <a:lstStyle/>
          <a:p>
            <a:pPr marL="0" indent="0">
              <a:buNone/>
            </a:pPr>
            <a:r>
              <a:rPr lang="en-US" sz="2700" b="1" dirty="0">
                <a:solidFill>
                  <a:srgbClr val="2B2B2B"/>
                </a:solidFill>
                <a:latin typeface="Cambria" pitchFamily="34" charset="0"/>
                <a:ea typeface="Cambria" pitchFamily="34" charset="-122"/>
                <a:cs typeface="Cambria" pitchFamily="34" charset="-120"/>
              </a:rPr>
              <a:t>Business Analytics Dashboard</a:t>
            </a:r>
            <a:endParaRPr lang="en-US" sz="2700" dirty="0"/>
          </a:p>
        </p:txBody>
      </p:sp>
      <p:sp>
        <p:nvSpPr>
          <p:cNvPr id="18" name="Shape 15">
            <a:extLst>
              <a:ext uri="{FF2B5EF4-FFF2-40B4-BE49-F238E27FC236}">
                <a16:creationId xmlns:a16="http://schemas.microsoft.com/office/drawing/2014/main" id="{54DA0F50-134E-5C79-1EE7-1ACFB5904DC0}"/>
              </a:ext>
            </a:extLst>
          </p:cNvPr>
          <p:cNvSpPr/>
          <p:nvPr/>
        </p:nvSpPr>
        <p:spPr>
          <a:xfrm>
            <a:off x="8412416" y="1289304"/>
            <a:ext cx="3319336" cy="5074174"/>
          </a:xfrm>
          <a:prstGeom prst="roundRect">
            <a:avLst>
              <a:gd name="adj" fmla="val 2388"/>
            </a:avLst>
          </a:prstGeom>
          <a:solidFill>
            <a:srgbClr val="F7F3EF"/>
          </a:solidFill>
          <a:ln w="12700">
            <a:solidFill>
              <a:srgbClr val="E4E1DD"/>
            </a:solidFill>
            <a:prstDash val="solid"/>
          </a:ln>
        </p:spPr>
        <p:txBody>
          <a:bodyPr/>
          <a:lstStyle/>
          <a:p>
            <a:endParaRPr lang="en-ZA"/>
          </a:p>
        </p:txBody>
      </p:sp>
      <p:sp>
        <p:nvSpPr>
          <p:cNvPr id="19" name="Shape 16">
            <a:extLst>
              <a:ext uri="{FF2B5EF4-FFF2-40B4-BE49-F238E27FC236}">
                <a16:creationId xmlns:a16="http://schemas.microsoft.com/office/drawing/2014/main" id="{B1AC2AC7-68C6-F845-0697-5A0B7F50ABA0}"/>
              </a:ext>
            </a:extLst>
          </p:cNvPr>
          <p:cNvSpPr/>
          <p:nvPr/>
        </p:nvSpPr>
        <p:spPr>
          <a:xfrm>
            <a:off x="8598503" y="1472184"/>
            <a:ext cx="505188" cy="411480"/>
          </a:xfrm>
          <a:prstGeom prst="ellipse">
            <a:avLst/>
          </a:prstGeom>
          <a:solidFill>
            <a:srgbClr val="C77D22"/>
          </a:solidFill>
          <a:ln/>
        </p:spPr>
        <p:txBody>
          <a:bodyPr/>
          <a:lstStyle/>
          <a:p>
            <a:endParaRPr lang="en-ZA"/>
          </a:p>
        </p:txBody>
      </p:sp>
      <p:sp>
        <p:nvSpPr>
          <p:cNvPr id="21" name="Text 17">
            <a:extLst>
              <a:ext uri="{FF2B5EF4-FFF2-40B4-BE49-F238E27FC236}">
                <a16:creationId xmlns:a16="http://schemas.microsoft.com/office/drawing/2014/main" id="{9396C7EC-F6C5-19BC-6A33-30944818BFD6}"/>
              </a:ext>
            </a:extLst>
          </p:cNvPr>
          <p:cNvSpPr/>
          <p:nvPr/>
        </p:nvSpPr>
        <p:spPr>
          <a:xfrm>
            <a:off x="9103691" y="1490472"/>
            <a:ext cx="2737168" cy="365760"/>
          </a:xfrm>
          <a:prstGeom prst="rect">
            <a:avLst/>
          </a:prstGeom>
          <a:noFill/>
          <a:ln/>
        </p:spPr>
        <p:txBody>
          <a:bodyPr wrap="square" rtlCol="0" anchor="ctr"/>
          <a:lstStyle/>
          <a:p>
            <a:pPr marL="0" indent="0">
              <a:buNone/>
            </a:pPr>
            <a:r>
              <a:rPr lang="en-US" sz="1600" b="1" dirty="0">
                <a:solidFill>
                  <a:srgbClr val="2B2B2B"/>
                </a:solidFill>
                <a:latin typeface="Cambria" pitchFamily="34" charset="0"/>
                <a:ea typeface="Cambria" pitchFamily="34" charset="-122"/>
                <a:cs typeface="Cambria" pitchFamily="34" charset="-120"/>
              </a:rPr>
              <a:t>Here the business can see:</a:t>
            </a:r>
            <a:endParaRPr lang="en-US" sz="1600" dirty="0"/>
          </a:p>
        </p:txBody>
      </p:sp>
      <p:sp>
        <p:nvSpPr>
          <p:cNvPr id="22" name="Text 18">
            <a:extLst>
              <a:ext uri="{FF2B5EF4-FFF2-40B4-BE49-F238E27FC236}">
                <a16:creationId xmlns:a16="http://schemas.microsoft.com/office/drawing/2014/main" id="{E1E900BA-58B3-83A6-F0FD-03DAC826A5B2}"/>
              </a:ext>
            </a:extLst>
          </p:cNvPr>
          <p:cNvSpPr/>
          <p:nvPr/>
        </p:nvSpPr>
        <p:spPr>
          <a:xfrm>
            <a:off x="8641016" y="2002535"/>
            <a:ext cx="2959679" cy="3383281"/>
          </a:xfrm>
          <a:prstGeom prst="rect">
            <a:avLst/>
          </a:prstGeom>
          <a:noFill/>
          <a:ln/>
        </p:spPr>
        <p:txBody>
          <a:bodyPr wrap="square" rtlCol="0" anchor="ctr"/>
          <a:lstStyle/>
          <a:p>
            <a:pPr marL="285750" indent="-285750">
              <a:lnSpc>
                <a:spcPct val="122000"/>
              </a:lnSpc>
              <a:buFont typeface="Arial" panose="020B0604020202020204" pitchFamily="34" charset="0"/>
              <a:buChar char="•"/>
            </a:pPr>
            <a:r>
              <a:rPr lang="en-US" sz="1600" dirty="0"/>
              <a:t>Total applications per posted job opportunity</a:t>
            </a:r>
          </a:p>
          <a:p>
            <a:pPr marL="285750" indent="-285750">
              <a:lnSpc>
                <a:spcPct val="122000"/>
              </a:lnSpc>
              <a:buFont typeface="Arial" panose="020B0604020202020204" pitchFamily="34" charset="0"/>
              <a:buChar char="•"/>
            </a:pPr>
            <a:r>
              <a:rPr lang="en-US" sz="1600" dirty="0"/>
              <a:t>Engagement rate on job posting</a:t>
            </a:r>
          </a:p>
          <a:p>
            <a:pPr marL="285750" indent="-285750">
              <a:lnSpc>
                <a:spcPct val="122000"/>
              </a:lnSpc>
              <a:buFont typeface="Arial" panose="020B0604020202020204" pitchFamily="34" charset="0"/>
              <a:buChar char="•"/>
            </a:pPr>
            <a:r>
              <a:rPr lang="en-US" sz="1600" dirty="0"/>
              <a:t>Candidate skill distribution across  different Richfield programs and years of study</a:t>
            </a:r>
          </a:p>
          <a:p>
            <a:pPr marL="285750" indent="-285750">
              <a:lnSpc>
                <a:spcPct val="122000"/>
              </a:lnSpc>
              <a:buFont typeface="Arial" panose="020B0604020202020204" pitchFamily="34" charset="0"/>
              <a:buChar char="•"/>
            </a:pPr>
            <a:r>
              <a:rPr lang="en-US" sz="1600" dirty="0"/>
              <a:t>Overall reach/ visibility </a:t>
            </a:r>
          </a:p>
          <a:p>
            <a:pPr marL="285750" indent="-285750">
              <a:lnSpc>
                <a:spcPct val="122000"/>
              </a:lnSpc>
              <a:buFont typeface="Arial" panose="020B0604020202020204" pitchFamily="34" charset="0"/>
              <a:buChar char="•"/>
            </a:pPr>
            <a:endParaRPr lang="en-US" sz="1600" dirty="0">
              <a:solidFill>
                <a:srgbClr val="2B2B2B"/>
              </a:solidFill>
              <a:latin typeface="Calibri" pitchFamily="34" charset="0"/>
              <a:ea typeface="Calibri" pitchFamily="34" charset="-122"/>
              <a:cs typeface="Calibri" pitchFamily="34" charset="-120"/>
            </a:endParaRPr>
          </a:p>
          <a:p>
            <a:pPr marL="0" indent="0">
              <a:lnSpc>
                <a:spcPct val="122000"/>
              </a:lnSpc>
              <a:buNone/>
            </a:pPr>
            <a:endParaRPr lang="en-US" sz="1600" dirty="0"/>
          </a:p>
        </p:txBody>
      </p:sp>
      <p:sp>
        <p:nvSpPr>
          <p:cNvPr id="23" name="Text 19">
            <a:extLst>
              <a:ext uri="{FF2B5EF4-FFF2-40B4-BE49-F238E27FC236}">
                <a16:creationId xmlns:a16="http://schemas.microsoft.com/office/drawing/2014/main" id="{E35E1BCB-5288-AFE8-4FD2-EBE79B6CE70C}"/>
              </a:ext>
            </a:extLst>
          </p:cNvPr>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Richfield Connect · Hackathon 2026</a:t>
            </a:r>
            <a:endParaRPr lang="en-US" sz="900" dirty="0"/>
          </a:p>
        </p:txBody>
      </p:sp>
      <p:sp>
        <p:nvSpPr>
          <p:cNvPr id="16" name="Shape 15">
            <a:extLst>
              <a:ext uri="{FF2B5EF4-FFF2-40B4-BE49-F238E27FC236}">
                <a16:creationId xmlns:a16="http://schemas.microsoft.com/office/drawing/2014/main" id="{6CFFEACF-71BC-347D-AE09-C83350B7B487}"/>
              </a:ext>
            </a:extLst>
          </p:cNvPr>
          <p:cNvSpPr/>
          <p:nvPr/>
        </p:nvSpPr>
        <p:spPr>
          <a:xfrm>
            <a:off x="548640" y="1289304"/>
            <a:ext cx="7714424" cy="5074174"/>
          </a:xfrm>
          <a:prstGeom prst="roundRect">
            <a:avLst>
              <a:gd name="adj" fmla="val 2388"/>
            </a:avLst>
          </a:prstGeom>
          <a:solidFill>
            <a:srgbClr val="C77D22"/>
          </a:solidFill>
          <a:ln w="12700">
            <a:solidFill>
              <a:srgbClr val="E4E1DD"/>
            </a:solidFill>
            <a:prstDash val="solid"/>
          </a:ln>
        </p:spPr>
        <p:txBody>
          <a:bodyPr/>
          <a:lstStyle/>
          <a:p>
            <a:endParaRPr lang="en-ZA"/>
          </a:p>
        </p:txBody>
      </p:sp>
      <p:pic>
        <p:nvPicPr>
          <p:cNvPr id="14" name="Picture 13">
            <a:extLst>
              <a:ext uri="{FF2B5EF4-FFF2-40B4-BE49-F238E27FC236}">
                <a16:creationId xmlns:a16="http://schemas.microsoft.com/office/drawing/2014/main" id="{53C882A5-F903-B990-FFE1-94BA1DAB9007}"/>
              </a:ext>
            </a:extLst>
          </p:cNvPr>
          <p:cNvPicPr>
            <a:picLocks noChangeAspect="1"/>
          </p:cNvPicPr>
          <p:nvPr/>
        </p:nvPicPr>
        <p:blipFill>
          <a:blip r:embed="rId3"/>
          <a:srcRect/>
          <a:stretch/>
        </p:blipFill>
        <p:spPr>
          <a:xfrm>
            <a:off x="768683" y="1472184"/>
            <a:ext cx="3646804" cy="4009575"/>
          </a:xfrm>
          <a:prstGeom prst="rect">
            <a:avLst/>
          </a:prstGeom>
        </p:spPr>
      </p:pic>
      <p:pic>
        <p:nvPicPr>
          <p:cNvPr id="25" name="Picture 24">
            <a:extLst>
              <a:ext uri="{FF2B5EF4-FFF2-40B4-BE49-F238E27FC236}">
                <a16:creationId xmlns:a16="http://schemas.microsoft.com/office/drawing/2014/main" id="{471F8611-3CE6-EDEF-47DC-E123A5C5260E}"/>
              </a:ext>
            </a:extLst>
          </p:cNvPr>
          <p:cNvPicPr>
            <a:picLocks noChangeAspect="1"/>
          </p:cNvPicPr>
          <p:nvPr/>
        </p:nvPicPr>
        <p:blipFill>
          <a:blip r:embed="rId4"/>
          <a:srcRect/>
          <a:stretch/>
        </p:blipFill>
        <p:spPr>
          <a:xfrm>
            <a:off x="4575602" y="1490472"/>
            <a:ext cx="3527347" cy="3504262"/>
          </a:xfrm>
          <a:prstGeom prst="rect">
            <a:avLst/>
          </a:prstGeom>
        </p:spPr>
      </p:pic>
      <p:pic>
        <p:nvPicPr>
          <p:cNvPr id="5" name="Image 1" descr="/home/claude/deck/icons/briefcase_white.png">
            <a:extLst>
              <a:ext uri="{FF2B5EF4-FFF2-40B4-BE49-F238E27FC236}">
                <a16:creationId xmlns:a16="http://schemas.microsoft.com/office/drawing/2014/main" id="{CB4E739A-4940-5EE4-A025-10B6CCD37341}"/>
              </a:ext>
            </a:extLst>
          </p:cNvPr>
          <p:cNvPicPr>
            <a:picLocks noChangeAspect="1"/>
          </p:cNvPicPr>
          <p:nvPr/>
        </p:nvPicPr>
        <p:blipFill>
          <a:blip r:embed="rId5"/>
          <a:stretch>
            <a:fillRect/>
          </a:stretch>
        </p:blipFill>
        <p:spPr>
          <a:xfrm>
            <a:off x="8748305" y="1570938"/>
            <a:ext cx="213970" cy="213970"/>
          </a:xfrm>
          <a:prstGeom prst="rect">
            <a:avLst/>
          </a:prstGeom>
        </p:spPr>
      </p:pic>
    </p:spTree>
    <p:extLst>
      <p:ext uri="{BB962C8B-B14F-4D97-AF65-F5344CB8AC3E}">
        <p14:creationId xmlns:p14="http://schemas.microsoft.com/office/powerpoint/2010/main" val="4153295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734DF-7694-95D4-E0EB-2F6650458BEA}"/>
            </a:ext>
          </a:extLst>
        </p:cNvPr>
        <p:cNvGrpSpPr/>
        <p:nvPr/>
      </p:nvGrpSpPr>
      <p:grpSpPr>
        <a:xfrm>
          <a:off x="0" y="0"/>
          <a:ext cx="0" cy="0"/>
          <a:chOff x="0" y="0"/>
          <a:chExt cx="0" cy="0"/>
        </a:xfrm>
      </p:grpSpPr>
      <p:sp>
        <p:nvSpPr>
          <p:cNvPr id="24" name="Shape 6">
            <a:extLst>
              <a:ext uri="{FF2B5EF4-FFF2-40B4-BE49-F238E27FC236}">
                <a16:creationId xmlns:a16="http://schemas.microsoft.com/office/drawing/2014/main" id="{80CBC697-E64D-F6CE-245B-0E4BB20BA99D}"/>
              </a:ext>
            </a:extLst>
          </p:cNvPr>
          <p:cNvSpPr/>
          <p:nvPr/>
        </p:nvSpPr>
        <p:spPr>
          <a:xfrm>
            <a:off x="6797158" y="1413296"/>
            <a:ext cx="4782312" cy="2559761"/>
          </a:xfrm>
          <a:prstGeom prst="roundRect">
            <a:avLst>
              <a:gd name="adj" fmla="val 1806"/>
            </a:avLst>
          </a:prstGeom>
          <a:solidFill>
            <a:srgbClr val="F7F3EF"/>
          </a:solidFill>
          <a:ln w="12700">
            <a:solidFill>
              <a:srgbClr val="E4E1DD"/>
            </a:solidFill>
            <a:prstDash val="solid"/>
          </a:ln>
        </p:spPr>
        <p:txBody>
          <a:bodyPr/>
          <a:lstStyle/>
          <a:p>
            <a:r>
              <a:rPr lang="en-US" dirty="0"/>
              <a:t>        </a:t>
            </a:r>
            <a:endParaRPr lang="en-ZA" dirty="0"/>
          </a:p>
        </p:txBody>
      </p:sp>
      <p:sp>
        <p:nvSpPr>
          <p:cNvPr id="2" name="Text 0">
            <a:extLst>
              <a:ext uri="{FF2B5EF4-FFF2-40B4-BE49-F238E27FC236}">
                <a16:creationId xmlns:a16="http://schemas.microsoft.com/office/drawing/2014/main" id="{38FA3ABA-C610-938C-3D12-FF6686E9282B}"/>
              </a:ext>
            </a:extLst>
          </p:cNvPr>
          <p:cNvSpPr/>
          <p:nvPr/>
        </p:nvSpPr>
        <p:spPr>
          <a:xfrm>
            <a:off x="548640" y="320040"/>
            <a:ext cx="9144000" cy="320040"/>
          </a:xfrm>
          <a:prstGeom prst="rect">
            <a:avLst/>
          </a:prstGeom>
          <a:noFill/>
          <a:ln/>
        </p:spPr>
        <p:txBody>
          <a:bodyPr wrap="square" rtlCol="0" anchor="ctr"/>
          <a:lstStyle/>
          <a:p>
            <a:pPr marL="0" indent="0">
              <a:buNone/>
            </a:pPr>
            <a:r>
              <a:rPr lang="en-US" sz="1250" b="1" kern="0" spc="200" dirty="0">
                <a:solidFill>
                  <a:srgbClr val="5B2C83"/>
                </a:solidFill>
                <a:latin typeface="Calibri" pitchFamily="34" charset="0"/>
                <a:ea typeface="Calibri" pitchFamily="34" charset="-122"/>
                <a:cs typeface="Calibri" pitchFamily="34" charset="-120"/>
              </a:rPr>
              <a:t>DATA ANALYTICS DASHBOARDS</a:t>
            </a:r>
            <a:endParaRPr lang="en-US" sz="1250" dirty="0"/>
          </a:p>
        </p:txBody>
      </p:sp>
      <p:sp>
        <p:nvSpPr>
          <p:cNvPr id="3" name="Text 1">
            <a:extLst>
              <a:ext uri="{FF2B5EF4-FFF2-40B4-BE49-F238E27FC236}">
                <a16:creationId xmlns:a16="http://schemas.microsoft.com/office/drawing/2014/main" id="{5CFF51CE-4EA4-16A4-19BB-6ED814FD7C01}"/>
              </a:ext>
            </a:extLst>
          </p:cNvPr>
          <p:cNvSpPr/>
          <p:nvPr/>
        </p:nvSpPr>
        <p:spPr>
          <a:xfrm>
            <a:off x="548640" y="603504"/>
            <a:ext cx="11064240" cy="685800"/>
          </a:xfrm>
          <a:prstGeom prst="rect">
            <a:avLst/>
          </a:prstGeom>
          <a:noFill/>
          <a:ln/>
        </p:spPr>
        <p:txBody>
          <a:bodyPr wrap="square" rtlCol="0" anchor="ctr"/>
          <a:lstStyle/>
          <a:p>
            <a:pPr marL="0" indent="0">
              <a:buNone/>
            </a:pPr>
            <a:r>
              <a:rPr lang="en-US" sz="2700" b="1" dirty="0">
                <a:solidFill>
                  <a:srgbClr val="2B2B2B"/>
                </a:solidFill>
                <a:latin typeface="Cambria" pitchFamily="34" charset="0"/>
                <a:ea typeface="Cambria" pitchFamily="34" charset="-122"/>
                <a:cs typeface="Cambria" pitchFamily="34" charset="-120"/>
              </a:rPr>
              <a:t>Administrator Analytics Dashboard</a:t>
            </a:r>
            <a:endParaRPr lang="en-US" sz="2700" dirty="0"/>
          </a:p>
        </p:txBody>
      </p:sp>
      <p:sp>
        <p:nvSpPr>
          <p:cNvPr id="4" name="Shape 2">
            <a:extLst>
              <a:ext uri="{FF2B5EF4-FFF2-40B4-BE49-F238E27FC236}">
                <a16:creationId xmlns:a16="http://schemas.microsoft.com/office/drawing/2014/main" id="{A43CB945-3B42-80EB-7EC4-2F6ECFDA1AC2}"/>
              </a:ext>
            </a:extLst>
          </p:cNvPr>
          <p:cNvSpPr/>
          <p:nvPr/>
        </p:nvSpPr>
        <p:spPr>
          <a:xfrm>
            <a:off x="10195560" y="384048"/>
            <a:ext cx="1417320" cy="292608"/>
          </a:xfrm>
          <a:prstGeom prst="roundRect">
            <a:avLst>
              <a:gd name="adj" fmla="val 50000"/>
            </a:avLst>
          </a:prstGeom>
          <a:solidFill>
            <a:srgbClr val="0E7C7B"/>
          </a:solidFill>
          <a:ln/>
        </p:spPr>
        <p:txBody>
          <a:bodyPr/>
          <a:lstStyle/>
          <a:p>
            <a:endParaRPr lang="en-ZA"/>
          </a:p>
        </p:txBody>
      </p:sp>
      <p:sp>
        <p:nvSpPr>
          <p:cNvPr id="5" name="Text 3">
            <a:extLst>
              <a:ext uri="{FF2B5EF4-FFF2-40B4-BE49-F238E27FC236}">
                <a16:creationId xmlns:a16="http://schemas.microsoft.com/office/drawing/2014/main" id="{6E0769DA-B31A-DC22-D360-BD620D34624B}"/>
              </a:ext>
            </a:extLst>
          </p:cNvPr>
          <p:cNvSpPr/>
          <p:nvPr/>
        </p:nvSpPr>
        <p:spPr>
          <a:xfrm>
            <a:off x="10195560" y="384048"/>
            <a:ext cx="1417320" cy="29260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LIVE DATA</a:t>
            </a:r>
            <a:endParaRPr lang="en-US" sz="1050" dirty="0"/>
          </a:p>
        </p:txBody>
      </p:sp>
      <p:sp>
        <p:nvSpPr>
          <p:cNvPr id="6" name="Shape 4">
            <a:extLst>
              <a:ext uri="{FF2B5EF4-FFF2-40B4-BE49-F238E27FC236}">
                <a16:creationId xmlns:a16="http://schemas.microsoft.com/office/drawing/2014/main" id="{41BE17F3-F092-C19B-3A94-851D6C570029}"/>
              </a:ext>
            </a:extLst>
          </p:cNvPr>
          <p:cNvSpPr/>
          <p:nvPr/>
        </p:nvSpPr>
        <p:spPr>
          <a:xfrm>
            <a:off x="548640" y="1370293"/>
            <a:ext cx="5721221" cy="2602764"/>
          </a:xfrm>
          <a:prstGeom prst="roundRect">
            <a:avLst>
              <a:gd name="adj" fmla="val 2945"/>
            </a:avLst>
          </a:prstGeom>
          <a:solidFill>
            <a:srgbClr val="0E7C7B"/>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pic>
        <p:nvPicPr>
          <p:cNvPr id="7" name="Image 0" descr="/home/claude/deck/assets/admin_dashboard_1.png">
            <a:extLst>
              <a:ext uri="{FF2B5EF4-FFF2-40B4-BE49-F238E27FC236}">
                <a16:creationId xmlns:a16="http://schemas.microsoft.com/office/drawing/2014/main" id="{03B20E9A-B8FE-AB60-44D7-16A734D7D9EB}"/>
              </a:ext>
            </a:extLst>
          </p:cNvPr>
          <p:cNvPicPr>
            <a:picLocks noChangeAspect="1"/>
          </p:cNvPicPr>
          <p:nvPr/>
        </p:nvPicPr>
        <p:blipFill>
          <a:blip r:embed="rId3"/>
          <a:stretch>
            <a:fillRect/>
          </a:stretch>
        </p:blipFill>
        <p:spPr>
          <a:xfrm>
            <a:off x="693073" y="1516596"/>
            <a:ext cx="5430486" cy="2352279"/>
          </a:xfrm>
          <a:prstGeom prst="rect">
            <a:avLst/>
          </a:prstGeom>
        </p:spPr>
      </p:pic>
      <p:sp>
        <p:nvSpPr>
          <p:cNvPr id="8" name="Shape 5">
            <a:extLst>
              <a:ext uri="{FF2B5EF4-FFF2-40B4-BE49-F238E27FC236}">
                <a16:creationId xmlns:a16="http://schemas.microsoft.com/office/drawing/2014/main" id="{5C4326E7-DF2B-67A9-27C2-2BE80E72F284}"/>
              </a:ext>
            </a:extLst>
          </p:cNvPr>
          <p:cNvSpPr/>
          <p:nvPr/>
        </p:nvSpPr>
        <p:spPr>
          <a:xfrm>
            <a:off x="548641" y="4086703"/>
            <a:ext cx="5721222" cy="2341051"/>
          </a:xfrm>
          <a:prstGeom prst="roundRect">
            <a:avLst>
              <a:gd name="adj" fmla="val 3356"/>
            </a:avLst>
          </a:prstGeom>
          <a:solidFill>
            <a:srgbClr val="0E7C7B"/>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pic>
        <p:nvPicPr>
          <p:cNvPr id="9" name="Image 1" descr="/home/claude/deck/assets/admin_dashboard_2.png">
            <a:extLst>
              <a:ext uri="{FF2B5EF4-FFF2-40B4-BE49-F238E27FC236}">
                <a16:creationId xmlns:a16="http://schemas.microsoft.com/office/drawing/2014/main" id="{CCFF9FBC-0D06-E01B-3DB1-185AA8ECA266}"/>
              </a:ext>
            </a:extLst>
          </p:cNvPr>
          <p:cNvPicPr>
            <a:picLocks noChangeAspect="1"/>
          </p:cNvPicPr>
          <p:nvPr/>
        </p:nvPicPr>
        <p:blipFill>
          <a:blip r:embed="rId4"/>
          <a:stretch>
            <a:fillRect/>
          </a:stretch>
        </p:blipFill>
        <p:spPr>
          <a:xfrm>
            <a:off x="689893" y="4254689"/>
            <a:ext cx="5433666" cy="2026761"/>
          </a:xfrm>
          <a:prstGeom prst="rect">
            <a:avLst/>
          </a:prstGeom>
        </p:spPr>
      </p:pic>
      <p:sp>
        <p:nvSpPr>
          <p:cNvPr id="11" name="Shape 7">
            <a:extLst>
              <a:ext uri="{FF2B5EF4-FFF2-40B4-BE49-F238E27FC236}">
                <a16:creationId xmlns:a16="http://schemas.microsoft.com/office/drawing/2014/main" id="{3D48FC5B-3815-C9F9-5E64-CB73B50A2F2D}"/>
              </a:ext>
            </a:extLst>
          </p:cNvPr>
          <p:cNvSpPr/>
          <p:nvPr/>
        </p:nvSpPr>
        <p:spPr>
          <a:xfrm>
            <a:off x="7090984" y="1673352"/>
            <a:ext cx="480247" cy="472440"/>
          </a:xfrm>
          <a:prstGeom prst="ellipse">
            <a:avLst/>
          </a:prstGeom>
          <a:solidFill>
            <a:srgbClr val="0E7C7B"/>
          </a:solidFill>
          <a:ln/>
        </p:spPr>
        <p:txBody>
          <a:bodyPr/>
          <a:lstStyle/>
          <a:p>
            <a:endParaRPr lang="en-ZA"/>
          </a:p>
        </p:txBody>
      </p:sp>
      <p:pic>
        <p:nvPicPr>
          <p:cNvPr id="12" name="Image 2" descr="/home/claude/deck/icons/shieldUser_white.png">
            <a:extLst>
              <a:ext uri="{FF2B5EF4-FFF2-40B4-BE49-F238E27FC236}">
                <a16:creationId xmlns:a16="http://schemas.microsoft.com/office/drawing/2014/main" id="{2D28131B-B5F6-37B7-3F6D-73C66857D937}"/>
              </a:ext>
            </a:extLst>
          </p:cNvPr>
          <p:cNvPicPr>
            <a:picLocks noChangeAspect="1"/>
          </p:cNvPicPr>
          <p:nvPr/>
        </p:nvPicPr>
        <p:blipFill>
          <a:blip r:embed="rId5"/>
          <a:stretch>
            <a:fillRect/>
          </a:stretch>
        </p:blipFill>
        <p:spPr>
          <a:xfrm>
            <a:off x="7189739" y="1772106"/>
            <a:ext cx="285293" cy="285293"/>
          </a:xfrm>
          <a:prstGeom prst="rect">
            <a:avLst/>
          </a:prstGeom>
        </p:spPr>
      </p:pic>
      <p:sp>
        <p:nvSpPr>
          <p:cNvPr id="13" name="Text 8">
            <a:extLst>
              <a:ext uri="{FF2B5EF4-FFF2-40B4-BE49-F238E27FC236}">
                <a16:creationId xmlns:a16="http://schemas.microsoft.com/office/drawing/2014/main" id="{E886D8FB-CF44-32F0-7774-90984AE4A3AC}"/>
              </a:ext>
            </a:extLst>
          </p:cNvPr>
          <p:cNvSpPr/>
          <p:nvPr/>
        </p:nvSpPr>
        <p:spPr>
          <a:xfrm>
            <a:off x="7621337" y="1691640"/>
            <a:ext cx="3108960" cy="365760"/>
          </a:xfrm>
          <a:prstGeom prst="rect">
            <a:avLst/>
          </a:prstGeom>
          <a:noFill/>
          <a:ln/>
        </p:spPr>
        <p:txBody>
          <a:bodyPr wrap="square" rtlCol="0" anchor="ctr"/>
          <a:lstStyle/>
          <a:p>
            <a:pPr marL="0" indent="0">
              <a:buNone/>
            </a:pPr>
            <a:r>
              <a:rPr lang="en-US" sz="1600" b="1" dirty="0">
                <a:solidFill>
                  <a:srgbClr val="2B2B2B"/>
                </a:solidFill>
                <a:latin typeface="Cambria" pitchFamily="34" charset="0"/>
                <a:ea typeface="Cambria" pitchFamily="34" charset="-122"/>
                <a:cs typeface="Cambria" pitchFamily="34" charset="-120"/>
              </a:rPr>
              <a:t>What the admin dashboard shows</a:t>
            </a:r>
            <a:r>
              <a:rPr lang="en-US" sz="1250" b="1" dirty="0">
                <a:solidFill>
                  <a:srgbClr val="2B2B2B"/>
                </a:solidFill>
                <a:latin typeface="Cambria" pitchFamily="34" charset="0"/>
                <a:ea typeface="Cambria" pitchFamily="34" charset="-122"/>
                <a:cs typeface="Cambria" pitchFamily="34" charset="-120"/>
              </a:rPr>
              <a:t>:</a:t>
            </a:r>
            <a:endParaRPr lang="en-US" sz="1250" dirty="0"/>
          </a:p>
        </p:txBody>
      </p:sp>
      <p:sp>
        <p:nvSpPr>
          <p:cNvPr id="20" name="Text 15">
            <a:extLst>
              <a:ext uri="{FF2B5EF4-FFF2-40B4-BE49-F238E27FC236}">
                <a16:creationId xmlns:a16="http://schemas.microsoft.com/office/drawing/2014/main" id="{4106CF71-BE36-9BF0-EC51-A4D56E7EC10C}"/>
              </a:ext>
            </a:extLst>
          </p:cNvPr>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Richfield Connect · Hackathon 2026</a:t>
            </a:r>
            <a:endParaRPr lang="en-US" sz="900" dirty="0"/>
          </a:p>
        </p:txBody>
      </p:sp>
      <p:sp>
        <p:nvSpPr>
          <p:cNvPr id="26" name="Text 10">
            <a:extLst>
              <a:ext uri="{FF2B5EF4-FFF2-40B4-BE49-F238E27FC236}">
                <a16:creationId xmlns:a16="http://schemas.microsoft.com/office/drawing/2014/main" id="{AB2A52BC-1F52-6271-A6A0-19C6D3A8FD1D}"/>
              </a:ext>
            </a:extLst>
          </p:cNvPr>
          <p:cNvSpPr/>
          <p:nvPr/>
        </p:nvSpPr>
        <p:spPr>
          <a:xfrm>
            <a:off x="7189740" y="2387436"/>
            <a:ext cx="3429000" cy="1481439"/>
          </a:xfrm>
          <a:prstGeom prst="rect">
            <a:avLst/>
          </a:prstGeom>
          <a:noFill/>
          <a:ln/>
        </p:spPr>
        <p:txBody>
          <a:bodyPr wrap="square" rtlCol="0" anchor="t"/>
          <a:lstStyle/>
          <a:p>
            <a:pPr marL="171450" indent="-171450">
              <a:lnSpc>
                <a:spcPct val="120000"/>
              </a:lnSpc>
              <a:buFont typeface="Arial" panose="020B0604020202020204" pitchFamily="34" charset="0"/>
              <a:buChar char="•"/>
            </a:pPr>
            <a:r>
              <a:rPr lang="en-US" sz="1600" dirty="0"/>
              <a:t>Total Users by their role (Student, Alumni, Business, Admin</a:t>
            </a:r>
          </a:p>
          <a:p>
            <a:pPr marL="171450" indent="-171450">
              <a:lnSpc>
                <a:spcPct val="120000"/>
              </a:lnSpc>
              <a:buFont typeface="Arial" panose="020B0604020202020204" pitchFamily="34" charset="0"/>
              <a:buChar char="•"/>
            </a:pPr>
            <a:r>
              <a:rPr lang="en-US" sz="1600" dirty="0"/>
              <a:t>Alumni verification status</a:t>
            </a:r>
          </a:p>
          <a:p>
            <a:pPr marL="171450" indent="-171450">
              <a:lnSpc>
                <a:spcPct val="120000"/>
              </a:lnSpc>
              <a:buFont typeface="Arial" panose="020B0604020202020204" pitchFamily="34" charset="0"/>
              <a:buChar char="•"/>
            </a:pPr>
            <a:r>
              <a:rPr lang="en-US" sz="1600" dirty="0"/>
              <a:t>Business account verification status</a:t>
            </a:r>
          </a:p>
          <a:p>
            <a:pPr marL="171450" indent="-171450">
              <a:lnSpc>
                <a:spcPct val="120000"/>
              </a:lnSpc>
              <a:buFont typeface="Arial" panose="020B0604020202020204" pitchFamily="34" charset="0"/>
              <a:buChar char="•"/>
            </a:pPr>
            <a:r>
              <a:rPr lang="en-US" sz="1600" dirty="0"/>
              <a:t>Platform engagement</a:t>
            </a:r>
          </a:p>
          <a:p>
            <a:pPr>
              <a:lnSpc>
                <a:spcPct val="120000"/>
              </a:lnSpc>
            </a:pPr>
            <a:endParaRPr lang="en-US" sz="1200" dirty="0"/>
          </a:p>
        </p:txBody>
      </p:sp>
      <p:sp>
        <p:nvSpPr>
          <p:cNvPr id="14" name="Shape 6">
            <a:extLst>
              <a:ext uri="{FF2B5EF4-FFF2-40B4-BE49-F238E27FC236}">
                <a16:creationId xmlns:a16="http://schemas.microsoft.com/office/drawing/2014/main" id="{FF29EBB3-BF75-E882-C790-ADE67F2BAF90}"/>
              </a:ext>
            </a:extLst>
          </p:cNvPr>
          <p:cNvSpPr/>
          <p:nvPr/>
        </p:nvSpPr>
        <p:spPr>
          <a:xfrm>
            <a:off x="6830568" y="4142729"/>
            <a:ext cx="4782312" cy="2263617"/>
          </a:xfrm>
          <a:prstGeom prst="roundRect">
            <a:avLst>
              <a:gd name="adj" fmla="val 1806"/>
            </a:avLst>
          </a:prstGeom>
          <a:solidFill>
            <a:srgbClr val="F7F3EF"/>
          </a:solidFill>
          <a:ln w="12700">
            <a:solidFill>
              <a:srgbClr val="E4E1DD"/>
            </a:solidFill>
            <a:prstDash val="solid"/>
          </a:ln>
        </p:spPr>
        <p:txBody>
          <a:bodyPr/>
          <a:lstStyle/>
          <a:p>
            <a:r>
              <a:rPr lang="en-US" dirty="0"/>
              <a:t>        </a:t>
            </a:r>
            <a:endParaRPr lang="en-ZA" dirty="0"/>
          </a:p>
        </p:txBody>
      </p:sp>
      <p:sp>
        <p:nvSpPr>
          <p:cNvPr id="21" name="Text 8">
            <a:extLst>
              <a:ext uri="{FF2B5EF4-FFF2-40B4-BE49-F238E27FC236}">
                <a16:creationId xmlns:a16="http://schemas.microsoft.com/office/drawing/2014/main" id="{7EDD73FB-2F31-BB73-E43D-4371A4FF95DA}"/>
              </a:ext>
            </a:extLst>
          </p:cNvPr>
          <p:cNvSpPr/>
          <p:nvPr/>
        </p:nvSpPr>
        <p:spPr>
          <a:xfrm>
            <a:off x="7169056" y="4198911"/>
            <a:ext cx="4105336" cy="365760"/>
          </a:xfrm>
          <a:prstGeom prst="rect">
            <a:avLst/>
          </a:prstGeom>
          <a:noFill/>
          <a:ln/>
        </p:spPr>
        <p:txBody>
          <a:bodyPr wrap="square" rtlCol="0" anchor="ctr"/>
          <a:lstStyle/>
          <a:p>
            <a:pPr marL="0" indent="0">
              <a:buNone/>
            </a:pPr>
            <a:r>
              <a:rPr lang="en-US" sz="1600" b="1" dirty="0">
                <a:solidFill>
                  <a:srgbClr val="2B2B2B"/>
                </a:solidFill>
                <a:latin typeface="Cambria" pitchFamily="34" charset="0"/>
                <a:ea typeface="Cambria" pitchFamily="34" charset="-122"/>
                <a:cs typeface="Cambria" pitchFamily="34" charset="-120"/>
              </a:rPr>
              <a:t>With this data we can</a:t>
            </a:r>
            <a:r>
              <a:rPr lang="en-US" sz="1250" b="1" dirty="0">
                <a:solidFill>
                  <a:srgbClr val="2B2B2B"/>
                </a:solidFill>
                <a:latin typeface="Cambria" pitchFamily="34" charset="0"/>
                <a:ea typeface="Cambria" pitchFamily="34" charset="-122"/>
                <a:cs typeface="Cambria" pitchFamily="34" charset="-120"/>
              </a:rPr>
              <a:t>:</a:t>
            </a:r>
            <a:endParaRPr lang="en-US" sz="1250" dirty="0"/>
          </a:p>
        </p:txBody>
      </p:sp>
      <p:sp>
        <p:nvSpPr>
          <p:cNvPr id="23" name="Text 10">
            <a:extLst>
              <a:ext uri="{FF2B5EF4-FFF2-40B4-BE49-F238E27FC236}">
                <a16:creationId xmlns:a16="http://schemas.microsoft.com/office/drawing/2014/main" id="{0A5217CB-8473-46BC-8757-E139020B0947}"/>
              </a:ext>
            </a:extLst>
          </p:cNvPr>
          <p:cNvSpPr/>
          <p:nvPr/>
        </p:nvSpPr>
        <p:spPr>
          <a:xfrm>
            <a:off x="7189740" y="5116869"/>
            <a:ext cx="3429000" cy="1481439"/>
          </a:xfrm>
          <a:prstGeom prst="rect">
            <a:avLst/>
          </a:prstGeom>
          <a:noFill/>
          <a:ln/>
        </p:spPr>
        <p:txBody>
          <a:bodyPr wrap="square" rtlCol="0" anchor="t"/>
          <a:lstStyle/>
          <a:p>
            <a:pPr>
              <a:lnSpc>
                <a:spcPct val="120000"/>
              </a:lnSpc>
            </a:pPr>
            <a:endParaRPr lang="en-US" sz="1200" dirty="0"/>
          </a:p>
        </p:txBody>
      </p:sp>
      <p:sp>
        <p:nvSpPr>
          <p:cNvPr id="27" name="Text 10">
            <a:extLst>
              <a:ext uri="{FF2B5EF4-FFF2-40B4-BE49-F238E27FC236}">
                <a16:creationId xmlns:a16="http://schemas.microsoft.com/office/drawing/2014/main" id="{AE5D0E82-3E82-51C1-C358-00C0626794EE}"/>
              </a:ext>
            </a:extLst>
          </p:cNvPr>
          <p:cNvSpPr/>
          <p:nvPr/>
        </p:nvSpPr>
        <p:spPr>
          <a:xfrm>
            <a:off x="7189740" y="4485973"/>
            <a:ext cx="3429000" cy="1862159"/>
          </a:xfrm>
          <a:prstGeom prst="rect">
            <a:avLst/>
          </a:prstGeom>
          <a:noFill/>
          <a:ln/>
        </p:spPr>
        <p:txBody>
          <a:bodyPr wrap="square" rtlCol="0" anchor="t"/>
          <a:lstStyle/>
          <a:p>
            <a:pPr marL="171450" indent="-171450">
              <a:lnSpc>
                <a:spcPct val="120000"/>
              </a:lnSpc>
              <a:buFont typeface="Arial" panose="020B0604020202020204" pitchFamily="34" charset="0"/>
              <a:buChar char="•"/>
            </a:pPr>
            <a:r>
              <a:rPr lang="en-US" sz="1600" dirty="0"/>
              <a:t>See what </a:t>
            </a:r>
            <a:r>
              <a:rPr lang="en-US" sz="1400" dirty="0"/>
              <a:t>content</a:t>
            </a:r>
            <a:r>
              <a:rPr lang="en-US" sz="1600" dirty="0"/>
              <a:t> keeps users engaged</a:t>
            </a:r>
          </a:p>
          <a:p>
            <a:pPr marL="171450" indent="-171450">
              <a:lnSpc>
                <a:spcPct val="120000"/>
              </a:lnSpc>
              <a:buFont typeface="Arial" panose="020B0604020202020204" pitchFamily="34" charset="0"/>
              <a:buChar char="•"/>
            </a:pPr>
            <a:r>
              <a:rPr lang="en-US" sz="1600" dirty="0"/>
              <a:t>Show that every alumni and business is verified</a:t>
            </a:r>
          </a:p>
          <a:p>
            <a:pPr marL="171450" indent="-171450">
              <a:lnSpc>
                <a:spcPct val="120000"/>
              </a:lnSpc>
              <a:buFont typeface="Arial" panose="020B0604020202020204" pitchFamily="34" charset="0"/>
              <a:buChar char="•"/>
            </a:pPr>
            <a:r>
              <a:rPr lang="en-US" sz="1600" dirty="0"/>
              <a:t>Spot gaps between job seekers and business and target outreach</a:t>
            </a:r>
          </a:p>
          <a:p>
            <a:pPr marL="171450" indent="-171450">
              <a:lnSpc>
                <a:spcPct val="120000"/>
              </a:lnSpc>
              <a:buFont typeface="Arial" panose="020B0604020202020204" pitchFamily="34" charset="0"/>
              <a:buChar char="•"/>
            </a:pPr>
            <a:endParaRPr lang="en-US" sz="1600" dirty="0"/>
          </a:p>
          <a:p>
            <a:pPr marL="171450" indent="-171450">
              <a:lnSpc>
                <a:spcPct val="120000"/>
              </a:lnSpc>
              <a:buFont typeface="Arial" panose="020B0604020202020204" pitchFamily="34" charset="0"/>
              <a:buChar char="•"/>
            </a:pPr>
            <a:endParaRPr lang="en-US" sz="1200" dirty="0"/>
          </a:p>
        </p:txBody>
      </p:sp>
    </p:spTree>
    <p:extLst>
      <p:ext uri="{BB962C8B-B14F-4D97-AF65-F5344CB8AC3E}">
        <p14:creationId xmlns:p14="http://schemas.microsoft.com/office/powerpoint/2010/main" val="1383386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50" b="1" kern="0" spc="200" dirty="0">
                <a:solidFill>
                  <a:srgbClr val="1B2A4A"/>
                </a:solidFill>
                <a:latin typeface="Calibri" pitchFamily="34" charset="0"/>
                <a:ea typeface="Calibri" pitchFamily="34" charset="-122"/>
                <a:cs typeface="Calibri" pitchFamily="34" charset="-120"/>
              </a:rPr>
              <a:t>SECURITY &amp; GOVERNANCE</a:t>
            </a:r>
            <a:endParaRPr lang="en-US" sz="1250" dirty="0"/>
          </a:p>
        </p:txBody>
      </p:sp>
      <p:sp>
        <p:nvSpPr>
          <p:cNvPr id="3" name="Text 1"/>
          <p:cNvSpPr/>
          <p:nvPr/>
        </p:nvSpPr>
        <p:spPr>
          <a:xfrm>
            <a:off x="548640" y="603504"/>
            <a:ext cx="11064240" cy="685800"/>
          </a:xfrm>
          <a:prstGeom prst="rect">
            <a:avLst/>
          </a:prstGeom>
          <a:noFill/>
          <a:ln/>
        </p:spPr>
        <p:txBody>
          <a:bodyPr wrap="square" rtlCol="0" anchor="ctr"/>
          <a:lstStyle/>
          <a:p>
            <a:pPr marL="0" indent="0">
              <a:buNone/>
            </a:pPr>
            <a:r>
              <a:rPr lang="en-US" sz="2700" b="1" dirty="0">
                <a:solidFill>
                  <a:srgbClr val="2B2B2B"/>
                </a:solidFill>
                <a:latin typeface="Cambria" pitchFamily="34" charset="0"/>
                <a:ea typeface="Cambria" pitchFamily="34" charset="-122"/>
                <a:cs typeface="Cambria" pitchFamily="34" charset="-120"/>
              </a:rPr>
              <a:t>Data Privacy &amp; POPIA Compliance</a:t>
            </a:r>
            <a:endParaRPr lang="en-US" sz="2700" dirty="0"/>
          </a:p>
        </p:txBody>
      </p:sp>
      <p:sp>
        <p:nvSpPr>
          <p:cNvPr id="49" name="Text 38"/>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Richfield Connect · Hackathon 2026</a:t>
            </a:r>
            <a:endParaRPr lang="en-US" sz="900" dirty="0"/>
          </a:p>
        </p:txBody>
      </p:sp>
      <p:sp>
        <p:nvSpPr>
          <p:cNvPr id="51" name="Text 2">
            <a:extLst>
              <a:ext uri="{FF2B5EF4-FFF2-40B4-BE49-F238E27FC236}">
                <a16:creationId xmlns:a16="http://schemas.microsoft.com/office/drawing/2014/main" id="{140ADB0D-CCE6-E0FB-450E-6894D8A78993}"/>
              </a:ext>
            </a:extLst>
          </p:cNvPr>
          <p:cNvSpPr txBox="1"/>
          <p:nvPr/>
        </p:nvSpPr>
        <p:spPr>
          <a:xfrm>
            <a:off x="548640" y="1600200"/>
            <a:ext cx="10678160" cy="356616"/>
          </a:xfrm>
          <a:prstGeom prst="rect">
            <a:avLst/>
          </a:prstGeom>
          <a:noFill/>
          <a:ln/>
        </p:spPr>
        <p:txBody>
          <a:bodyPr wrap="square" lIns="0" tIns="0" rIns="0" bIns="0" rtlCol="0" anchor="ctr"/>
          <a:lstStyle/>
          <a:p>
            <a:pPr marL="0" indent="0">
              <a:buNone/>
            </a:pPr>
            <a:r>
              <a:rPr lang="en-US" sz="2400" b="1" dirty="0">
                <a:solidFill>
                  <a:srgbClr val="A8322A"/>
                </a:solidFill>
                <a:latin typeface="Cambria" pitchFamily="34" charset="0"/>
                <a:ea typeface="Cambria" pitchFamily="34" charset="-122"/>
                <a:cs typeface="Cambria" pitchFamily="34" charset="-120"/>
              </a:rPr>
              <a:t>71 RLS policies</a:t>
            </a:r>
            <a:r>
              <a:rPr lang="en-US" sz="2400" dirty="0">
                <a:solidFill>
                  <a:srgbClr val="23262D"/>
                </a:solidFill>
                <a:latin typeface="Calibri" pitchFamily="34" charset="0"/>
                <a:ea typeface="Calibri" pitchFamily="34" charset="-122"/>
                <a:cs typeface="Calibri" pitchFamily="34" charset="-120"/>
              </a:rPr>
              <a:t>   </a:t>
            </a:r>
            <a:r>
              <a:rPr lang="en-US" sz="2000" dirty="0">
                <a:solidFill>
                  <a:srgbClr val="23262D"/>
                </a:solidFill>
                <a:latin typeface="Calibri" pitchFamily="34" charset="0"/>
                <a:ea typeface="Calibri" pitchFamily="34" charset="-122"/>
                <a:cs typeface="Calibri" pitchFamily="34" charset="-120"/>
              </a:rPr>
              <a:t>across 32 tables, checked by the database on every request</a:t>
            </a:r>
            <a:endParaRPr lang="en-US" sz="3000" dirty="0"/>
          </a:p>
        </p:txBody>
      </p:sp>
      <p:sp>
        <p:nvSpPr>
          <p:cNvPr id="53" name="Shape 3">
            <a:extLst>
              <a:ext uri="{FF2B5EF4-FFF2-40B4-BE49-F238E27FC236}">
                <a16:creationId xmlns:a16="http://schemas.microsoft.com/office/drawing/2014/main" id="{C9ECB20B-4EB0-70BF-8E07-C194BC614259}"/>
              </a:ext>
            </a:extLst>
          </p:cNvPr>
          <p:cNvSpPr/>
          <p:nvPr/>
        </p:nvSpPr>
        <p:spPr>
          <a:xfrm>
            <a:off x="548640" y="2606040"/>
            <a:ext cx="3511296" cy="3291840"/>
          </a:xfrm>
          <a:prstGeom prst="roundRect">
            <a:avLst>
              <a:gd name="adj" fmla="val 2222"/>
            </a:avLst>
          </a:prstGeom>
          <a:solidFill>
            <a:srgbClr val="FFFFFF"/>
          </a:solidFill>
          <a:ln w="12700">
            <a:solidFill>
              <a:srgbClr val="E2E2E2"/>
            </a:solidFill>
            <a:prstDash val="solid"/>
          </a:ln>
          <a:effectLst>
            <a:outerShdw blurRad="76200" dist="25400" dir="5400000" algn="bl" rotWithShape="0">
              <a:srgbClr val="000000">
                <a:alpha val="8000"/>
              </a:srgbClr>
            </a:outerShdw>
          </a:effectLst>
        </p:spPr>
        <p:txBody>
          <a:bodyPr/>
          <a:lstStyle/>
          <a:p>
            <a:endParaRPr lang="en-ZA"/>
          </a:p>
        </p:txBody>
      </p:sp>
      <p:sp>
        <p:nvSpPr>
          <p:cNvPr id="55" name="Shape 4">
            <a:extLst>
              <a:ext uri="{FF2B5EF4-FFF2-40B4-BE49-F238E27FC236}">
                <a16:creationId xmlns:a16="http://schemas.microsoft.com/office/drawing/2014/main" id="{D2E26652-E3EA-C866-B1CA-D8BCD93DD638}"/>
              </a:ext>
            </a:extLst>
          </p:cNvPr>
          <p:cNvSpPr/>
          <p:nvPr/>
        </p:nvSpPr>
        <p:spPr>
          <a:xfrm>
            <a:off x="822960" y="2880360"/>
            <a:ext cx="566928" cy="566928"/>
          </a:xfrm>
          <a:prstGeom prst="ellipse">
            <a:avLst/>
          </a:prstGeom>
          <a:solidFill>
            <a:srgbClr val="A8322A"/>
          </a:solidFill>
          <a:ln w="12700">
            <a:solidFill>
              <a:srgbClr val="A8322A"/>
            </a:solidFill>
            <a:prstDash val="solid"/>
          </a:ln>
        </p:spPr>
        <p:txBody>
          <a:bodyPr/>
          <a:lstStyle/>
          <a:p>
            <a:endParaRPr lang="en-ZA"/>
          </a:p>
        </p:txBody>
      </p:sp>
      <p:pic>
        <p:nvPicPr>
          <p:cNvPr id="57" name="Image 0" descr="preencoded.png">
            <a:extLst>
              <a:ext uri="{FF2B5EF4-FFF2-40B4-BE49-F238E27FC236}">
                <a16:creationId xmlns:a16="http://schemas.microsoft.com/office/drawing/2014/main" id="{761B5BA5-5887-3252-1230-416F0ACCDEB5}"/>
              </a:ext>
            </a:extLst>
          </p:cNvPr>
          <p:cNvPicPr>
            <a:picLocks noChangeAspect="1"/>
          </p:cNvPicPr>
          <p:nvPr/>
        </p:nvPicPr>
        <p:blipFill>
          <a:blip r:embed="rId3"/>
          <a:stretch>
            <a:fillRect/>
          </a:stretch>
        </p:blipFill>
        <p:spPr>
          <a:xfrm>
            <a:off x="960120" y="3017520"/>
            <a:ext cx="292608" cy="292608"/>
          </a:xfrm>
          <a:prstGeom prst="rect">
            <a:avLst/>
          </a:prstGeom>
        </p:spPr>
      </p:pic>
      <p:sp>
        <p:nvSpPr>
          <p:cNvPr id="59" name="Text 5">
            <a:extLst>
              <a:ext uri="{FF2B5EF4-FFF2-40B4-BE49-F238E27FC236}">
                <a16:creationId xmlns:a16="http://schemas.microsoft.com/office/drawing/2014/main" id="{85DE6BF5-DC79-A214-05BC-F1B064DCDE75}"/>
              </a:ext>
            </a:extLst>
          </p:cNvPr>
          <p:cNvSpPr txBox="1"/>
          <p:nvPr/>
        </p:nvSpPr>
        <p:spPr>
          <a:xfrm>
            <a:off x="1554480" y="2880360"/>
            <a:ext cx="2322576" cy="566928"/>
          </a:xfrm>
          <a:prstGeom prst="rect">
            <a:avLst/>
          </a:prstGeom>
          <a:noFill/>
          <a:ln/>
        </p:spPr>
        <p:txBody>
          <a:bodyPr wrap="square" lIns="0" tIns="0" rIns="0" bIns="0" rtlCol="0" anchor="ctr"/>
          <a:lstStyle/>
          <a:p>
            <a:pPr marL="0" indent="0">
              <a:buNone/>
            </a:pPr>
            <a:r>
              <a:rPr lang="en-US" sz="2100" b="1" dirty="0">
                <a:solidFill>
                  <a:srgbClr val="23262D"/>
                </a:solidFill>
                <a:latin typeface="Cambria" pitchFamily="34" charset="0"/>
                <a:ea typeface="Cambria" pitchFamily="34" charset="-122"/>
                <a:cs typeface="Cambria" pitchFamily="34" charset="-120"/>
              </a:rPr>
              <a:t>Who gets in</a:t>
            </a:r>
            <a:endParaRPr lang="en-US" sz="2100" dirty="0"/>
          </a:p>
        </p:txBody>
      </p:sp>
      <p:sp>
        <p:nvSpPr>
          <p:cNvPr id="61" name="Text 6">
            <a:extLst>
              <a:ext uri="{FF2B5EF4-FFF2-40B4-BE49-F238E27FC236}">
                <a16:creationId xmlns:a16="http://schemas.microsoft.com/office/drawing/2014/main" id="{8024EEE5-E607-3984-009F-75823AB6339B}"/>
              </a:ext>
            </a:extLst>
          </p:cNvPr>
          <p:cNvSpPr txBox="1"/>
          <p:nvPr/>
        </p:nvSpPr>
        <p:spPr>
          <a:xfrm>
            <a:off x="822960" y="3703320"/>
            <a:ext cx="2962656" cy="2011680"/>
          </a:xfrm>
          <a:prstGeom prst="rect">
            <a:avLst/>
          </a:prstGeom>
          <a:noFill/>
          <a:ln/>
        </p:spPr>
        <p:txBody>
          <a:bodyPr wrap="square" lIns="0" tIns="0" rIns="0" bIns="0" rtlCol="0" anchor="t"/>
          <a:lstStyle/>
          <a:p>
            <a:pPr marL="0" indent="0">
              <a:spcAft>
                <a:spcPts val="200"/>
              </a:spcAft>
              <a:buNone/>
            </a:pPr>
            <a:r>
              <a:rPr lang="en-US" sz="1700" b="1" dirty="0">
                <a:solidFill>
                  <a:srgbClr val="23262D"/>
                </a:solidFill>
                <a:latin typeface="Calibri" pitchFamily="34" charset="0"/>
                <a:ea typeface="Calibri" pitchFamily="34" charset="-122"/>
                <a:cs typeface="Calibri" pitchFamily="34" charset="-120"/>
              </a:rPr>
              <a:t>Admins created by script only</a:t>
            </a:r>
            <a:endParaRPr lang="en-US" sz="1700" dirty="0"/>
          </a:p>
          <a:p>
            <a:pPr marL="0" indent="0">
              <a:buNone/>
            </a:pPr>
            <a:r>
              <a:rPr lang="en-US" sz="1250" dirty="0">
                <a:solidFill>
                  <a:srgbClr val="A8322A"/>
                </a:solidFill>
                <a:latin typeface="Consolas" pitchFamily="34" charset="0"/>
                <a:ea typeface="Consolas" pitchFamily="34" charset="-122"/>
                <a:cs typeface="Consolas" pitchFamily="34" charset="-120"/>
              </a:rPr>
              <a:t>provision-admin.ts</a:t>
            </a:r>
            <a:r>
              <a:rPr lang="en-US" sz="1350" dirty="0">
                <a:solidFill>
                  <a:srgbClr val="5B6070"/>
                </a:solidFill>
                <a:latin typeface="Calibri" pitchFamily="34" charset="0"/>
                <a:ea typeface="Calibri" pitchFamily="34" charset="-122"/>
                <a:cs typeface="Calibri" pitchFamily="34" charset="-120"/>
              </a:rPr>
              <a:t> + role trigger</a:t>
            </a:r>
            <a:endParaRPr lang="en-US" sz="1700" dirty="0"/>
          </a:p>
          <a:p>
            <a:pPr marL="0" indent="0">
              <a:spcAft>
                <a:spcPts val="200"/>
              </a:spcAft>
              <a:buNone/>
            </a:pPr>
            <a:r>
              <a:rPr lang="en-US" sz="1700" b="1" dirty="0">
                <a:solidFill>
                  <a:srgbClr val="23262D"/>
                </a:solidFill>
                <a:latin typeface="Calibri" pitchFamily="34" charset="0"/>
                <a:ea typeface="Calibri" pitchFamily="34" charset="-122"/>
                <a:cs typeface="Calibri" pitchFamily="34" charset="-120"/>
              </a:rPr>
              <a:t>Alumni &amp; businesses approved</a:t>
            </a:r>
            <a:endParaRPr lang="en-US" sz="1700" dirty="0"/>
          </a:p>
          <a:p>
            <a:pPr marL="0" indent="0">
              <a:buNone/>
            </a:pPr>
            <a:r>
              <a:rPr lang="en-US" sz="1250" dirty="0">
                <a:solidFill>
                  <a:srgbClr val="A8322A"/>
                </a:solidFill>
                <a:latin typeface="Consolas" pitchFamily="34" charset="0"/>
                <a:ea typeface="Consolas" pitchFamily="34" charset="-122"/>
                <a:cs typeface="Consolas" pitchFamily="34" charset="-120"/>
              </a:rPr>
              <a:t>account_status</a:t>
            </a:r>
            <a:r>
              <a:rPr lang="en-US" sz="1350" dirty="0">
                <a:solidFill>
                  <a:srgbClr val="5B6070"/>
                </a:solidFill>
                <a:latin typeface="Calibri" pitchFamily="34" charset="0"/>
                <a:ea typeface="Calibri" pitchFamily="34" charset="-122"/>
                <a:cs typeface="Calibri" pitchFamily="34" charset="-120"/>
              </a:rPr>
              <a:t> pending → active</a:t>
            </a:r>
            <a:endParaRPr lang="en-US" sz="1700" dirty="0"/>
          </a:p>
          <a:p>
            <a:pPr marL="0" indent="0">
              <a:spcAft>
                <a:spcPts val="200"/>
              </a:spcAft>
              <a:buNone/>
            </a:pPr>
            <a:r>
              <a:rPr lang="en-US" sz="1700" b="1" dirty="0">
                <a:solidFill>
                  <a:srgbClr val="23262D"/>
                </a:solidFill>
                <a:latin typeface="Calibri" pitchFamily="34" charset="0"/>
                <a:ea typeface="Calibri" pitchFamily="34" charset="-122"/>
                <a:cs typeface="Calibri" pitchFamily="34" charset="-120"/>
              </a:rPr>
              <a:t>Suspended accounts can’t write</a:t>
            </a:r>
            <a:endParaRPr lang="en-US" sz="1700" dirty="0"/>
          </a:p>
          <a:p>
            <a:pPr marL="0" indent="0">
              <a:buNone/>
            </a:pPr>
            <a:r>
              <a:rPr lang="en-US" sz="1250" dirty="0">
                <a:solidFill>
                  <a:srgbClr val="A8322A"/>
                </a:solidFill>
                <a:latin typeface="Consolas" pitchFamily="34" charset="0"/>
                <a:ea typeface="Consolas" pitchFamily="34" charset="-122"/>
                <a:cs typeface="Consolas" pitchFamily="34" charset="-120"/>
              </a:rPr>
              <a:t>banned_until</a:t>
            </a:r>
            <a:r>
              <a:rPr lang="en-US" sz="1350" dirty="0">
                <a:solidFill>
                  <a:srgbClr val="5B6070"/>
                </a:solidFill>
                <a:latin typeface="Calibri" pitchFamily="34" charset="0"/>
                <a:ea typeface="Calibri" pitchFamily="34" charset="-122"/>
                <a:cs typeface="Calibri" pitchFamily="34" charset="-120"/>
              </a:rPr>
              <a:t> + sessions revoked</a:t>
            </a:r>
            <a:endParaRPr lang="en-US" sz="1700" dirty="0"/>
          </a:p>
        </p:txBody>
      </p:sp>
      <p:sp>
        <p:nvSpPr>
          <p:cNvPr id="63" name="Shape 7">
            <a:extLst>
              <a:ext uri="{FF2B5EF4-FFF2-40B4-BE49-F238E27FC236}">
                <a16:creationId xmlns:a16="http://schemas.microsoft.com/office/drawing/2014/main" id="{2E875A2B-E4AE-7DD4-E781-6147B93A866B}"/>
              </a:ext>
            </a:extLst>
          </p:cNvPr>
          <p:cNvSpPr/>
          <p:nvPr/>
        </p:nvSpPr>
        <p:spPr>
          <a:xfrm>
            <a:off x="4334256" y="2606040"/>
            <a:ext cx="3511296" cy="3291840"/>
          </a:xfrm>
          <a:prstGeom prst="roundRect">
            <a:avLst>
              <a:gd name="adj" fmla="val 2222"/>
            </a:avLst>
          </a:prstGeom>
          <a:solidFill>
            <a:srgbClr val="FFFFFF"/>
          </a:solidFill>
          <a:ln w="12700">
            <a:solidFill>
              <a:srgbClr val="E2E2E2"/>
            </a:solidFill>
            <a:prstDash val="solid"/>
          </a:ln>
          <a:effectLst>
            <a:outerShdw blurRad="76200" dist="25400" dir="5400000" algn="bl" rotWithShape="0">
              <a:srgbClr val="000000">
                <a:alpha val="8000"/>
              </a:srgbClr>
            </a:outerShdw>
          </a:effectLst>
        </p:spPr>
        <p:txBody>
          <a:bodyPr/>
          <a:lstStyle/>
          <a:p>
            <a:endParaRPr lang="en-ZA"/>
          </a:p>
        </p:txBody>
      </p:sp>
      <p:sp>
        <p:nvSpPr>
          <p:cNvPr id="65" name="Shape 8">
            <a:extLst>
              <a:ext uri="{FF2B5EF4-FFF2-40B4-BE49-F238E27FC236}">
                <a16:creationId xmlns:a16="http://schemas.microsoft.com/office/drawing/2014/main" id="{280755E0-A78E-539D-7EC0-F59EF20E5D82}"/>
              </a:ext>
            </a:extLst>
          </p:cNvPr>
          <p:cNvSpPr/>
          <p:nvPr/>
        </p:nvSpPr>
        <p:spPr>
          <a:xfrm>
            <a:off x="4608576" y="2880360"/>
            <a:ext cx="566928" cy="566928"/>
          </a:xfrm>
          <a:prstGeom prst="ellipse">
            <a:avLst/>
          </a:prstGeom>
          <a:solidFill>
            <a:srgbClr val="A8322A"/>
          </a:solidFill>
          <a:ln w="12700">
            <a:solidFill>
              <a:srgbClr val="A8322A"/>
            </a:solidFill>
            <a:prstDash val="solid"/>
          </a:ln>
        </p:spPr>
        <p:txBody>
          <a:bodyPr/>
          <a:lstStyle/>
          <a:p>
            <a:endParaRPr lang="en-ZA"/>
          </a:p>
        </p:txBody>
      </p:sp>
      <p:pic>
        <p:nvPicPr>
          <p:cNvPr id="67" name="Image 1" descr="preencoded.png">
            <a:extLst>
              <a:ext uri="{FF2B5EF4-FFF2-40B4-BE49-F238E27FC236}">
                <a16:creationId xmlns:a16="http://schemas.microsoft.com/office/drawing/2014/main" id="{6566F616-2920-9C90-4AC2-2A2C094E3919}"/>
              </a:ext>
            </a:extLst>
          </p:cNvPr>
          <p:cNvPicPr>
            <a:picLocks noChangeAspect="1"/>
          </p:cNvPicPr>
          <p:nvPr/>
        </p:nvPicPr>
        <p:blipFill>
          <a:blip r:embed="rId4"/>
          <a:stretch>
            <a:fillRect/>
          </a:stretch>
        </p:blipFill>
        <p:spPr>
          <a:xfrm>
            <a:off x="4745736" y="3017520"/>
            <a:ext cx="292608" cy="292608"/>
          </a:xfrm>
          <a:prstGeom prst="rect">
            <a:avLst/>
          </a:prstGeom>
        </p:spPr>
      </p:pic>
      <p:sp>
        <p:nvSpPr>
          <p:cNvPr id="69" name="Text 9">
            <a:extLst>
              <a:ext uri="{FF2B5EF4-FFF2-40B4-BE49-F238E27FC236}">
                <a16:creationId xmlns:a16="http://schemas.microsoft.com/office/drawing/2014/main" id="{512E189A-B759-EAC6-4090-3E6717567492}"/>
              </a:ext>
            </a:extLst>
          </p:cNvPr>
          <p:cNvSpPr txBox="1"/>
          <p:nvPr/>
        </p:nvSpPr>
        <p:spPr>
          <a:xfrm>
            <a:off x="5340096" y="2880360"/>
            <a:ext cx="2322576" cy="566928"/>
          </a:xfrm>
          <a:prstGeom prst="rect">
            <a:avLst/>
          </a:prstGeom>
          <a:noFill/>
          <a:ln/>
        </p:spPr>
        <p:txBody>
          <a:bodyPr wrap="square" lIns="0" tIns="0" rIns="0" bIns="0" rtlCol="0" anchor="ctr"/>
          <a:lstStyle/>
          <a:p>
            <a:pPr marL="0" indent="0">
              <a:buNone/>
            </a:pPr>
            <a:r>
              <a:rPr lang="en-US" sz="2100" b="1" dirty="0">
                <a:solidFill>
                  <a:srgbClr val="23262D"/>
                </a:solidFill>
                <a:latin typeface="Cambria" pitchFamily="34" charset="0"/>
                <a:ea typeface="Cambria" pitchFamily="34" charset="-122"/>
                <a:cs typeface="Cambria" pitchFamily="34" charset="-120"/>
              </a:rPr>
              <a:t>Who sees what</a:t>
            </a:r>
            <a:endParaRPr lang="en-US" sz="2100" dirty="0"/>
          </a:p>
        </p:txBody>
      </p:sp>
      <p:sp>
        <p:nvSpPr>
          <p:cNvPr id="71" name="Text 10">
            <a:extLst>
              <a:ext uri="{FF2B5EF4-FFF2-40B4-BE49-F238E27FC236}">
                <a16:creationId xmlns:a16="http://schemas.microsoft.com/office/drawing/2014/main" id="{B0497804-A54B-5B6D-1BD2-85E33271E901}"/>
              </a:ext>
            </a:extLst>
          </p:cNvPr>
          <p:cNvSpPr txBox="1"/>
          <p:nvPr/>
        </p:nvSpPr>
        <p:spPr>
          <a:xfrm>
            <a:off x="4608576" y="3703320"/>
            <a:ext cx="2962656" cy="2011680"/>
          </a:xfrm>
          <a:prstGeom prst="rect">
            <a:avLst/>
          </a:prstGeom>
          <a:noFill/>
          <a:ln/>
        </p:spPr>
        <p:txBody>
          <a:bodyPr wrap="square" lIns="0" tIns="0" rIns="0" bIns="0" rtlCol="0" anchor="t"/>
          <a:lstStyle/>
          <a:p>
            <a:pPr marL="0" indent="0">
              <a:spcAft>
                <a:spcPts val="200"/>
              </a:spcAft>
              <a:buNone/>
            </a:pPr>
            <a:r>
              <a:rPr lang="en-US" sz="1700" b="1" dirty="0">
                <a:solidFill>
                  <a:srgbClr val="23262D"/>
                </a:solidFill>
                <a:latin typeface="Calibri" pitchFamily="34" charset="0"/>
                <a:ea typeface="Calibri" pitchFamily="34" charset="-122"/>
                <a:cs typeface="Calibri" pitchFamily="34" charset="-120"/>
              </a:rPr>
              <a:t>Per-section profile visibility</a:t>
            </a:r>
            <a:endParaRPr lang="en-US" sz="1700" dirty="0"/>
          </a:p>
          <a:p>
            <a:pPr marL="0" indent="0">
              <a:spcAft>
                <a:spcPts val="1600"/>
              </a:spcAft>
              <a:buNone/>
            </a:pPr>
            <a:r>
              <a:rPr lang="en-US" sz="1250" dirty="0">
                <a:solidFill>
                  <a:srgbClr val="A8322A"/>
                </a:solidFill>
                <a:latin typeface="Consolas" pitchFamily="34" charset="0"/>
                <a:ea typeface="Consolas" pitchFamily="34" charset="-122"/>
                <a:cs typeface="Consolas" pitchFamily="34" charset="-120"/>
              </a:rPr>
              <a:t>can_view_profile_section()</a:t>
            </a:r>
            <a:endParaRPr lang="en-US" sz="1700" dirty="0"/>
          </a:p>
          <a:p>
            <a:pPr marL="0" indent="0">
              <a:spcAft>
                <a:spcPts val="200"/>
              </a:spcAft>
              <a:buNone/>
            </a:pPr>
            <a:r>
              <a:rPr lang="en-US" sz="1700" b="1" dirty="0">
                <a:solidFill>
                  <a:srgbClr val="23262D"/>
                </a:solidFill>
                <a:latin typeface="Calibri" pitchFamily="34" charset="0"/>
                <a:ea typeface="Calibri" pitchFamily="34" charset="-122"/>
                <a:cs typeface="Calibri" pitchFamily="34" charset="-120"/>
              </a:rPr>
              <a:t>Emails and push tokens hidden</a:t>
            </a:r>
            <a:endParaRPr lang="en-US" sz="1700" dirty="0"/>
          </a:p>
          <a:p>
            <a:pPr marL="0" indent="0">
              <a:buNone/>
            </a:pPr>
            <a:r>
              <a:rPr lang="en-US" sz="1250" dirty="0">
                <a:solidFill>
                  <a:srgbClr val="A8322A"/>
                </a:solidFill>
                <a:latin typeface="Consolas" pitchFamily="34" charset="0"/>
                <a:ea typeface="Consolas" pitchFamily="34" charset="-122"/>
                <a:cs typeface="Consolas" pitchFamily="34" charset="-120"/>
              </a:rPr>
              <a:t>email</a:t>
            </a:r>
            <a:r>
              <a:rPr lang="en-US" sz="1350" dirty="0">
                <a:solidFill>
                  <a:srgbClr val="5B6070"/>
                </a:solidFill>
                <a:latin typeface="Calibri" pitchFamily="34" charset="0"/>
                <a:ea typeface="Calibri" pitchFamily="34" charset="-122"/>
                <a:cs typeface="Calibri" pitchFamily="34" charset="-120"/>
              </a:rPr>
              <a:t>, </a:t>
            </a:r>
            <a:r>
              <a:rPr lang="en-US" sz="1250" dirty="0">
                <a:solidFill>
                  <a:srgbClr val="A8322A"/>
                </a:solidFill>
                <a:latin typeface="Consolas" pitchFamily="34" charset="0"/>
                <a:ea typeface="Consolas" pitchFamily="34" charset="-122"/>
                <a:cs typeface="Consolas" pitchFamily="34" charset="-120"/>
              </a:rPr>
              <a:t>fcm_token</a:t>
            </a:r>
            <a:r>
              <a:rPr lang="en-US" sz="1350" dirty="0">
                <a:solidFill>
                  <a:srgbClr val="5B6070"/>
                </a:solidFill>
                <a:latin typeface="Calibri" pitchFamily="34" charset="0"/>
                <a:ea typeface="Calibri" pitchFamily="34" charset="-122"/>
                <a:cs typeface="Calibri" pitchFamily="34" charset="-120"/>
              </a:rPr>
              <a:t> not granted</a:t>
            </a:r>
            <a:endParaRPr lang="en-US" sz="1700" dirty="0"/>
          </a:p>
          <a:p>
            <a:pPr marL="0" indent="0">
              <a:spcAft>
                <a:spcPts val="200"/>
              </a:spcAft>
              <a:buNone/>
            </a:pPr>
            <a:r>
              <a:rPr lang="en-US" sz="1700" b="1" dirty="0">
                <a:solidFill>
                  <a:srgbClr val="23262D"/>
                </a:solidFill>
                <a:latin typeface="Calibri" pitchFamily="34" charset="0"/>
                <a:ea typeface="Calibri" pitchFamily="34" charset="-122"/>
                <a:cs typeface="Calibri" pitchFamily="34" charset="-120"/>
              </a:rPr>
              <a:t>AI sees a profile summary only</a:t>
            </a:r>
            <a:endParaRPr lang="en-US" sz="1700" dirty="0"/>
          </a:p>
          <a:p>
            <a:pPr marL="0" indent="0">
              <a:buNone/>
            </a:pPr>
            <a:r>
              <a:rPr lang="en-US" sz="1350" dirty="0">
                <a:solidFill>
                  <a:srgbClr val="5B6070"/>
                </a:solidFill>
                <a:latin typeface="Calibri" pitchFamily="34" charset="0"/>
                <a:ea typeface="Calibri" pitchFamily="34" charset="-122"/>
                <a:cs typeface="Calibri" pitchFamily="34" charset="-120"/>
              </a:rPr>
              <a:t>No database client in the AI service</a:t>
            </a:r>
            <a:endParaRPr lang="en-US" sz="1700" dirty="0"/>
          </a:p>
        </p:txBody>
      </p:sp>
      <p:sp>
        <p:nvSpPr>
          <p:cNvPr id="73" name="Shape 11">
            <a:extLst>
              <a:ext uri="{FF2B5EF4-FFF2-40B4-BE49-F238E27FC236}">
                <a16:creationId xmlns:a16="http://schemas.microsoft.com/office/drawing/2014/main" id="{71523B29-3B8B-3BEE-B6CC-82BCF01DB466}"/>
              </a:ext>
            </a:extLst>
          </p:cNvPr>
          <p:cNvSpPr/>
          <p:nvPr/>
        </p:nvSpPr>
        <p:spPr>
          <a:xfrm>
            <a:off x="8119872" y="2606040"/>
            <a:ext cx="3511296" cy="3291840"/>
          </a:xfrm>
          <a:prstGeom prst="roundRect">
            <a:avLst>
              <a:gd name="adj" fmla="val 2222"/>
            </a:avLst>
          </a:prstGeom>
          <a:solidFill>
            <a:srgbClr val="FFFFFF"/>
          </a:solidFill>
          <a:ln w="12700">
            <a:solidFill>
              <a:srgbClr val="E2E2E2"/>
            </a:solidFill>
            <a:prstDash val="solid"/>
          </a:ln>
          <a:effectLst>
            <a:outerShdw blurRad="76200" dist="25400" dir="5400000" algn="bl" rotWithShape="0">
              <a:srgbClr val="000000">
                <a:alpha val="8000"/>
              </a:srgbClr>
            </a:outerShdw>
          </a:effectLst>
        </p:spPr>
        <p:txBody>
          <a:bodyPr/>
          <a:lstStyle/>
          <a:p>
            <a:endParaRPr lang="en-ZA"/>
          </a:p>
        </p:txBody>
      </p:sp>
      <p:sp>
        <p:nvSpPr>
          <p:cNvPr id="75" name="Shape 12">
            <a:extLst>
              <a:ext uri="{FF2B5EF4-FFF2-40B4-BE49-F238E27FC236}">
                <a16:creationId xmlns:a16="http://schemas.microsoft.com/office/drawing/2014/main" id="{52182106-DD19-EAF9-53FE-B77607AA62A4}"/>
              </a:ext>
            </a:extLst>
          </p:cNvPr>
          <p:cNvSpPr/>
          <p:nvPr/>
        </p:nvSpPr>
        <p:spPr>
          <a:xfrm>
            <a:off x="8394192" y="2880360"/>
            <a:ext cx="566928" cy="566928"/>
          </a:xfrm>
          <a:prstGeom prst="ellipse">
            <a:avLst/>
          </a:prstGeom>
          <a:solidFill>
            <a:srgbClr val="A8322A"/>
          </a:solidFill>
          <a:ln w="12700">
            <a:solidFill>
              <a:srgbClr val="A8322A"/>
            </a:solidFill>
            <a:prstDash val="solid"/>
          </a:ln>
        </p:spPr>
        <p:txBody>
          <a:bodyPr/>
          <a:lstStyle/>
          <a:p>
            <a:endParaRPr lang="en-ZA"/>
          </a:p>
        </p:txBody>
      </p:sp>
      <p:pic>
        <p:nvPicPr>
          <p:cNvPr id="77" name="Image 2" descr="preencoded.png">
            <a:extLst>
              <a:ext uri="{FF2B5EF4-FFF2-40B4-BE49-F238E27FC236}">
                <a16:creationId xmlns:a16="http://schemas.microsoft.com/office/drawing/2014/main" id="{E9342581-DD19-22AA-81B2-6B21AB113C08}"/>
              </a:ext>
            </a:extLst>
          </p:cNvPr>
          <p:cNvPicPr>
            <a:picLocks noChangeAspect="1"/>
          </p:cNvPicPr>
          <p:nvPr/>
        </p:nvPicPr>
        <p:blipFill>
          <a:blip r:embed="rId5"/>
          <a:stretch>
            <a:fillRect/>
          </a:stretch>
        </p:blipFill>
        <p:spPr>
          <a:xfrm>
            <a:off x="8531352" y="3017520"/>
            <a:ext cx="292608" cy="292608"/>
          </a:xfrm>
          <a:prstGeom prst="rect">
            <a:avLst/>
          </a:prstGeom>
        </p:spPr>
      </p:pic>
      <p:sp>
        <p:nvSpPr>
          <p:cNvPr id="79" name="Text 13">
            <a:extLst>
              <a:ext uri="{FF2B5EF4-FFF2-40B4-BE49-F238E27FC236}">
                <a16:creationId xmlns:a16="http://schemas.microsoft.com/office/drawing/2014/main" id="{CC338E0D-E543-F8D6-A868-19C02531B05C}"/>
              </a:ext>
            </a:extLst>
          </p:cNvPr>
          <p:cNvSpPr txBox="1"/>
          <p:nvPr/>
        </p:nvSpPr>
        <p:spPr>
          <a:xfrm>
            <a:off x="9125712" y="2880360"/>
            <a:ext cx="2322576" cy="566928"/>
          </a:xfrm>
          <a:prstGeom prst="rect">
            <a:avLst/>
          </a:prstGeom>
          <a:noFill/>
          <a:ln/>
        </p:spPr>
        <p:txBody>
          <a:bodyPr wrap="square" lIns="0" tIns="0" rIns="0" bIns="0" rtlCol="0" anchor="ctr"/>
          <a:lstStyle/>
          <a:p>
            <a:pPr marL="0" indent="0">
              <a:buNone/>
            </a:pPr>
            <a:r>
              <a:rPr lang="en-US" sz="2100" b="1" dirty="0">
                <a:solidFill>
                  <a:srgbClr val="23262D"/>
                </a:solidFill>
                <a:latin typeface="Cambria" pitchFamily="34" charset="0"/>
                <a:ea typeface="Cambria" pitchFamily="34" charset="-122"/>
                <a:cs typeface="Cambria" pitchFamily="34" charset="-120"/>
              </a:rPr>
              <a:t>POPIA rights</a:t>
            </a:r>
            <a:endParaRPr lang="en-US" sz="2100" dirty="0"/>
          </a:p>
        </p:txBody>
      </p:sp>
      <p:sp>
        <p:nvSpPr>
          <p:cNvPr id="81" name="Text 14">
            <a:extLst>
              <a:ext uri="{FF2B5EF4-FFF2-40B4-BE49-F238E27FC236}">
                <a16:creationId xmlns:a16="http://schemas.microsoft.com/office/drawing/2014/main" id="{0EB4901B-2848-3993-0280-503D043C22E1}"/>
              </a:ext>
            </a:extLst>
          </p:cNvPr>
          <p:cNvSpPr txBox="1"/>
          <p:nvPr/>
        </p:nvSpPr>
        <p:spPr>
          <a:xfrm>
            <a:off x="8394192" y="3703320"/>
            <a:ext cx="2962656" cy="2011680"/>
          </a:xfrm>
          <a:prstGeom prst="rect">
            <a:avLst/>
          </a:prstGeom>
          <a:noFill/>
          <a:ln/>
        </p:spPr>
        <p:txBody>
          <a:bodyPr wrap="square" lIns="0" tIns="0" rIns="0" bIns="0" rtlCol="0" anchor="t"/>
          <a:lstStyle/>
          <a:p>
            <a:pPr marL="0" indent="0">
              <a:spcAft>
                <a:spcPts val="200"/>
              </a:spcAft>
              <a:buNone/>
            </a:pPr>
            <a:r>
              <a:rPr lang="en-US" sz="1700" b="1" dirty="0">
                <a:solidFill>
                  <a:srgbClr val="23262D"/>
                </a:solidFill>
                <a:latin typeface="Calibri" pitchFamily="34" charset="0"/>
                <a:ea typeface="Calibri" pitchFamily="34" charset="-122"/>
                <a:cs typeface="Calibri" pitchFamily="34" charset="-120"/>
              </a:rPr>
              <a:t>Export my data (s23)</a:t>
            </a:r>
            <a:endParaRPr lang="en-US" sz="1700" dirty="0"/>
          </a:p>
          <a:p>
            <a:pPr marL="0" indent="0">
              <a:spcAft>
                <a:spcPts val="1600"/>
              </a:spcAft>
              <a:buNone/>
            </a:pPr>
            <a:r>
              <a:rPr lang="en-US" sz="1250" dirty="0">
                <a:solidFill>
                  <a:srgbClr val="A8322A"/>
                </a:solidFill>
                <a:latin typeface="Consolas" pitchFamily="34" charset="0"/>
                <a:ea typeface="Consolas" pitchFamily="34" charset="-122"/>
                <a:cs typeface="Consolas" pitchFamily="34" charset="-120"/>
              </a:rPr>
              <a:t>export_my_data()</a:t>
            </a:r>
            <a:endParaRPr lang="en-US" sz="1700" dirty="0"/>
          </a:p>
          <a:p>
            <a:pPr marL="0" indent="0">
              <a:spcAft>
                <a:spcPts val="200"/>
              </a:spcAft>
              <a:buNone/>
            </a:pPr>
            <a:r>
              <a:rPr lang="en-US" sz="1700" b="1" dirty="0">
                <a:solidFill>
                  <a:srgbClr val="23262D"/>
                </a:solidFill>
                <a:latin typeface="Calibri" pitchFamily="34" charset="0"/>
                <a:ea typeface="Calibri" pitchFamily="34" charset="-122"/>
                <a:cs typeface="Calibri" pitchFamily="34" charset="-120"/>
              </a:rPr>
              <a:t>Delete my account (s24)</a:t>
            </a:r>
            <a:endParaRPr lang="en-US" sz="1700" dirty="0"/>
          </a:p>
          <a:p>
            <a:pPr marL="0" indent="0">
              <a:spcAft>
                <a:spcPts val="1600"/>
              </a:spcAft>
              <a:buNone/>
            </a:pPr>
            <a:r>
              <a:rPr lang="en-US" sz="1250" dirty="0">
                <a:solidFill>
                  <a:srgbClr val="A8322A"/>
                </a:solidFill>
                <a:latin typeface="Consolas" pitchFamily="34" charset="0"/>
                <a:ea typeface="Consolas" pitchFamily="34" charset="-122"/>
                <a:cs typeface="Consolas" pitchFamily="34" charset="-120"/>
              </a:rPr>
              <a:t>delete_my_account()</a:t>
            </a:r>
            <a:endParaRPr lang="en-US" sz="1700" dirty="0"/>
          </a:p>
          <a:p>
            <a:pPr marL="0" indent="0">
              <a:spcAft>
                <a:spcPts val="200"/>
              </a:spcAft>
              <a:buNone/>
            </a:pPr>
            <a:r>
              <a:rPr lang="en-US" sz="1700" b="1" dirty="0">
                <a:solidFill>
                  <a:srgbClr val="23262D"/>
                </a:solidFill>
                <a:latin typeface="Calibri" pitchFamily="34" charset="0"/>
                <a:ea typeface="Calibri" pitchFamily="34" charset="-122"/>
                <a:cs typeface="Calibri" pitchFamily="34" charset="-120"/>
              </a:rPr>
              <a:t>Explicit consent</a:t>
            </a:r>
            <a:endParaRPr lang="en-US" sz="1700" dirty="0"/>
          </a:p>
          <a:p>
            <a:pPr marL="0" indent="0">
              <a:buNone/>
            </a:pPr>
            <a:r>
              <a:rPr lang="en-US" sz="1350" dirty="0">
                <a:solidFill>
                  <a:srgbClr val="5B6070"/>
                </a:solidFill>
                <a:latin typeface="Calibri" pitchFamily="34" charset="0"/>
                <a:ea typeface="Calibri" pitchFamily="34" charset="-122"/>
                <a:cs typeface="Calibri" pitchFamily="34" charset="-120"/>
              </a:rPr>
              <a:t>Consent text shown to users</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REALTIME, MATCHING, NLP &amp; VIDEO</a:t>
            </a:r>
            <a:endParaRPr lang="en-US" sz="1250" dirty="0"/>
          </a:p>
        </p:txBody>
      </p:sp>
      <p:sp>
        <p:nvSpPr>
          <p:cNvPr id="3" name="Text 1"/>
          <p:cNvSpPr/>
          <p:nvPr/>
        </p:nvSpPr>
        <p:spPr>
          <a:xfrm>
            <a:off x="548640" y="603504"/>
            <a:ext cx="11064240" cy="685800"/>
          </a:xfrm>
          <a:prstGeom prst="rect">
            <a:avLst/>
          </a:prstGeom>
          <a:noFill/>
          <a:ln/>
        </p:spPr>
        <p:txBody>
          <a:bodyPr wrap="square" rtlCol="0" anchor="ctr"/>
          <a:lstStyle/>
          <a:p>
            <a:pPr marL="0" indent="0">
              <a:buNone/>
            </a:pPr>
            <a:r>
              <a:rPr lang="en-US" sz="2700" b="1" dirty="0">
                <a:solidFill>
                  <a:srgbClr val="2B2B2B"/>
                </a:solidFill>
                <a:latin typeface="Cambria" pitchFamily="34" charset="0"/>
                <a:ea typeface="Cambria" pitchFamily="34" charset="-122"/>
                <a:cs typeface="Cambria" pitchFamily="34" charset="-120"/>
              </a:rPr>
              <a:t>Additional Technical Features</a:t>
            </a:r>
            <a:endParaRPr lang="en-US" sz="2700" dirty="0"/>
          </a:p>
        </p:txBody>
      </p:sp>
      <p:sp>
        <p:nvSpPr>
          <p:cNvPr id="4" name="Shape 2"/>
          <p:cNvSpPr/>
          <p:nvPr/>
        </p:nvSpPr>
        <p:spPr>
          <a:xfrm>
            <a:off x="347472" y="1608328"/>
            <a:ext cx="2724912" cy="3337560"/>
          </a:xfrm>
          <a:prstGeom prst="roundRect">
            <a:avLst>
              <a:gd name="adj" fmla="val 3020"/>
            </a:avLst>
          </a:prstGeom>
          <a:solidFill>
            <a:srgbClr val="FFFFFF"/>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5" name="Shape 3"/>
          <p:cNvSpPr/>
          <p:nvPr/>
        </p:nvSpPr>
        <p:spPr>
          <a:xfrm>
            <a:off x="1408176" y="1882648"/>
            <a:ext cx="603504" cy="603504"/>
          </a:xfrm>
          <a:prstGeom prst="ellipse">
            <a:avLst/>
          </a:prstGeom>
          <a:solidFill>
            <a:srgbClr val="0E7C7B"/>
          </a:solidFill>
          <a:ln/>
        </p:spPr>
        <p:txBody>
          <a:bodyPr/>
          <a:lstStyle/>
          <a:p>
            <a:endParaRPr lang="en-ZA"/>
          </a:p>
        </p:txBody>
      </p:sp>
      <p:pic>
        <p:nvPicPr>
          <p:cNvPr id="6" name="Image 0" descr="/home/claude/deck/icons/bell_white.png"/>
          <p:cNvPicPr>
            <a:picLocks noChangeAspect="1"/>
          </p:cNvPicPr>
          <p:nvPr/>
        </p:nvPicPr>
        <p:blipFill>
          <a:blip r:embed="rId3"/>
          <a:stretch>
            <a:fillRect/>
          </a:stretch>
        </p:blipFill>
        <p:spPr>
          <a:xfrm>
            <a:off x="1553017" y="2027489"/>
            <a:ext cx="313822" cy="313822"/>
          </a:xfrm>
          <a:prstGeom prst="rect">
            <a:avLst/>
          </a:prstGeom>
        </p:spPr>
      </p:pic>
      <p:sp>
        <p:nvSpPr>
          <p:cNvPr id="7" name="Text 4"/>
          <p:cNvSpPr/>
          <p:nvPr/>
        </p:nvSpPr>
        <p:spPr>
          <a:xfrm>
            <a:off x="493776" y="2705608"/>
            <a:ext cx="2432304" cy="548640"/>
          </a:xfrm>
          <a:prstGeom prst="rect">
            <a:avLst/>
          </a:prstGeom>
          <a:noFill/>
          <a:ln/>
        </p:spPr>
        <p:txBody>
          <a:bodyPr wrap="square" rtlCol="0" anchor="ctr"/>
          <a:lstStyle/>
          <a:p>
            <a:pPr marL="0" indent="0" algn="ctr">
              <a:buNone/>
            </a:pPr>
            <a:r>
              <a:rPr lang="en-US" sz="1300" b="1" dirty="0">
                <a:solidFill>
                  <a:srgbClr val="2B2B2B"/>
                </a:solidFill>
                <a:latin typeface="Cambria" pitchFamily="34" charset="0"/>
                <a:ea typeface="Cambria" pitchFamily="34" charset="-122"/>
                <a:cs typeface="Cambria" pitchFamily="34" charset="-120"/>
              </a:rPr>
              <a:t>Realtime Notifications</a:t>
            </a:r>
            <a:endParaRPr lang="en-US" sz="1300" dirty="0"/>
          </a:p>
        </p:txBody>
      </p:sp>
      <p:sp>
        <p:nvSpPr>
          <p:cNvPr id="8" name="Text 5"/>
          <p:cNvSpPr/>
          <p:nvPr/>
        </p:nvSpPr>
        <p:spPr>
          <a:xfrm>
            <a:off x="530352" y="3299968"/>
            <a:ext cx="2359152" cy="1508760"/>
          </a:xfrm>
          <a:prstGeom prst="rect">
            <a:avLst/>
          </a:prstGeom>
          <a:noFill/>
          <a:ln/>
        </p:spPr>
        <p:txBody>
          <a:bodyPr wrap="square" rtlCol="0" anchor="ctr"/>
          <a:lstStyle/>
          <a:p>
            <a:pPr marL="0" indent="0" algn="ctr">
              <a:lnSpc>
                <a:spcPct val="120000"/>
              </a:lnSpc>
              <a:buNone/>
            </a:pPr>
            <a:r>
              <a:rPr lang="en-US" sz="1030" dirty="0">
                <a:solidFill>
                  <a:srgbClr val="6B6B6B"/>
                </a:solidFill>
                <a:latin typeface="Calibri" pitchFamily="34" charset="0"/>
                <a:ea typeface="Calibri" pitchFamily="34" charset="-122"/>
                <a:cs typeface="Calibri" pitchFamily="34" charset="-120"/>
              </a:rPr>
              <a:t>Connection requests, messages, opportunity matches and admin announcements arrive over WebSockets (Realtime) plus FCM push — not polling.</a:t>
            </a:r>
            <a:endParaRPr lang="en-US" sz="1030" dirty="0"/>
          </a:p>
        </p:txBody>
      </p:sp>
      <p:sp>
        <p:nvSpPr>
          <p:cNvPr id="9" name="Shape 6"/>
          <p:cNvSpPr/>
          <p:nvPr/>
        </p:nvSpPr>
        <p:spPr>
          <a:xfrm>
            <a:off x="3273552" y="1608328"/>
            <a:ext cx="2724912" cy="3337560"/>
          </a:xfrm>
          <a:prstGeom prst="roundRect">
            <a:avLst>
              <a:gd name="adj" fmla="val 3020"/>
            </a:avLst>
          </a:prstGeom>
          <a:solidFill>
            <a:srgbClr val="FFFFFF"/>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10" name="Shape 7"/>
          <p:cNvSpPr/>
          <p:nvPr/>
        </p:nvSpPr>
        <p:spPr>
          <a:xfrm>
            <a:off x="4334256" y="1882648"/>
            <a:ext cx="603504" cy="603504"/>
          </a:xfrm>
          <a:prstGeom prst="ellipse">
            <a:avLst/>
          </a:prstGeom>
          <a:solidFill>
            <a:srgbClr val="0E7C7B"/>
          </a:solidFill>
          <a:ln/>
        </p:spPr>
        <p:txBody>
          <a:bodyPr/>
          <a:lstStyle/>
          <a:p>
            <a:endParaRPr lang="en-ZA"/>
          </a:p>
        </p:txBody>
      </p:sp>
      <p:pic>
        <p:nvPicPr>
          <p:cNvPr id="11" name="Image 1" descr="/home/claude/deck/icons/search_white.png"/>
          <p:cNvPicPr>
            <a:picLocks noChangeAspect="1"/>
          </p:cNvPicPr>
          <p:nvPr/>
        </p:nvPicPr>
        <p:blipFill>
          <a:blip r:embed="rId4"/>
          <a:stretch>
            <a:fillRect/>
          </a:stretch>
        </p:blipFill>
        <p:spPr>
          <a:xfrm>
            <a:off x="4479097" y="2027489"/>
            <a:ext cx="313822" cy="313822"/>
          </a:xfrm>
          <a:prstGeom prst="rect">
            <a:avLst/>
          </a:prstGeom>
        </p:spPr>
      </p:pic>
      <p:sp>
        <p:nvSpPr>
          <p:cNvPr id="12" name="Text 8"/>
          <p:cNvSpPr/>
          <p:nvPr/>
        </p:nvSpPr>
        <p:spPr>
          <a:xfrm>
            <a:off x="3419856" y="2705608"/>
            <a:ext cx="2432304" cy="548640"/>
          </a:xfrm>
          <a:prstGeom prst="rect">
            <a:avLst/>
          </a:prstGeom>
          <a:noFill/>
          <a:ln/>
        </p:spPr>
        <p:txBody>
          <a:bodyPr wrap="square" rtlCol="0" anchor="ctr"/>
          <a:lstStyle/>
          <a:p>
            <a:pPr marL="0" indent="0" algn="ctr">
              <a:buNone/>
            </a:pPr>
            <a:r>
              <a:rPr lang="en-US" sz="1300" b="1" dirty="0">
                <a:solidFill>
                  <a:srgbClr val="2B2B2B"/>
                </a:solidFill>
                <a:latin typeface="Cambria" pitchFamily="34" charset="0"/>
                <a:ea typeface="Cambria" pitchFamily="34" charset="-122"/>
                <a:cs typeface="Cambria" pitchFamily="34" charset="-120"/>
              </a:rPr>
              <a:t>Smart Job Matching</a:t>
            </a:r>
            <a:endParaRPr lang="en-US" sz="1300" dirty="0"/>
          </a:p>
        </p:txBody>
      </p:sp>
      <p:sp>
        <p:nvSpPr>
          <p:cNvPr id="13" name="Text 9"/>
          <p:cNvSpPr/>
          <p:nvPr/>
        </p:nvSpPr>
        <p:spPr>
          <a:xfrm>
            <a:off x="3456432" y="3299968"/>
            <a:ext cx="2359152" cy="1508760"/>
          </a:xfrm>
          <a:prstGeom prst="rect">
            <a:avLst/>
          </a:prstGeom>
          <a:noFill/>
          <a:ln/>
        </p:spPr>
        <p:txBody>
          <a:bodyPr wrap="square" rtlCol="0" anchor="ctr"/>
          <a:lstStyle/>
          <a:p>
            <a:pPr marL="0" indent="0" algn="ctr">
              <a:lnSpc>
                <a:spcPct val="120000"/>
              </a:lnSpc>
              <a:buNone/>
            </a:pPr>
            <a:r>
              <a:rPr lang="en-US" sz="1030" dirty="0">
                <a:solidFill>
                  <a:srgbClr val="6B6B6B"/>
                </a:solidFill>
                <a:latin typeface="Calibri" pitchFamily="34" charset="0"/>
                <a:ea typeface="Calibri" pitchFamily="34" charset="-122"/>
                <a:cs typeface="Calibri" pitchFamily="34" charset="-120"/>
              </a:rPr>
              <a:t>recommend_opportunities() surfaces a newly-approved listing to students whose skills and programme genuinely align, driven by matching logic, not a broadcast.</a:t>
            </a:r>
            <a:endParaRPr lang="en-US" sz="1030" dirty="0"/>
          </a:p>
        </p:txBody>
      </p:sp>
      <p:sp>
        <p:nvSpPr>
          <p:cNvPr id="14" name="Shape 10"/>
          <p:cNvSpPr/>
          <p:nvPr/>
        </p:nvSpPr>
        <p:spPr>
          <a:xfrm>
            <a:off x="6199632" y="1608328"/>
            <a:ext cx="2724912" cy="3337560"/>
          </a:xfrm>
          <a:prstGeom prst="roundRect">
            <a:avLst>
              <a:gd name="adj" fmla="val 3020"/>
            </a:avLst>
          </a:prstGeom>
          <a:solidFill>
            <a:srgbClr val="FFFFFF"/>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15" name="Shape 11"/>
          <p:cNvSpPr/>
          <p:nvPr/>
        </p:nvSpPr>
        <p:spPr>
          <a:xfrm>
            <a:off x="7260336" y="1882648"/>
            <a:ext cx="603504" cy="603504"/>
          </a:xfrm>
          <a:prstGeom prst="ellipse">
            <a:avLst/>
          </a:prstGeom>
          <a:solidFill>
            <a:srgbClr val="0E7C7B"/>
          </a:solidFill>
          <a:ln/>
        </p:spPr>
        <p:txBody>
          <a:bodyPr/>
          <a:lstStyle/>
          <a:p>
            <a:endParaRPr lang="en-ZA"/>
          </a:p>
        </p:txBody>
      </p:sp>
      <p:pic>
        <p:nvPicPr>
          <p:cNvPr id="16" name="Image 2" descr="/home/claude/deck/icons/brain_white.png"/>
          <p:cNvPicPr>
            <a:picLocks noChangeAspect="1"/>
          </p:cNvPicPr>
          <p:nvPr/>
        </p:nvPicPr>
        <p:blipFill>
          <a:blip r:embed="rId5"/>
          <a:stretch>
            <a:fillRect/>
          </a:stretch>
        </p:blipFill>
        <p:spPr>
          <a:xfrm>
            <a:off x="7405177" y="2027489"/>
            <a:ext cx="313822" cy="313822"/>
          </a:xfrm>
          <a:prstGeom prst="rect">
            <a:avLst/>
          </a:prstGeom>
        </p:spPr>
      </p:pic>
      <p:sp>
        <p:nvSpPr>
          <p:cNvPr id="17" name="Text 12"/>
          <p:cNvSpPr/>
          <p:nvPr/>
        </p:nvSpPr>
        <p:spPr>
          <a:xfrm>
            <a:off x="6345936" y="2705608"/>
            <a:ext cx="2432304" cy="548640"/>
          </a:xfrm>
          <a:prstGeom prst="rect">
            <a:avLst/>
          </a:prstGeom>
          <a:noFill/>
          <a:ln/>
        </p:spPr>
        <p:txBody>
          <a:bodyPr wrap="square" rtlCol="0" anchor="ctr"/>
          <a:lstStyle/>
          <a:p>
            <a:pPr marL="0" indent="0" algn="ctr">
              <a:buNone/>
            </a:pPr>
            <a:r>
              <a:rPr lang="en-US" sz="1300" b="1" dirty="0">
                <a:solidFill>
                  <a:srgbClr val="2B2B2B"/>
                </a:solidFill>
                <a:latin typeface="Cambria" pitchFamily="34" charset="0"/>
                <a:ea typeface="Cambria" pitchFamily="34" charset="-122"/>
                <a:cs typeface="Cambria" pitchFamily="34" charset="-120"/>
              </a:rPr>
              <a:t>NLP-Assisted Profile Building</a:t>
            </a:r>
            <a:endParaRPr lang="en-US" sz="1300" dirty="0"/>
          </a:p>
        </p:txBody>
      </p:sp>
      <p:sp>
        <p:nvSpPr>
          <p:cNvPr id="18" name="Text 13"/>
          <p:cNvSpPr/>
          <p:nvPr/>
        </p:nvSpPr>
        <p:spPr>
          <a:xfrm>
            <a:off x="6382512" y="3299968"/>
            <a:ext cx="2359152" cy="1508760"/>
          </a:xfrm>
          <a:prstGeom prst="rect">
            <a:avLst/>
          </a:prstGeom>
          <a:noFill/>
          <a:ln/>
        </p:spPr>
        <p:txBody>
          <a:bodyPr wrap="square" rtlCol="0" anchor="ctr"/>
          <a:lstStyle/>
          <a:p>
            <a:pPr marL="0" indent="0" algn="ctr">
              <a:lnSpc>
                <a:spcPct val="120000"/>
              </a:lnSpc>
              <a:buNone/>
            </a:pPr>
            <a:r>
              <a:rPr lang="en-US" sz="1030" dirty="0">
                <a:solidFill>
                  <a:srgbClr val="6B6B6B"/>
                </a:solidFill>
                <a:latin typeface="Calibri" pitchFamily="34" charset="0"/>
                <a:ea typeface="Calibri" pitchFamily="34" charset="-122"/>
                <a:cs typeface="Calibri" pitchFamily="34" charset="-120"/>
              </a:rPr>
              <a:t>A CV upload is parsed by Gemini through POST /api/parse-cv into strict JSON (skills, education, experience) via a response_schema — no prose to hand-parse.</a:t>
            </a:r>
            <a:endParaRPr lang="en-US" sz="1030" dirty="0"/>
          </a:p>
        </p:txBody>
      </p:sp>
      <p:sp>
        <p:nvSpPr>
          <p:cNvPr id="19" name="Shape 14"/>
          <p:cNvSpPr/>
          <p:nvPr/>
        </p:nvSpPr>
        <p:spPr>
          <a:xfrm>
            <a:off x="9125712" y="1608328"/>
            <a:ext cx="2724912" cy="3337560"/>
          </a:xfrm>
          <a:prstGeom prst="roundRect">
            <a:avLst>
              <a:gd name="adj" fmla="val 3020"/>
            </a:avLst>
          </a:prstGeom>
          <a:solidFill>
            <a:srgbClr val="FFFFFF"/>
          </a:solidFill>
          <a:ln w="12700">
            <a:solidFill>
              <a:srgbClr val="E4E1DD"/>
            </a:solidFill>
            <a:prstDash val="solid"/>
          </a:ln>
          <a:effectLst>
            <a:outerShdw blurRad="76200" dist="25400" dir="5400000" algn="bl" rotWithShape="0">
              <a:srgbClr val="000000">
                <a:alpha val="12000"/>
              </a:srgbClr>
            </a:outerShdw>
          </a:effectLst>
        </p:spPr>
        <p:txBody>
          <a:bodyPr/>
          <a:lstStyle/>
          <a:p>
            <a:endParaRPr lang="en-ZA"/>
          </a:p>
        </p:txBody>
      </p:sp>
      <p:sp>
        <p:nvSpPr>
          <p:cNvPr id="20" name="Shape 15"/>
          <p:cNvSpPr/>
          <p:nvPr/>
        </p:nvSpPr>
        <p:spPr>
          <a:xfrm>
            <a:off x="10186416" y="1882648"/>
            <a:ext cx="603504" cy="603504"/>
          </a:xfrm>
          <a:prstGeom prst="ellipse">
            <a:avLst/>
          </a:prstGeom>
          <a:solidFill>
            <a:srgbClr val="0E7C7B"/>
          </a:solidFill>
          <a:ln/>
        </p:spPr>
        <p:txBody>
          <a:bodyPr/>
          <a:lstStyle/>
          <a:p>
            <a:endParaRPr lang="en-ZA"/>
          </a:p>
        </p:txBody>
      </p:sp>
      <p:pic>
        <p:nvPicPr>
          <p:cNvPr id="21" name="Image 3" descr="/home/claude/deck/icons/video_white.png"/>
          <p:cNvPicPr>
            <a:picLocks noChangeAspect="1"/>
          </p:cNvPicPr>
          <p:nvPr/>
        </p:nvPicPr>
        <p:blipFill>
          <a:blip r:embed="rId6"/>
          <a:stretch>
            <a:fillRect/>
          </a:stretch>
        </p:blipFill>
        <p:spPr>
          <a:xfrm>
            <a:off x="10331257" y="2027489"/>
            <a:ext cx="313822" cy="313822"/>
          </a:xfrm>
          <a:prstGeom prst="rect">
            <a:avLst/>
          </a:prstGeom>
        </p:spPr>
      </p:pic>
      <p:sp>
        <p:nvSpPr>
          <p:cNvPr id="22" name="Text 16"/>
          <p:cNvSpPr/>
          <p:nvPr/>
        </p:nvSpPr>
        <p:spPr>
          <a:xfrm>
            <a:off x="9272016" y="2705608"/>
            <a:ext cx="2432304" cy="548640"/>
          </a:xfrm>
          <a:prstGeom prst="rect">
            <a:avLst/>
          </a:prstGeom>
          <a:noFill/>
          <a:ln/>
        </p:spPr>
        <p:txBody>
          <a:bodyPr wrap="square" rtlCol="0" anchor="ctr"/>
          <a:lstStyle/>
          <a:p>
            <a:pPr marL="0" indent="0" algn="ctr">
              <a:buNone/>
            </a:pPr>
            <a:r>
              <a:rPr lang="en-US" sz="1300" b="1" dirty="0">
                <a:solidFill>
                  <a:srgbClr val="2B2B2B"/>
                </a:solidFill>
                <a:latin typeface="Cambria" pitchFamily="34" charset="0"/>
                <a:ea typeface="Cambria" pitchFamily="34" charset="-122"/>
                <a:cs typeface="Cambria" pitchFamily="34" charset="-120"/>
              </a:rPr>
              <a:t>Video Processing</a:t>
            </a:r>
            <a:endParaRPr lang="en-US" sz="1300" dirty="0"/>
          </a:p>
        </p:txBody>
      </p:sp>
      <p:sp>
        <p:nvSpPr>
          <p:cNvPr id="23" name="Text 17"/>
          <p:cNvSpPr/>
          <p:nvPr/>
        </p:nvSpPr>
        <p:spPr>
          <a:xfrm>
            <a:off x="9308592" y="3299968"/>
            <a:ext cx="2359152" cy="1508760"/>
          </a:xfrm>
          <a:prstGeom prst="rect">
            <a:avLst/>
          </a:prstGeom>
          <a:noFill/>
          <a:ln/>
        </p:spPr>
        <p:txBody>
          <a:bodyPr wrap="square" rtlCol="0" anchor="ctr"/>
          <a:lstStyle/>
          <a:p>
            <a:pPr marL="0" indent="0" algn="ctr">
              <a:lnSpc>
                <a:spcPct val="120000"/>
              </a:lnSpc>
              <a:buNone/>
            </a:pPr>
            <a:r>
              <a:rPr lang="en-US" sz="1030" dirty="0">
                <a:solidFill>
                  <a:srgbClr val="6B6B6B"/>
                </a:solidFill>
                <a:latin typeface="Calibri" pitchFamily="34" charset="0"/>
                <a:ea typeface="Calibri" pitchFamily="34" charset="-122"/>
                <a:cs typeface="Calibri" pitchFamily="34" charset="-120"/>
              </a:rPr>
              <a:t>Uploaded video is compressed/transcoded to 720p on-device with an auto-generated poster thumbnail before it ever reaches storage.</a:t>
            </a:r>
            <a:endParaRPr lang="en-US" sz="1030" dirty="0"/>
          </a:p>
        </p:txBody>
      </p:sp>
      <p:sp>
        <p:nvSpPr>
          <p:cNvPr id="24" name="Text 18"/>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Richfield Connect · Hackathon 2026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E0F38"/>
        </a:solidFill>
        <a:effectLst/>
      </p:bgPr>
    </p:bg>
    <p:spTree>
      <p:nvGrpSpPr>
        <p:cNvPr id="1" name=""/>
        <p:cNvGrpSpPr/>
        <p:nvPr/>
      </p:nvGrpSpPr>
      <p:grpSpPr>
        <a:xfrm>
          <a:off x="0" y="0"/>
          <a:ext cx="0" cy="0"/>
          <a:chOff x="0" y="0"/>
          <a:chExt cx="0" cy="0"/>
        </a:xfrm>
      </p:grpSpPr>
      <p:sp>
        <p:nvSpPr>
          <p:cNvPr id="2" name="Oval 1"/>
          <p:cNvSpPr/>
          <p:nvPr/>
        </p:nvSpPr>
        <p:spPr>
          <a:xfrm>
            <a:off x="-1027240" y="4688732"/>
            <a:ext cx="3809350" cy="3871610"/>
          </a:xfrm>
          <a:prstGeom prst="ellipse">
            <a:avLst/>
          </a:prstGeom>
          <a:solidFill>
            <a:srgbClr val="C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67738" y="-881226"/>
            <a:ext cx="3291840" cy="3291840"/>
          </a:xfrm>
          <a:prstGeom prst="ellipse">
            <a:avLst/>
          </a:prstGeom>
          <a:solidFill>
            <a:schemeClr val="bg1">
              <a:alpha val="4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5333999" y="2650000"/>
            <a:ext cx="6350000" cy="900000"/>
          </a:xfrm>
          <a:prstGeom prst="rect">
            <a:avLst/>
          </a:prstGeom>
          <a:noFill/>
        </p:spPr>
        <p:txBody>
          <a:bodyPr wrap="square" lIns="0" tIns="0" rIns="0" bIns="0" anchor="ctr">
            <a:noAutofit/>
          </a:bodyPr>
          <a:lstStyle/>
          <a:p>
            <a:r>
              <a:rPr sz="5400" b="1" i="0" spc="400" dirty="0">
                <a:solidFill>
                  <a:schemeClr val="bg1"/>
                </a:solidFill>
                <a:latin typeface="Calibri"/>
              </a:rPr>
              <a:t>THANK YOU</a:t>
            </a:r>
            <a:endParaRPr lang="en-US" sz="5400" b="1" i="0" spc="400" dirty="0">
              <a:solidFill>
                <a:schemeClr val="bg1"/>
              </a:solidFill>
              <a:latin typeface="Calibri"/>
            </a:endParaRPr>
          </a:p>
        </p:txBody>
      </p:sp>
      <p:sp>
        <p:nvSpPr>
          <p:cNvPr id="6" name="TextBox 5"/>
          <p:cNvSpPr txBox="1"/>
          <p:nvPr/>
        </p:nvSpPr>
        <p:spPr>
          <a:xfrm>
            <a:off x="5333999" y="3620000"/>
            <a:ext cx="6600000" cy="500000"/>
          </a:xfrm>
          <a:prstGeom prst="rect">
            <a:avLst/>
          </a:prstGeom>
          <a:noFill/>
        </p:spPr>
        <p:txBody>
          <a:bodyPr wrap="square" lIns="0" tIns="0" rIns="0" bIns="0" anchor="t">
            <a:noAutofit/>
          </a:bodyPr>
          <a:lstStyle/>
          <a:p>
            <a:r>
              <a:rPr sz="1800" b="0" i="0" dirty="0">
                <a:solidFill>
                  <a:schemeClr val="bg1">
                    <a:alpha val="75000"/>
                  </a:schemeClr>
                </a:solidFill>
                <a:latin typeface="Calibri"/>
              </a:rPr>
              <a:t>Team Echo Five · Richfield Connect</a:t>
            </a:r>
          </a:p>
        </p:txBody>
      </p:sp>
      <p:pic>
        <p:nvPicPr>
          <p:cNvPr id="7" name="Picture 6">
            <a:extLst>
              <a:ext uri="{FF2B5EF4-FFF2-40B4-BE49-F238E27FC236}">
                <a16:creationId xmlns:a16="http://schemas.microsoft.com/office/drawing/2014/main" id="{3D84E40C-A7EE-24E8-FCB2-5F59C0012779}"/>
              </a:ext>
            </a:extLst>
          </p:cNvPr>
          <p:cNvPicPr>
            <a:picLocks noChangeAspect="1"/>
          </p:cNvPicPr>
          <p:nvPr/>
        </p:nvPicPr>
        <p:blipFill>
          <a:blip r:embed="rId2"/>
          <a:stretch>
            <a:fillRect/>
          </a:stretch>
        </p:blipFill>
        <p:spPr>
          <a:xfrm>
            <a:off x="1887166" y="1990670"/>
            <a:ext cx="3180945" cy="3098356"/>
          </a:xfrm>
          <a:prstGeom prst="rect">
            <a:avLst/>
          </a:prstGeom>
        </p:spPr>
      </p:pic>
      <p:sp>
        <p:nvSpPr>
          <p:cNvPr id="9" name="Text 25">
            <a:extLst>
              <a:ext uri="{FF2B5EF4-FFF2-40B4-BE49-F238E27FC236}">
                <a16:creationId xmlns:a16="http://schemas.microsoft.com/office/drawing/2014/main" id="{EA7F6158-1CD6-49FF-D866-228DD4C4389F}"/>
              </a:ext>
            </a:extLst>
          </p:cNvPr>
          <p:cNvSpPr/>
          <p:nvPr/>
        </p:nvSpPr>
        <p:spPr>
          <a:xfrm>
            <a:off x="5445867" y="6450605"/>
            <a:ext cx="6400800" cy="274320"/>
          </a:xfrm>
          <a:prstGeom prst="rect">
            <a:avLst/>
          </a:prstGeom>
          <a:noFill/>
          <a:ln/>
        </p:spPr>
        <p:txBody>
          <a:bodyPr wrap="square" rtlCol="0" anchor="ctr"/>
          <a:lstStyle/>
          <a:p>
            <a:pPr algn="r"/>
            <a:r>
              <a:rPr lang="en-US" sz="1200" dirty="0">
                <a:solidFill>
                  <a:srgbClr val="6B6B6B"/>
                </a:solidFill>
                <a:latin typeface="Calibri" pitchFamily="34" charset="0"/>
                <a:ea typeface="Calibri" pitchFamily="34" charset="-122"/>
                <a:cs typeface="Calibri" pitchFamily="34" charset="-120"/>
              </a:rPr>
              <a:t>Team Echo 5 · Richfield Connect · Hackathon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flection">
      <a:fillStyleLst>
        <a:solidFill>
          <a:schemeClr val="phClr"/>
        </a:solidFill>
        <a:gradFill rotWithShape="1">
          <a:gsLst>
            <a:gs pos="0">
              <a:schemeClr val="phClr">
                <a:tint val="50000"/>
                <a:alpha val="100000"/>
                <a:satMod val="140000"/>
                <a:lumMod val="105000"/>
              </a:schemeClr>
            </a:gs>
            <a:gs pos="41000">
              <a:schemeClr val="phClr">
                <a:tint val="57000"/>
                <a:satMod val="160000"/>
                <a:lumMod val="99000"/>
              </a:schemeClr>
            </a:gs>
            <a:gs pos="100000">
              <a:schemeClr val="phClr">
                <a:tint val="80000"/>
                <a:satMod val="180000"/>
                <a:lumMod val="104000"/>
              </a:schemeClr>
            </a:gs>
          </a:gsLst>
          <a:lin ang="5400000" scaled="1"/>
        </a:gradFill>
        <a:gradFill rotWithShape="1">
          <a:gsLst>
            <a:gs pos="0">
              <a:schemeClr val="phClr">
                <a:tint val="97000"/>
                <a:satMod val="115000"/>
                <a:lumMod val="114000"/>
              </a:schemeClr>
            </a:gs>
            <a:gs pos="60000">
              <a:schemeClr val="phClr">
                <a:tint val="100000"/>
                <a:shade val="96000"/>
                <a:satMod val="100000"/>
                <a:lumMod val="108000"/>
              </a:schemeClr>
            </a:gs>
            <a:gs pos="100000">
              <a:schemeClr val="phClr">
                <a:shade val="91000"/>
                <a:sat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38100" dist="25400" dir="5400000" rotWithShape="0">
              <a:srgbClr val="000000">
                <a:alpha val="28000"/>
              </a:srgbClr>
            </a:outerShdw>
          </a:effectLst>
        </a:effectStyle>
        <a:effectStyle>
          <a:effectLst>
            <a:outerShdw blurRad="50800" dist="31750" dir="5400000" sy="98000" rotWithShape="0">
              <a:srgbClr val="000000">
                <a:alpha val="47000"/>
              </a:srgbClr>
            </a:outerShdw>
          </a:effectLst>
          <a:scene3d>
            <a:camera prst="orthographicFront">
              <a:rot lat="0" lon="0" rev="0"/>
            </a:camera>
            <a:lightRig rig="twoPt" dir="t">
              <a:rot lat="0" lon="0" rev="4800000"/>
            </a:lightRig>
          </a:scene3d>
          <a:sp3d prstMaterial="matte">
            <a:bevelT w="25400" h="44450"/>
          </a:sp3d>
        </a:effectStyle>
        <a:effectStyle>
          <a:effectLst>
            <a:reflection blurRad="25400" stA="32000" endPos="28000" dist="8889" dir="5400000" sy="-100000" rotWithShape="0"/>
          </a:effectLst>
          <a:scene3d>
            <a:camera prst="orthographicFront">
              <a:rot lat="0" lon="0" rev="0"/>
            </a:camera>
            <a:lightRig rig="threePt" dir="t">
              <a:rot lat="0" lon="0" rev="4800000"/>
            </a:lightRig>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Film Burn</Template>
  <TotalTime>466</TotalTime>
  <Words>2141</Words>
  <Application>Microsoft Office PowerPoint</Application>
  <PresentationFormat>Widescreen</PresentationFormat>
  <Paragraphs>246</Paragraphs>
  <Slides>18</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Cambria</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Diya Singh</cp:lastModifiedBy>
  <cp:revision>10</cp:revision>
  <dcterms:created xsi:type="dcterms:W3CDTF">2026-09-13T16:54:14Z</dcterms:created>
  <dcterms:modified xsi:type="dcterms:W3CDTF">2026-09-17T07:28:24Z</dcterms:modified>
</cp:coreProperties>
</file>